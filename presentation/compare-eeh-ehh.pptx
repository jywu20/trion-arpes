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26" autoAdjust="0"/>
    <p:restoredTop sz="94660"/>
  </p:normalViewPr>
  <p:slideViewPr>
    <p:cSldViewPr snapToGrid="0">
      <p:cViewPr varScale="1">
        <p:scale>
          <a:sx n="66" d="100"/>
          <a:sy n="66" d="100"/>
        </p:scale>
        <p:origin x="7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0E7C97-EC2F-9F5E-301F-346F789DA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1D831EB-EC44-E2BC-B5CF-A5CB8834C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11F8C3-2018-54CB-5479-14589282D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08B708-96D9-5348-42A9-0B14A659A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4070E-8E69-815F-F50A-0358DC20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41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890596-A43A-78A7-54FB-5EB037D43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71E67-4F99-7999-0ECA-61953A268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8EC697-4496-62A9-1AC1-50C787BAB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9E6C3E-AE34-C361-E8FF-95A2F23C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54C7DD-1860-F6D5-96E0-EB3D1D78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302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6769E4-7B93-E707-6CFE-25F352E3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91BC99-F05D-03CA-1B86-A73BC18BA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D33100-695C-047A-2640-DAFC2DD6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F7D553-A2AF-10FD-59BD-B6064CB8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E6D9C6-1C05-991C-0673-5D4D62548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46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41930-D401-195A-8991-8C0CBC3B0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D53FC6-5DA1-116D-DFBA-C427A82A69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DE6E23-0420-D268-EABA-356A53499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C659C1-456E-D2A1-7C2A-B9FC3875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3F4B88-6DBC-B2F4-DA51-BBB5E47C0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989EB5-5E82-ACFE-08AC-7243A64B2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198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CB5F1B-777D-4406-349A-4D7B5AFE6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0C3275-D869-5FBD-025E-DCA809D0D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C1221F-B0FA-8CA0-BF83-C186DB372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74D968-246B-2930-913D-644061911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ECF7D66-858E-34E0-30B1-514753EE0B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01015B-1D9E-6FF0-841A-B1B9C9166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00560AA-BD71-A950-1B9E-070FAB601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EE20EF-665C-0382-F1C9-CF8E2D45A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434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6AE25-8387-E9E4-4FCE-A8A237FAA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755630-FBEA-1A4C-28C4-B841D84FE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7BD2881-2EB0-2D32-316F-67F9FB5DA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9BB250-888F-EE5D-1E84-198D90C44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57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26FC22-CD2B-F244-F795-C59A864A6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3D07A9-6A37-A277-940E-ADCFF3FEC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A92BFF-6C47-FD0B-B5BB-868FA56DF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02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85EF5B-DAF9-61CC-3BF3-B413A12FB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282782-2681-E3D3-4E79-31195937F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80DCAB-2854-3151-4C91-E7361B9E5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A9AFBA-CEF4-6D02-9C0A-D2276E397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BB006A-C5A0-DF16-DDC0-30082BB60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97CA4B-1C01-3E50-8E9C-561C32EAD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225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5FA59-5CBD-183A-49C2-E20A03661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9D58418-CAB2-E859-4DD9-E59A4179E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CB958D-DCE0-C098-A011-2B15CF9E9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003A4B-4711-C150-2435-FFE80487B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C23D31-9FAD-FC07-C970-4B8B3D650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3036DA-D9A0-7D1A-FD24-0B7F39694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220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4975F-3262-1F4C-FE60-C6550B1CF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A7CAA2-75FF-5EE0-096A-A59961CA3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080BBD-DF5A-8230-8D91-58322F89C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24D6A2-5B06-21A5-2553-E5AF66BC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88F5B-396C-3E47-E553-78E7DAFAD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050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B74022-7747-FD56-153D-CDB023B5C5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771738-D9AC-9731-2022-400BE672B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11A28B-9703-38EC-D8C3-B0A94E62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8CA640-894B-2917-9F3F-F4873FAC9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F2C13F-7055-FE6D-3929-F4D3C8ACA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148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294531A-7BA8-62C7-C6B8-A44C70B79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61E11E-55A1-3EBA-83DC-643486E58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D7DEC0-F05F-C151-E789-3CF6296DEB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B970E-7987-4505-96F8-5F1C98E602BD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88C2BC-EC50-BE1F-7AD4-BB8F2C129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349798-4B3A-095B-F203-2F97BC8FB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594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9B579B-A249-E8A0-DC02-3708830C1B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Trion ARPES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278A58-2DAE-AAD0-AC6C-A8CB968E4C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241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4CB2C-FCD3-3506-D4DE-E286F2E4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表&#10;&#10;描述已自动生成">
            <a:extLst>
              <a:ext uri="{FF2B5EF4-FFF2-40B4-BE49-F238E27FC236}">
                <a16:creationId xmlns:a16="http://schemas.microsoft.com/office/drawing/2014/main" id="{C551A5D1-5054-4597-8239-CD8AC2FDB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9" name="图片 8" descr="图表&#10;&#10;描述已自动生成">
            <a:extLst>
              <a:ext uri="{FF2B5EF4-FFF2-40B4-BE49-F238E27FC236}">
                <a16:creationId xmlns:a16="http://schemas.microsoft.com/office/drawing/2014/main" id="{1549CC6F-9AD1-ADD1-805E-A0A7C33A1F4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80000" cy="68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18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2F0A1-1C0B-F7AA-428B-4E70BAF0A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79" y="-271645"/>
            <a:ext cx="10515600" cy="1325563"/>
          </a:xfrm>
        </p:spPr>
        <p:txBody>
          <a:bodyPr/>
          <a:lstStyle/>
          <a:p>
            <a:r>
              <a:rPr lang="en-US" altLang="zh-CN" dirty="0"/>
              <a:t>Anatomy of the </a:t>
            </a:r>
            <a:r>
              <a:rPr lang="en-US" altLang="zh-CN" dirty="0" err="1"/>
              <a:t>ehh</a:t>
            </a:r>
            <a:r>
              <a:rPr lang="en-US" altLang="zh-CN" dirty="0"/>
              <a:t> case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C95E27-AFED-3360-A7EE-ED5A34777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79" y="795422"/>
            <a:ext cx="10515600" cy="4351338"/>
          </a:xfrm>
        </p:spPr>
        <p:txBody>
          <a:bodyPr/>
          <a:lstStyle/>
          <a:p>
            <a:r>
              <a:rPr lang="en-US" altLang="zh-CN" dirty="0"/>
              <a:t>Let’s consider the contribution of each kh1 vector:</a:t>
            </a:r>
            <a:endParaRPr lang="zh-CN" altLang="en-US" dirty="0"/>
          </a:p>
        </p:txBody>
      </p:sp>
      <p:pic>
        <p:nvPicPr>
          <p:cNvPr id="5" name="图片 4" descr="图表&#10;&#10;描述已自动生成">
            <a:extLst>
              <a:ext uri="{FF2B5EF4-FFF2-40B4-BE49-F238E27FC236}">
                <a16:creationId xmlns:a16="http://schemas.microsoft.com/office/drawing/2014/main" id="{74C42C3B-0190-1901-557E-B9E8FB575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88" y="2444816"/>
            <a:ext cx="8993472" cy="4496737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EC34B0F-0C50-BAE0-B032-C0C2E9BEA5FA}"/>
              </a:ext>
            </a:extLst>
          </p:cNvPr>
          <p:cNvCxnSpPr/>
          <p:nvPr/>
        </p:nvCxnSpPr>
        <p:spPr>
          <a:xfrm flipH="1">
            <a:off x="6294922" y="3465095"/>
            <a:ext cx="2329314" cy="2150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6EF8F91-1580-BD83-9D45-7D5C969302EA}"/>
              </a:ext>
            </a:extLst>
          </p:cNvPr>
          <p:cNvSpPr txBox="1"/>
          <p:nvPr/>
        </p:nvSpPr>
        <p:spPr>
          <a:xfrm>
            <a:off x="8980102" y="3026600"/>
            <a:ext cx="2464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Dispersion relation calculated by setting k1=k2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0F71D5C-0AEA-C6B4-7C22-A88B9CB5F4F9}"/>
              </a:ext>
            </a:extLst>
          </p:cNvPr>
          <p:cNvCxnSpPr>
            <a:cxnSpLocks/>
          </p:cNvCxnSpPr>
          <p:nvPr/>
        </p:nvCxnSpPr>
        <p:spPr>
          <a:xfrm flipH="1">
            <a:off x="2920532" y="3160514"/>
            <a:ext cx="2315611" cy="327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D8ACD9B-0A9E-3A7A-82F0-FE5E22DC7B26}"/>
              </a:ext>
            </a:extLst>
          </p:cNvPr>
          <p:cNvSpPr txBox="1"/>
          <p:nvPr/>
        </p:nvSpPr>
        <p:spPr>
          <a:xfrm>
            <a:off x="2277976" y="3675839"/>
            <a:ext cx="1780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intensity seen as a variable of freq.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A02D8D5-0AC2-98C8-CCED-1BF16C593590}"/>
              </a:ext>
            </a:extLst>
          </p:cNvPr>
          <p:cNvCxnSpPr>
            <a:cxnSpLocks/>
          </p:cNvCxnSpPr>
          <p:nvPr/>
        </p:nvCxnSpPr>
        <p:spPr>
          <a:xfrm flipH="1" flipV="1">
            <a:off x="8776636" y="3160514"/>
            <a:ext cx="213360" cy="160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EF18EF0-9251-A8A8-809B-46916BEA1D8A}"/>
              </a:ext>
            </a:extLst>
          </p:cNvPr>
          <p:cNvSpPr txBox="1"/>
          <p:nvPr/>
        </p:nvSpPr>
        <p:spPr>
          <a:xfrm>
            <a:off x="5590672" y="3312914"/>
            <a:ext cx="15015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Contributions of different kh1 vectors to a single </a:t>
            </a:r>
            <a:r>
              <a:rPr lang="en-US" altLang="zh-CN" dirty="0" err="1"/>
              <a:t>ke</a:t>
            </a:r>
            <a:r>
              <a:rPr lang="en-US" altLang="zh-CN" dirty="0"/>
              <a:t> point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92C75BD-9C22-0DB7-8598-1BACFE691538}"/>
              </a:ext>
            </a:extLst>
          </p:cNvPr>
          <p:cNvSpPr txBox="1"/>
          <p:nvPr/>
        </p:nvSpPr>
        <p:spPr>
          <a:xfrm>
            <a:off x="5417151" y="1659320"/>
            <a:ext cx="246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This point is reached with k1=k2</a:t>
            </a:r>
            <a:endParaRPr lang="zh-CN" altLang="en-US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EE296EE-3D38-D03D-7128-851687BD83F2}"/>
              </a:ext>
            </a:extLst>
          </p:cNvPr>
          <p:cNvCxnSpPr>
            <a:cxnSpLocks/>
          </p:cNvCxnSpPr>
          <p:nvPr/>
        </p:nvCxnSpPr>
        <p:spPr>
          <a:xfrm flipH="1">
            <a:off x="5321633" y="2305651"/>
            <a:ext cx="863533" cy="476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3E0EA76E-6128-EBE7-7588-00B2F7503CED}"/>
              </a:ext>
            </a:extLst>
          </p:cNvPr>
          <p:cNvSpPr txBox="1"/>
          <p:nvPr/>
        </p:nvSpPr>
        <p:spPr>
          <a:xfrm>
            <a:off x="-3746" y="2543676"/>
            <a:ext cx="191736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peak is </a:t>
            </a:r>
            <a:r>
              <a:rPr lang="en-US" altLang="zh-CN" i="1" dirty="0"/>
              <a:t>not</a:t>
            </a:r>
            <a:r>
              <a:rPr lang="en-US" altLang="zh-CN" dirty="0"/>
              <a:t> the k1=k2 position!</a:t>
            </a:r>
          </a:p>
          <a:p>
            <a:r>
              <a:rPr lang="en-US" altLang="zh-CN" dirty="0"/>
              <a:t>Consequence:</a:t>
            </a:r>
          </a:p>
          <a:p>
            <a:r>
              <a:rPr lang="en-US" altLang="zh-CN" dirty="0"/>
              <a:t>The k1=k2 line doesn’t reflect the true shape of the ARPES signature</a:t>
            </a:r>
            <a:endParaRPr lang="zh-CN" altLang="en-US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D7FE63D-29D9-7C93-ACFB-4DF198E8D86F}"/>
              </a:ext>
            </a:extLst>
          </p:cNvPr>
          <p:cNvCxnSpPr/>
          <p:nvPr/>
        </p:nvCxnSpPr>
        <p:spPr>
          <a:xfrm>
            <a:off x="1232034" y="3026600"/>
            <a:ext cx="376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110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562BA66-F9F2-74E2-7615-8389E9EF3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87337" y="-140486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zh-CN" sz="5200" dirty="0"/>
              <a:t>Anatomy of the </a:t>
            </a:r>
            <a:r>
              <a:rPr lang="en-US" altLang="zh-CN" sz="5200" dirty="0" err="1"/>
              <a:t>ehh</a:t>
            </a:r>
            <a:r>
              <a:rPr lang="en-US" altLang="zh-CN" sz="5200" dirty="0"/>
              <a:t> case</a:t>
            </a:r>
          </a:p>
        </p:txBody>
      </p:sp>
      <p:pic>
        <p:nvPicPr>
          <p:cNvPr id="11" name="图片 10" descr="图表&#10;&#10;描述已自动生成">
            <a:extLst>
              <a:ext uri="{FF2B5EF4-FFF2-40B4-BE49-F238E27FC236}">
                <a16:creationId xmlns:a16="http://schemas.microsoft.com/office/drawing/2014/main" id="{866BC124-4A92-FD6C-4224-A44AB93736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158"/>
          <a:stretch/>
        </p:blipFill>
        <p:spPr>
          <a:xfrm>
            <a:off x="1498600" y="1489316"/>
            <a:ext cx="3513323" cy="5190783"/>
          </a:xfrm>
          <a:prstGeom prst="rect">
            <a:avLst/>
          </a:prstGeom>
        </p:spPr>
      </p:pic>
      <p:pic>
        <p:nvPicPr>
          <p:cNvPr id="9" name="图片 8" descr="图表&#10;&#10;低可信度描述已自动生成">
            <a:extLst>
              <a:ext uri="{FF2B5EF4-FFF2-40B4-BE49-F238E27FC236}">
                <a16:creationId xmlns:a16="http://schemas.microsoft.com/office/drawing/2014/main" id="{500CEE6F-D4FC-55D0-E3C0-6A40101A78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158"/>
          <a:stretch/>
        </p:blipFill>
        <p:spPr>
          <a:xfrm>
            <a:off x="7490963" y="1489316"/>
            <a:ext cx="3513323" cy="519078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7B8EF8E-4EDD-C373-2D2B-B5E5F70B33C8}"/>
              </a:ext>
            </a:extLst>
          </p:cNvPr>
          <p:cNvSpPr txBox="1"/>
          <p:nvPr/>
        </p:nvSpPr>
        <p:spPr>
          <a:xfrm>
            <a:off x="2893510" y="6321892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200×200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B93CC76-AD87-9760-433F-07B421136FEE}"/>
              </a:ext>
            </a:extLst>
          </p:cNvPr>
          <p:cNvSpPr txBox="1"/>
          <p:nvPr/>
        </p:nvSpPr>
        <p:spPr>
          <a:xfrm>
            <a:off x="9162229" y="6321892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150×150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CAA31F8-B965-4A78-6CD6-CAF01CF14B5A}"/>
              </a:ext>
            </a:extLst>
          </p:cNvPr>
          <p:cNvSpPr txBox="1"/>
          <p:nvPr/>
        </p:nvSpPr>
        <p:spPr>
          <a:xfrm>
            <a:off x="5752578" y="3515021"/>
            <a:ext cx="14275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Wiggles because of finite k grid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15792E-8087-5434-7CBC-27DE94E5345A}"/>
              </a:ext>
            </a:extLst>
          </p:cNvPr>
          <p:cNvSpPr/>
          <p:nvPr/>
        </p:nvSpPr>
        <p:spPr>
          <a:xfrm>
            <a:off x="8493760" y="2204720"/>
            <a:ext cx="1737993" cy="4470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1B0910D-02A4-8F5E-CCE7-BF50B826D8D0}"/>
              </a:ext>
            </a:extLst>
          </p:cNvPr>
          <p:cNvSpPr/>
          <p:nvPr/>
        </p:nvSpPr>
        <p:spPr>
          <a:xfrm>
            <a:off x="2559275" y="2204720"/>
            <a:ext cx="1737993" cy="4470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ECD3EF4-09D7-D858-5CC8-8739BA3165E0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3428271" y="2651760"/>
            <a:ext cx="2324307" cy="1324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F886A20-ACAD-9913-DB5B-FD27915599FA}"/>
              </a:ext>
            </a:extLst>
          </p:cNvPr>
          <p:cNvCxnSpPr>
            <a:stCxn id="14" idx="3"/>
          </p:cNvCxnSpPr>
          <p:nvPr/>
        </p:nvCxnSpPr>
        <p:spPr>
          <a:xfrm flipV="1">
            <a:off x="7180079" y="2651760"/>
            <a:ext cx="2182677" cy="1324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293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3387BE-77FB-437E-87DE-FDF70444E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51" y="-318630"/>
            <a:ext cx="10515600" cy="1325563"/>
          </a:xfrm>
        </p:spPr>
        <p:txBody>
          <a:bodyPr/>
          <a:lstStyle/>
          <a:p>
            <a:r>
              <a:rPr lang="en-US" altLang="zh-CN" dirty="0"/>
              <a:t>Anatomy of the </a:t>
            </a:r>
            <a:r>
              <a:rPr lang="en-US" altLang="zh-CN" dirty="0" err="1"/>
              <a:t>ehh</a:t>
            </a:r>
            <a:r>
              <a:rPr lang="en-US" altLang="zh-CN" dirty="0"/>
              <a:t> case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F22424-C22B-14CE-F6C3-413F72C04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51" y="891974"/>
            <a:ext cx="10515600" cy="4351338"/>
          </a:xfrm>
        </p:spPr>
        <p:txBody>
          <a:bodyPr/>
          <a:lstStyle/>
          <a:p>
            <a:r>
              <a:rPr lang="en-US" altLang="zh-CN" dirty="0"/>
              <a:t>Why the intensity peak differ from the k1=k2 position</a:t>
            </a:r>
            <a:endParaRPr lang="zh-CN" altLang="en-US" dirty="0"/>
          </a:p>
        </p:txBody>
      </p:sp>
      <p:pic>
        <p:nvPicPr>
          <p:cNvPr id="4" name="图片 3" descr="图表&#10;&#10;描述已自动生成">
            <a:extLst>
              <a:ext uri="{FF2B5EF4-FFF2-40B4-BE49-F238E27FC236}">
                <a16:creationId xmlns:a16="http://schemas.microsoft.com/office/drawing/2014/main" id="{FBC94DE8-2B1D-1CDA-F227-1C172CE61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4" y="1751798"/>
            <a:ext cx="8993472" cy="449673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A968480-83A3-17BF-E940-1064FF5BF943}"/>
              </a:ext>
            </a:extLst>
          </p:cNvPr>
          <p:cNvSpPr txBox="1"/>
          <p:nvPr/>
        </p:nvSpPr>
        <p:spPr>
          <a:xfrm>
            <a:off x="4437247" y="3538501"/>
            <a:ext cx="1645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shape: energy conservation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08F145E-CBCF-2E05-DF86-9BD69181D2A6}"/>
              </a:ext>
            </a:extLst>
          </p:cNvPr>
          <p:cNvCxnSpPr/>
          <p:nvPr/>
        </p:nvCxnSpPr>
        <p:spPr>
          <a:xfrm flipH="1" flipV="1">
            <a:off x="4437247" y="3166711"/>
            <a:ext cx="221381" cy="269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5373DBD-AA9C-8FF2-8955-D039C5258442}"/>
              </a:ext>
            </a:extLst>
          </p:cNvPr>
          <p:cNvCxnSpPr>
            <a:cxnSpLocks/>
          </p:cNvCxnSpPr>
          <p:nvPr/>
        </p:nvCxnSpPr>
        <p:spPr>
          <a:xfrm flipH="1" flipV="1">
            <a:off x="4310514" y="2241805"/>
            <a:ext cx="348114" cy="195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6836700-D152-7023-D6CC-D3A1B5653F1C}"/>
              </a:ext>
            </a:extLst>
          </p:cNvPr>
          <p:cNvSpPr txBox="1"/>
          <p:nvPr/>
        </p:nvSpPr>
        <p:spPr>
          <a:xfrm>
            <a:off x="4658628" y="2437501"/>
            <a:ext cx="1645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strength: </a:t>
            </a:r>
            <a:r>
              <a:rPr lang="en-US" altLang="zh-CN" dirty="0" err="1"/>
              <a:t>trion</a:t>
            </a:r>
            <a:r>
              <a:rPr lang="en-US" altLang="zh-CN" dirty="0"/>
              <a:t> wave function</a:t>
            </a:r>
            <a:endParaRPr lang="zh-CN" altLang="en-US" dirty="0"/>
          </a:p>
        </p:txBody>
      </p:sp>
      <p:pic>
        <p:nvPicPr>
          <p:cNvPr id="14" name="图片 13" descr="图表&#10;&#10;描述已自动生成">
            <a:extLst>
              <a:ext uri="{FF2B5EF4-FFF2-40B4-BE49-F238E27FC236}">
                <a16:creationId xmlns:a16="http://schemas.microsoft.com/office/drawing/2014/main" id="{28359BBC-3ADC-627D-E641-7794937BE6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2" r="12561"/>
          <a:stretch/>
        </p:blipFill>
        <p:spPr>
          <a:xfrm>
            <a:off x="9038124" y="1751798"/>
            <a:ext cx="2910744" cy="292924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0DD99A1-82DD-7AAF-1F16-BFFCD4247F84}"/>
              </a:ext>
            </a:extLst>
          </p:cNvPr>
          <p:cNvSpPr txBox="1"/>
          <p:nvPr/>
        </p:nvSpPr>
        <p:spPr>
          <a:xfrm>
            <a:off x="9452008" y="5088835"/>
            <a:ext cx="22364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</a:t>
            </a:r>
            <a:r>
              <a:rPr lang="en-US" altLang="zh-CN" dirty="0" err="1"/>
              <a:t>trion</a:t>
            </a:r>
            <a:r>
              <a:rPr lang="en-US" altLang="zh-CN" dirty="0"/>
              <a:t> wave function amplitude </a:t>
            </a:r>
            <a:r>
              <a:rPr lang="en-US" altLang="zh-CN" dirty="0" err="1"/>
              <a:t>w.r.t.</a:t>
            </a:r>
            <a:r>
              <a:rPr lang="en-US" altLang="zh-CN" dirty="0"/>
              <a:t> kh1 (kh2 is calculated via energy conservation)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614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91A2EF-0878-0EE6-7EC5-839F551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28" y="-270143"/>
            <a:ext cx="10515600" cy="1325563"/>
          </a:xfrm>
        </p:spPr>
        <p:txBody>
          <a:bodyPr/>
          <a:lstStyle/>
          <a:p>
            <a:r>
              <a:rPr lang="en-US" altLang="zh-CN" dirty="0"/>
              <a:t>Anatomy of the </a:t>
            </a:r>
            <a:r>
              <a:rPr lang="en-US" altLang="zh-CN" dirty="0" err="1"/>
              <a:t>ehh</a:t>
            </a:r>
            <a:r>
              <a:rPr lang="en-US" altLang="zh-CN" dirty="0"/>
              <a:t> case</a:t>
            </a:r>
            <a:endParaRPr lang="zh-CN" altLang="en-US" dirty="0"/>
          </a:p>
        </p:txBody>
      </p:sp>
      <p:pic>
        <p:nvPicPr>
          <p:cNvPr id="5" name="图片 4" descr="图表&#10;&#10;描述已自动生成">
            <a:extLst>
              <a:ext uri="{FF2B5EF4-FFF2-40B4-BE49-F238E27FC236}">
                <a16:creationId xmlns:a16="http://schemas.microsoft.com/office/drawing/2014/main" id="{00F6F5C5-D1ED-6636-A973-A775ACFDD4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3" t="58105" r="11824" b="24912"/>
          <a:stretch/>
        </p:blipFill>
        <p:spPr>
          <a:xfrm>
            <a:off x="3559585" y="5793268"/>
            <a:ext cx="2927842" cy="495482"/>
          </a:xfrm>
          <a:prstGeom prst="rect">
            <a:avLst/>
          </a:prstGeom>
        </p:spPr>
      </p:pic>
      <p:pic>
        <p:nvPicPr>
          <p:cNvPr id="7" name="图片 6" descr="图表, 直方图&#10;&#10;描述已自动生成">
            <a:extLst>
              <a:ext uri="{FF2B5EF4-FFF2-40B4-BE49-F238E27FC236}">
                <a16:creationId xmlns:a16="http://schemas.microsoft.com/office/drawing/2014/main" id="{B091B867-D74A-2993-E41C-6F3C0375D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8" y="899241"/>
            <a:ext cx="9606013" cy="4803007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37E72B4-3560-D0EC-B45A-4ED191A7D54D}"/>
              </a:ext>
            </a:extLst>
          </p:cNvPr>
          <p:cNvCxnSpPr/>
          <p:nvPr/>
        </p:nvCxnSpPr>
        <p:spPr>
          <a:xfrm>
            <a:off x="4350619" y="5043638"/>
            <a:ext cx="0" cy="91512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E934133-8E46-3B8C-8D37-7DFD90A72FE1}"/>
              </a:ext>
            </a:extLst>
          </p:cNvPr>
          <p:cNvCxnSpPr/>
          <p:nvPr/>
        </p:nvCxnSpPr>
        <p:spPr>
          <a:xfrm>
            <a:off x="4562374" y="5043637"/>
            <a:ext cx="0" cy="91512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6453637-76A8-6FDC-3EC7-C28DF03F85F7}"/>
              </a:ext>
            </a:extLst>
          </p:cNvPr>
          <p:cNvCxnSpPr>
            <a:cxnSpLocks/>
          </p:cNvCxnSpPr>
          <p:nvPr/>
        </p:nvCxnSpPr>
        <p:spPr>
          <a:xfrm flipH="1" flipV="1">
            <a:off x="8123722" y="1568918"/>
            <a:ext cx="539016" cy="567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8AC094C2-EA6A-1A62-4C7A-3F2594D58A9B}"/>
              </a:ext>
            </a:extLst>
          </p:cNvPr>
          <p:cNvSpPr txBox="1"/>
          <p:nvPr/>
        </p:nvSpPr>
        <p:spPr>
          <a:xfrm>
            <a:off x="8662738" y="1858617"/>
            <a:ext cx="28467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peak</a:t>
            </a:r>
            <a:r>
              <a:rPr lang="zh-CN" altLang="en-US" dirty="0"/>
              <a:t> </a:t>
            </a:r>
            <a:r>
              <a:rPr lang="en-US" altLang="zh-CN" dirty="0"/>
              <a:t>comes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the peak of </a:t>
            </a:r>
            <a:r>
              <a:rPr lang="en-US" altLang="zh-CN" dirty="0" err="1"/>
              <a:t>trion</a:t>
            </a:r>
            <a:r>
              <a:rPr lang="zh-CN" altLang="en-US" dirty="0"/>
              <a:t> </a:t>
            </a:r>
            <a:r>
              <a:rPr lang="en-US" altLang="zh-CN" dirty="0"/>
              <a:t>wave</a:t>
            </a:r>
            <a:r>
              <a:rPr lang="zh-CN" altLang="en-US" dirty="0"/>
              <a:t> </a:t>
            </a:r>
            <a:r>
              <a:rPr lang="en-US" altLang="zh-CN" dirty="0"/>
              <a:t>function, which can’t be decided by either kh1=kh2 or k1=0/k2=0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1531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FA3007-66FA-08F1-E538-F6F73682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28" y="-279769"/>
            <a:ext cx="10515600" cy="1325563"/>
          </a:xfrm>
        </p:spPr>
        <p:txBody>
          <a:bodyPr/>
          <a:lstStyle/>
          <a:p>
            <a:r>
              <a:rPr lang="en-US" altLang="zh-CN" dirty="0"/>
              <a:t>Anatomy of the </a:t>
            </a:r>
            <a:r>
              <a:rPr lang="en-US" altLang="zh-CN" dirty="0" err="1"/>
              <a:t>ehh</a:t>
            </a:r>
            <a:r>
              <a:rPr lang="en-US" altLang="zh-CN" dirty="0"/>
              <a:t> case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D4523D-5324-D663-2019-FE5847584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7051" y="1751438"/>
            <a:ext cx="5459723" cy="4351338"/>
          </a:xfrm>
        </p:spPr>
        <p:txBody>
          <a:bodyPr/>
          <a:lstStyle/>
          <a:p>
            <a:r>
              <a:rPr lang="en-US" altLang="zh-CN" dirty="0"/>
              <a:t>This also means the structure of the </a:t>
            </a:r>
            <a:r>
              <a:rPr lang="en-US" altLang="zh-CN" dirty="0" err="1"/>
              <a:t>trion</a:t>
            </a:r>
            <a:r>
              <a:rPr lang="en-US" altLang="zh-CN" dirty="0"/>
              <a:t> wave function is important, because it determines where we find the peak (and hence the shape of the signature)</a:t>
            </a:r>
            <a:endParaRPr lang="zh-CN" altLang="en-US" dirty="0"/>
          </a:p>
        </p:txBody>
      </p:sp>
      <p:pic>
        <p:nvPicPr>
          <p:cNvPr id="4" name="图片 3" descr="图表&#10;&#10;描述已自动生成">
            <a:extLst>
              <a:ext uri="{FF2B5EF4-FFF2-40B4-BE49-F238E27FC236}">
                <a16:creationId xmlns:a16="http://schemas.microsoft.com/office/drawing/2014/main" id="{D32E90A9-18EC-31C2-3A5B-586550668F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2" r="12561"/>
          <a:stretch/>
        </p:blipFill>
        <p:spPr>
          <a:xfrm>
            <a:off x="1183908" y="1337912"/>
            <a:ext cx="5245767" cy="5279110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572556D-3000-7A3C-AFAC-A32B31C93E69}"/>
              </a:ext>
            </a:extLst>
          </p:cNvPr>
          <p:cNvCxnSpPr/>
          <p:nvPr/>
        </p:nvCxnSpPr>
        <p:spPr>
          <a:xfrm>
            <a:off x="2829827" y="3927107"/>
            <a:ext cx="0" cy="7026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6BDE43FE-63AC-1485-8AC6-9E3B4E41A8E9}"/>
              </a:ext>
            </a:extLst>
          </p:cNvPr>
          <p:cNvSpPr txBox="1"/>
          <p:nvPr/>
        </p:nvSpPr>
        <p:spPr>
          <a:xfrm>
            <a:off x="2897204" y="3331136"/>
            <a:ext cx="2165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The kh1=kh2 point is a saddle point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687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AF9F44-93E7-5800-A7D1-796F508A2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" y="-274955"/>
            <a:ext cx="10515600" cy="1325563"/>
          </a:xfrm>
        </p:spPr>
        <p:txBody>
          <a:bodyPr/>
          <a:lstStyle/>
          <a:p>
            <a:r>
              <a:rPr lang="en-US" altLang="zh-CN" dirty="0"/>
              <a:t>Anatomy of the </a:t>
            </a:r>
            <a:r>
              <a:rPr lang="en-US" altLang="zh-CN" dirty="0" err="1"/>
              <a:t>eeh</a:t>
            </a:r>
            <a:r>
              <a:rPr lang="en-US" altLang="zh-CN" dirty="0"/>
              <a:t> case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5E61D6-8267-6425-5F5F-77DFC1268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20" y="870585"/>
            <a:ext cx="10515600" cy="4351338"/>
          </a:xfrm>
        </p:spPr>
        <p:txBody>
          <a:bodyPr/>
          <a:lstStyle/>
          <a:p>
            <a:r>
              <a:rPr lang="en-US" altLang="zh-CN" dirty="0"/>
              <a:t>Fixing ke1, changing ke2</a:t>
            </a:r>
            <a:endParaRPr lang="zh-CN" altLang="en-US" dirty="0"/>
          </a:p>
        </p:txBody>
      </p:sp>
      <p:pic>
        <p:nvPicPr>
          <p:cNvPr id="9" name="图片 8" descr="图表, 直方图&#10;&#10;描述已自动生成">
            <a:extLst>
              <a:ext uri="{FF2B5EF4-FFF2-40B4-BE49-F238E27FC236}">
                <a16:creationId xmlns:a16="http://schemas.microsoft.com/office/drawing/2014/main" id="{290FDADF-28CD-6608-3A8A-6C7B2690E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62" y="1732548"/>
            <a:ext cx="9546655" cy="4773328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5E50793-EB34-E54D-6B74-A29B01D5A28F}"/>
              </a:ext>
            </a:extLst>
          </p:cNvPr>
          <p:cNvCxnSpPr/>
          <p:nvPr/>
        </p:nvCxnSpPr>
        <p:spPr>
          <a:xfrm>
            <a:off x="7661709" y="1337912"/>
            <a:ext cx="0" cy="519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4E1B4B6-BDF4-5CC8-0745-89A264EB0C60}"/>
              </a:ext>
            </a:extLst>
          </p:cNvPr>
          <p:cNvSpPr txBox="1"/>
          <p:nvPr/>
        </p:nvSpPr>
        <p:spPr>
          <a:xfrm>
            <a:off x="7968114" y="2969674"/>
            <a:ext cx="1625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Feature 2: </a:t>
            </a:r>
            <a:r>
              <a:rPr lang="en-US" altLang="zh-CN" dirty="0" err="1"/>
              <a:t>trion</a:t>
            </a:r>
            <a:r>
              <a:rPr lang="en-US" altLang="zh-CN" dirty="0"/>
              <a:t> wave function peak</a:t>
            </a:r>
            <a:endParaRPr lang="zh-CN" altLang="en-US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ED5FC38-7604-2D84-CC95-4126392B3611}"/>
              </a:ext>
            </a:extLst>
          </p:cNvPr>
          <p:cNvCxnSpPr>
            <a:cxnSpLocks/>
          </p:cNvCxnSpPr>
          <p:nvPr/>
        </p:nvCxnSpPr>
        <p:spPr>
          <a:xfrm flipH="1">
            <a:off x="7968114" y="4004109"/>
            <a:ext cx="264110" cy="394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C04C6A7-08B9-7C78-399A-A08EEFE78EBC}"/>
              </a:ext>
            </a:extLst>
          </p:cNvPr>
          <p:cNvSpPr txBox="1"/>
          <p:nvPr/>
        </p:nvSpPr>
        <p:spPr>
          <a:xfrm>
            <a:off x="7005588" y="843981"/>
            <a:ext cx="2758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Feature 1: ke1 fixed, ke2 varies freely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5903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AF9F44-93E7-5800-A7D1-796F508A2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28" y="-318270"/>
            <a:ext cx="10515600" cy="1325563"/>
          </a:xfrm>
        </p:spPr>
        <p:txBody>
          <a:bodyPr/>
          <a:lstStyle/>
          <a:p>
            <a:r>
              <a:rPr lang="en-US" altLang="zh-CN" dirty="0"/>
              <a:t>Anatomy of the </a:t>
            </a:r>
            <a:r>
              <a:rPr lang="en-US" altLang="zh-CN" dirty="0" err="1"/>
              <a:t>eeh</a:t>
            </a:r>
            <a:r>
              <a:rPr lang="en-US" altLang="zh-CN" dirty="0"/>
              <a:t> case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5E61D6-8267-6425-5F5F-77DFC1268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1791" y="794005"/>
            <a:ext cx="10515600" cy="4351338"/>
          </a:xfrm>
        </p:spPr>
        <p:txBody>
          <a:bodyPr/>
          <a:lstStyle/>
          <a:p>
            <a:r>
              <a:rPr lang="en-US" altLang="zh-CN" dirty="0"/>
              <a:t>Fixing ke2, changing ke1</a:t>
            </a:r>
            <a:endParaRPr lang="zh-CN" altLang="en-US" dirty="0"/>
          </a:p>
        </p:txBody>
      </p:sp>
      <p:pic>
        <p:nvPicPr>
          <p:cNvPr id="7" name="图片 6" descr="图片包含 雷达图&#10;&#10;描述已自动生成">
            <a:extLst>
              <a:ext uri="{FF2B5EF4-FFF2-40B4-BE49-F238E27FC236}">
                <a16:creationId xmlns:a16="http://schemas.microsoft.com/office/drawing/2014/main" id="{2B5C229B-DA37-C125-981D-13F277ED1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49" y="1712657"/>
            <a:ext cx="9850120" cy="492506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AE0E95F-BB09-D043-AE00-BE03F7272881}"/>
              </a:ext>
            </a:extLst>
          </p:cNvPr>
          <p:cNvSpPr txBox="1"/>
          <p:nvPr/>
        </p:nvSpPr>
        <p:spPr>
          <a:xfrm>
            <a:off x="10255913" y="3051503"/>
            <a:ext cx="1625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Feature 2: </a:t>
            </a:r>
            <a:r>
              <a:rPr lang="en-US" altLang="zh-CN" dirty="0" err="1"/>
              <a:t>trion</a:t>
            </a:r>
            <a:r>
              <a:rPr lang="en-US" altLang="zh-CN" dirty="0"/>
              <a:t> wave function peak</a:t>
            </a:r>
            <a:endParaRPr lang="zh-CN" altLang="en-US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DA9B7AE-553F-810F-FF5A-7300684E0338}"/>
              </a:ext>
            </a:extLst>
          </p:cNvPr>
          <p:cNvCxnSpPr>
            <a:cxnSpLocks/>
          </p:cNvCxnSpPr>
          <p:nvPr/>
        </p:nvCxnSpPr>
        <p:spPr>
          <a:xfrm flipH="1">
            <a:off x="9951569" y="3580597"/>
            <a:ext cx="264110" cy="394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D8F8176-693C-106D-5B19-9C12FBA356D9}"/>
              </a:ext>
            </a:extLst>
          </p:cNvPr>
          <p:cNvSpPr txBox="1"/>
          <p:nvPr/>
        </p:nvSpPr>
        <p:spPr>
          <a:xfrm>
            <a:off x="8977890" y="542147"/>
            <a:ext cx="1625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Feature 1: ke2 fixed, ke1 varies freely</a:t>
            </a:r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1733D62-8648-9457-2C73-9FFA97888659}"/>
              </a:ext>
            </a:extLst>
          </p:cNvPr>
          <p:cNvCxnSpPr>
            <a:cxnSpLocks/>
          </p:cNvCxnSpPr>
          <p:nvPr/>
        </p:nvCxnSpPr>
        <p:spPr>
          <a:xfrm>
            <a:off x="9692467" y="1465477"/>
            <a:ext cx="0" cy="416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338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7E600-149B-3134-6E6A-74D89EB4D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28" y="-318270"/>
            <a:ext cx="10515600" cy="1325563"/>
          </a:xfrm>
        </p:spPr>
        <p:txBody>
          <a:bodyPr/>
          <a:lstStyle/>
          <a:p>
            <a:r>
              <a:rPr lang="en-US" altLang="zh-CN" dirty="0"/>
              <a:t>Anatomy of </a:t>
            </a:r>
            <a:r>
              <a:rPr lang="en-US" altLang="zh-CN" dirty="0" err="1"/>
              <a:t>eeh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76785-FC93-0775-878A-E6FC72000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28" y="728346"/>
            <a:ext cx="10515600" cy="4351338"/>
          </a:xfrm>
        </p:spPr>
        <p:txBody>
          <a:bodyPr/>
          <a:lstStyle/>
          <a:p>
            <a:r>
              <a:rPr lang="en-US" altLang="zh-CN" dirty="0"/>
              <a:t>The most important distinction with the </a:t>
            </a:r>
            <a:r>
              <a:rPr lang="en-US" altLang="zh-CN" dirty="0" err="1"/>
              <a:t>ehh</a:t>
            </a:r>
            <a:r>
              <a:rPr lang="en-US" altLang="zh-CN" dirty="0"/>
              <a:t> case: the vertical stripe. Why it’s here?</a:t>
            </a:r>
            <a:endParaRPr lang="zh-CN" altLang="en-US" dirty="0"/>
          </a:p>
        </p:txBody>
      </p:sp>
      <p:pic>
        <p:nvPicPr>
          <p:cNvPr id="5" name="图片 4" descr="直方图&#10;&#10;中度可信度描述已自动生成">
            <a:extLst>
              <a:ext uri="{FF2B5EF4-FFF2-40B4-BE49-F238E27FC236}">
                <a16:creationId xmlns:a16="http://schemas.microsoft.com/office/drawing/2014/main" id="{3FA27843-AB69-5034-DD59-EAD97EEF3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15" y="1585811"/>
            <a:ext cx="10245213" cy="512260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FFB7EFF-310C-DA92-5E47-D3BEA28E33B8}"/>
              </a:ext>
            </a:extLst>
          </p:cNvPr>
          <p:cNvSpPr txBox="1"/>
          <p:nvPr/>
        </p:nvSpPr>
        <p:spPr>
          <a:xfrm>
            <a:off x="1848051" y="3879355"/>
            <a:ext cx="15400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High intensity when ke1 is chosen </a:t>
            </a:r>
            <a:r>
              <a:rPr lang="en-US" altLang="zh-CN" dirty="0" err="1"/>
              <a:t>s.t.</a:t>
            </a:r>
            <a:r>
              <a:rPr lang="en-US" altLang="zh-CN" dirty="0"/>
              <a:t> k1=0</a:t>
            </a:r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5B89E1A-BE11-2DAF-D944-0D57189E3B9A}"/>
              </a:ext>
            </a:extLst>
          </p:cNvPr>
          <p:cNvCxnSpPr>
            <a:cxnSpLocks/>
          </p:cNvCxnSpPr>
          <p:nvPr/>
        </p:nvCxnSpPr>
        <p:spPr>
          <a:xfrm>
            <a:off x="2473693" y="5079684"/>
            <a:ext cx="0" cy="74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008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DA7214-AC28-5339-9C19-6CD4F0D1D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0" y="-334298"/>
            <a:ext cx="10515600" cy="1325563"/>
          </a:xfrm>
        </p:spPr>
        <p:txBody>
          <a:bodyPr/>
          <a:lstStyle/>
          <a:p>
            <a:r>
              <a:rPr lang="en-US" altLang="zh-CN" dirty="0"/>
              <a:t>Wave function structures of </a:t>
            </a:r>
            <a:r>
              <a:rPr lang="en-US" altLang="zh-CN" dirty="0" err="1"/>
              <a:t>eeh</a:t>
            </a:r>
            <a:r>
              <a:rPr lang="en-US" altLang="zh-CN" dirty="0"/>
              <a:t> and </a:t>
            </a:r>
            <a:r>
              <a:rPr lang="en-US" altLang="zh-CN" dirty="0" err="1"/>
              <a:t>ehh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38A69E-0379-B368-6144-42F4F9B1A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83" y="801047"/>
            <a:ext cx="10515600" cy="4351338"/>
          </a:xfrm>
        </p:spPr>
        <p:txBody>
          <a:bodyPr/>
          <a:lstStyle/>
          <a:p>
            <a:r>
              <a:rPr lang="en-US" altLang="zh-CN" dirty="0"/>
              <a:t>Different momentum conservation laws lead to different structure</a:t>
            </a:r>
          </a:p>
        </p:txBody>
      </p:sp>
      <p:pic>
        <p:nvPicPr>
          <p:cNvPr id="4" name="图片 3" descr="图表&#10;&#10;描述已自动生成">
            <a:extLst>
              <a:ext uri="{FF2B5EF4-FFF2-40B4-BE49-F238E27FC236}">
                <a16:creationId xmlns:a16="http://schemas.microsoft.com/office/drawing/2014/main" id="{5B694AC2-B6DD-426A-71C9-C686B5B7BB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2" r="12561"/>
          <a:stretch/>
        </p:blipFill>
        <p:spPr>
          <a:xfrm>
            <a:off x="574931" y="1821781"/>
            <a:ext cx="4323856" cy="4351339"/>
          </a:xfrm>
          <a:prstGeom prst="rect">
            <a:avLst/>
          </a:prstGeom>
        </p:spPr>
      </p:pic>
      <p:pic>
        <p:nvPicPr>
          <p:cNvPr id="6" name="图片 5" descr="图表, 直方图&#10;&#10;描述已自动生成">
            <a:extLst>
              <a:ext uri="{FF2B5EF4-FFF2-40B4-BE49-F238E27FC236}">
                <a16:creationId xmlns:a16="http://schemas.microsoft.com/office/drawing/2014/main" id="{C763D991-25D5-AE9D-1D7C-CF3FA08DB8C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3" r="13681"/>
          <a:stretch/>
        </p:blipFill>
        <p:spPr>
          <a:xfrm>
            <a:off x="7129495" y="1821782"/>
            <a:ext cx="4231519" cy="435133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AAC58BC-203D-9BF7-37C0-ACB699BCF258}"/>
              </a:ext>
            </a:extLst>
          </p:cNvPr>
          <p:cNvSpPr txBox="1"/>
          <p:nvPr/>
        </p:nvSpPr>
        <p:spPr>
          <a:xfrm>
            <a:off x="276375" y="1453902"/>
            <a:ext cx="4976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ehh</a:t>
            </a:r>
            <a:r>
              <a:rPr lang="en-US" altLang="zh-CN" dirty="0"/>
              <a:t> </a:t>
            </a:r>
            <a:r>
              <a:rPr lang="en-US" altLang="zh-CN" dirty="0" err="1"/>
              <a:t>w.r.t.</a:t>
            </a:r>
            <a:r>
              <a:rPr lang="en-US" altLang="zh-CN" dirty="0"/>
              <a:t> kh1: kh2=f(kh1, </a:t>
            </a:r>
            <a:r>
              <a:rPr lang="en-US" altLang="zh-CN" dirty="0" err="1"/>
              <a:t>ke</a:t>
            </a:r>
            <a:r>
              <a:rPr lang="en-US" altLang="zh-CN" dirty="0"/>
              <a:t>), </a:t>
            </a:r>
            <a:r>
              <a:rPr lang="en-US" altLang="zh-CN" dirty="0" err="1"/>
              <a:t>wfn</a:t>
            </a:r>
            <a:r>
              <a:rPr lang="en-US" altLang="zh-CN" dirty="0"/>
              <a:t>=</a:t>
            </a:r>
            <a:r>
              <a:rPr lang="en-US" altLang="zh-CN" dirty="0" err="1"/>
              <a:t>wfn</a:t>
            </a:r>
            <a:r>
              <a:rPr lang="en-US" altLang="zh-CN" dirty="0"/>
              <a:t>(kh1,kh2) 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D0734C-A01B-2860-96E7-25357A677292}"/>
              </a:ext>
            </a:extLst>
          </p:cNvPr>
          <p:cNvSpPr txBox="1"/>
          <p:nvPr/>
        </p:nvSpPr>
        <p:spPr>
          <a:xfrm>
            <a:off x="7724724" y="1453902"/>
            <a:ext cx="3425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eeh</a:t>
            </a:r>
            <a:r>
              <a:rPr lang="en-US" altLang="zh-CN" dirty="0"/>
              <a:t> </a:t>
            </a:r>
            <a:r>
              <a:rPr lang="en-US" altLang="zh-CN" dirty="0" err="1"/>
              <a:t>w.r.t.</a:t>
            </a:r>
            <a:r>
              <a:rPr lang="en-US" altLang="zh-CN" dirty="0"/>
              <a:t> ke2: </a:t>
            </a:r>
            <a:r>
              <a:rPr lang="en-US" altLang="zh-CN" dirty="0" err="1"/>
              <a:t>wfn</a:t>
            </a:r>
            <a:r>
              <a:rPr lang="en-US" altLang="zh-CN" dirty="0"/>
              <a:t>=</a:t>
            </a:r>
            <a:r>
              <a:rPr lang="en-US" altLang="zh-CN" dirty="0" err="1"/>
              <a:t>wfn</a:t>
            </a:r>
            <a:r>
              <a:rPr lang="en-US" altLang="zh-CN" dirty="0"/>
              <a:t>(ke1,ke2)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5F7DE5-22C9-B904-268F-67E77A61489F}"/>
              </a:ext>
            </a:extLst>
          </p:cNvPr>
          <p:cNvSpPr txBox="1"/>
          <p:nvPr/>
        </p:nvSpPr>
        <p:spPr>
          <a:xfrm>
            <a:off x="574931" y="6089155"/>
            <a:ext cx="10874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Although the wave function’s relation with k1 and k2 remains the same, the relation between (k1, k2) and (</a:t>
            </a:r>
            <a:r>
              <a:rPr lang="en-US" altLang="zh-CN" dirty="0" err="1"/>
              <a:t>k_ARPES</a:t>
            </a:r>
            <a:r>
              <a:rPr lang="en-US" altLang="zh-CN" dirty="0"/>
              <a:t>, </a:t>
            </a:r>
            <a:r>
              <a:rPr lang="en-US" altLang="zh-CN" dirty="0" err="1"/>
              <a:t>k_inner</a:t>
            </a:r>
            <a:r>
              <a:rPr lang="en-US" altLang="zh-CN" dirty="0"/>
              <a:t>) isn’t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4478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379579-4B6B-F25C-5106-387D915AB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30" y="-327895"/>
            <a:ext cx="10515600" cy="1325563"/>
          </a:xfrm>
        </p:spPr>
        <p:txBody>
          <a:bodyPr/>
          <a:lstStyle/>
          <a:p>
            <a:r>
              <a:rPr lang="en-US" altLang="zh-CN" dirty="0"/>
              <a:t>Wave function structures of </a:t>
            </a:r>
            <a:r>
              <a:rPr lang="en-US" altLang="zh-CN" dirty="0" err="1"/>
              <a:t>eeh</a:t>
            </a:r>
            <a:r>
              <a:rPr lang="en-US" altLang="zh-CN" dirty="0"/>
              <a:t> and </a:t>
            </a:r>
            <a:r>
              <a:rPr lang="en-US" altLang="zh-CN" dirty="0" err="1"/>
              <a:t>ehh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269BC6-A31F-EB20-D018-41410AF9D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0739" y="997668"/>
            <a:ext cx="4469723" cy="4351338"/>
          </a:xfrm>
        </p:spPr>
        <p:txBody>
          <a:bodyPr/>
          <a:lstStyle/>
          <a:p>
            <a:r>
              <a:rPr lang="en-US" altLang="zh-CN" dirty="0"/>
              <a:t>This distinction can also be seen in this </a:t>
            </a:r>
            <a:r>
              <a:rPr lang="en-US" altLang="zh-CN"/>
              <a:t>way:</a:t>
            </a:r>
            <a:endParaRPr lang="zh-CN" altLang="en-US" dirty="0"/>
          </a:p>
        </p:txBody>
      </p:sp>
      <p:pic>
        <p:nvPicPr>
          <p:cNvPr id="4" name="图片 3" descr="图表, 直方图&#10;&#10;描述已自动生成">
            <a:extLst>
              <a:ext uri="{FF2B5EF4-FFF2-40B4-BE49-F238E27FC236}">
                <a16:creationId xmlns:a16="http://schemas.microsoft.com/office/drawing/2014/main" id="{93225F70-3B16-1386-6CDB-B468CB576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57" y="3598399"/>
            <a:ext cx="6046838" cy="3023419"/>
          </a:xfrm>
          <a:prstGeom prst="rect">
            <a:avLst/>
          </a:prstGeom>
        </p:spPr>
      </p:pic>
      <p:pic>
        <p:nvPicPr>
          <p:cNvPr id="5" name="图片 4" descr="图表&#10;&#10;描述已自动生成">
            <a:extLst>
              <a:ext uri="{FF2B5EF4-FFF2-40B4-BE49-F238E27FC236}">
                <a16:creationId xmlns:a16="http://schemas.microsoft.com/office/drawing/2014/main" id="{A5467AE2-DCB0-5540-ECA2-14E44177A9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38" y="681037"/>
            <a:ext cx="5791555" cy="289577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7323D4D-4DC9-AF17-154B-45A49B9A5265}"/>
              </a:ext>
            </a:extLst>
          </p:cNvPr>
          <p:cNvSpPr txBox="1"/>
          <p:nvPr/>
        </p:nvSpPr>
        <p:spPr>
          <a:xfrm>
            <a:off x="2831690" y="2006600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Double sided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1B51AE-C0D9-3EB6-AFF8-07018C475451}"/>
              </a:ext>
            </a:extLst>
          </p:cNvPr>
          <p:cNvSpPr txBox="1"/>
          <p:nvPr/>
        </p:nvSpPr>
        <p:spPr>
          <a:xfrm>
            <a:off x="2731526" y="4569997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Single sided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600123-0709-D294-5DED-8B8B1B434383}"/>
              </a:ext>
            </a:extLst>
          </p:cNvPr>
          <p:cNvSpPr txBox="1"/>
          <p:nvPr/>
        </p:nvSpPr>
        <p:spPr>
          <a:xfrm>
            <a:off x="5051262" y="1637268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Single spot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4DE7C1-A0D6-0782-665C-CE254F546CD0}"/>
              </a:ext>
            </a:extLst>
          </p:cNvPr>
          <p:cNvSpPr txBox="1"/>
          <p:nvPr/>
        </p:nvSpPr>
        <p:spPr>
          <a:xfrm>
            <a:off x="5019763" y="5525926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Double spot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4680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2437</TotalTime>
  <Words>407</Words>
  <Application>Microsoft Office PowerPoint</Application>
  <PresentationFormat>宽屏</PresentationFormat>
  <Paragraphs>46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Trion ARPES</vt:lpstr>
      <vt:lpstr>PowerPoint 演示文稿</vt:lpstr>
      <vt:lpstr>Anatomy of the ehh case</vt:lpstr>
      <vt:lpstr>Anatomy of the ehh case</vt:lpstr>
      <vt:lpstr>Anatomy of the ehh case</vt:lpstr>
      <vt:lpstr>Anatomy of the ehh case</vt:lpstr>
      <vt:lpstr>Anatomy of the ehh case</vt:lpstr>
      <vt:lpstr>Anatomy of the eeh case</vt:lpstr>
      <vt:lpstr>Anatomy of the eeh case</vt:lpstr>
      <vt:lpstr>Anatomy of eeh</vt:lpstr>
      <vt:lpstr>Wave function structures of eeh and ehh</vt:lpstr>
      <vt:lpstr>Wave function structures of eeh and ehh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Wu, Jinyuan</dc:creator>
  <cp:lastModifiedBy>Wu, Jinyuan</cp:lastModifiedBy>
  <cp:revision>103</cp:revision>
  <dcterms:created xsi:type="dcterms:W3CDTF">2024-03-29T02:04:09Z</dcterms:created>
  <dcterms:modified xsi:type="dcterms:W3CDTF">2024-05-03T17:02:25Z</dcterms:modified>
</cp:coreProperties>
</file>