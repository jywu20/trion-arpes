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8" r:id="rId4"/>
  </p:sldMasterIdLst>
  <p:notesMasterIdLst>
    <p:notesMasterId r:id="rId6"/>
  </p:notesMasterIdLst>
  <p:handoutMasterIdLst>
    <p:handoutMasterId r:id="rId7"/>
  </p:handoutMasterIdLst>
  <p:sldIdLst>
    <p:sldId id="340" r:id="rId5"/>
  </p:sldIdLst>
  <p:sldSz cx="36576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440" userDrawn="1">
          <p15:clr>
            <a:srgbClr val="A4A3A4"/>
          </p15:clr>
        </p15:guide>
        <p15:guide id="5" orient="horz" pos="14784" userDrawn="1">
          <p15:clr>
            <a:srgbClr val="A4A3A4"/>
          </p15:clr>
        </p15:guide>
        <p15:guide id="6" pos="126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6327"/>
  </p:normalViewPr>
  <p:slideViewPr>
    <p:cSldViewPr snapToGrid="0" snapToObjects="1">
      <p:cViewPr varScale="1">
        <p:scale>
          <a:sx n="32" d="100"/>
          <a:sy n="32" d="100"/>
        </p:scale>
        <p:origin x="2009" y="117"/>
      </p:cViewPr>
      <p:guideLst>
        <p:guide pos="1440"/>
        <p:guide orient="horz" pos="14784"/>
        <p:guide pos="126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BF996D-81CD-24F2-4208-1434413FDF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FC300-5CC2-DA2F-D2AE-6E6388192D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98C99-694C-5644-BD12-D569D5F9E70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A97B-4CC9-C2B2-1DD2-947F9701DE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51D4D-51DC-1CF5-63ED-EB5332058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E6B2F-4F99-F84D-9DAC-E51171C21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74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7ADCB-635E-0D41-B235-4FD67CF7CC7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9E44-D13C-C54E-8DA3-DB5207EA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2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828684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3657368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5486048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7314732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9143416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10972096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12800780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14629464" algn="l" defTabSz="3657368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9E44-D13C-C54E-8DA3-DB5207EAD2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8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66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66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89E00-4980-209A-7203-6F19F5F1271C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89960267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/>
        </p:nvSpPr>
        <p:spPr>
          <a:xfrm>
            <a:off x="12133490" y="0"/>
            <a:ext cx="24966172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66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66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C6970-BB13-D285-864B-3C4D8F681956}"/>
              </a:ext>
            </a:extLst>
          </p:cNvPr>
          <p:cNvSpPr/>
          <p:nvPr/>
        </p:nvSpPr>
        <p:spPr>
          <a:xfrm>
            <a:off x="12133494" y="0"/>
            <a:ext cx="24966172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1703153595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66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7B1F1-667C-03F9-A83B-06E5AF61963A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098345743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66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28E065-1A5F-0D7F-0F7D-BC5BAC63BCC9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555277042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57112-E340-86E3-3421-AC7714FD5090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35769618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5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CAFDAA-57CF-AE18-9D77-FD3F103A7E68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22698255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7022" y="20894690"/>
            <a:ext cx="12785900" cy="232366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7022" y="4127156"/>
            <a:ext cx="22667396" cy="14964032"/>
          </a:xfrm>
        </p:spPr>
        <p:txBody>
          <a:bodyPr>
            <a:noAutofit/>
          </a:bodyPr>
          <a:lstStyle>
            <a:lvl1pPr marL="0" indent="0">
              <a:buNone/>
              <a:defRPr sz="90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232EA-4982-DBD7-2E25-2258FAB6F90A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396535873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9046352"/>
            <a:ext cx="27432000" cy="8203680"/>
          </a:xfrm>
        </p:spPr>
        <p:txBody>
          <a:bodyPr>
            <a:normAutofit/>
          </a:bodyPr>
          <a:lstStyle>
            <a:lvl1pPr marL="0" indent="0" algn="ctr">
              <a:buNone/>
              <a:defRPr sz="4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BBC5E-4D40-7E63-5ABD-78B811314AF8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06161910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-2" y="0"/>
            <a:ext cx="36576004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0" y="11392342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78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660D2-24C8-D764-4CC6-CA9616CDDD9F}"/>
              </a:ext>
            </a:extLst>
          </p:cNvPr>
          <p:cNvSpPr/>
          <p:nvPr/>
        </p:nvSpPr>
        <p:spPr>
          <a:xfrm>
            <a:off x="-2" y="0"/>
            <a:ext cx="36576004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161602685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0" y="11392342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78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58564572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/>
        </p:nvSpPr>
        <p:spPr>
          <a:xfrm>
            <a:off x="-216566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CE262-4D1D-D4A2-C419-7AC3493A2E2E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2036306357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/>
        </p:nvSpPr>
        <p:spPr>
          <a:xfrm>
            <a:off x="-216566" y="0"/>
            <a:ext cx="37316228" cy="27432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D36D63-0D4B-7651-9DDC-DA0B3BC2F4EC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21510597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4940" y="2914652"/>
            <a:ext cx="22036088" cy="21818600"/>
          </a:xfrm>
        </p:spPr>
        <p:txBody>
          <a:bodyPr>
            <a:normAutofit/>
          </a:bodyPr>
          <a:lstStyle>
            <a:lvl1pPr marL="0" indent="0">
              <a:lnSpc>
                <a:spcPts val="14640"/>
              </a:lnSpc>
              <a:buNone/>
              <a:defRPr sz="96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015199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/>
        </p:nvSpPr>
        <p:spPr>
          <a:xfrm>
            <a:off x="-216566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772" y="2858482"/>
            <a:ext cx="21910432" cy="221361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23717-C25F-1980-1DCC-9EC6C0CE88F6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395588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/>
        </p:nvSpPr>
        <p:spPr>
          <a:xfrm>
            <a:off x="1568796" y="12823974"/>
            <a:ext cx="9017984" cy="126954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43232" y="0"/>
            <a:ext cx="24432768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98862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4C83C5-C266-1C28-A943-AB14EB220DCF}"/>
              </a:ext>
            </a:extLst>
          </p:cNvPr>
          <p:cNvSpPr txBox="1">
            <a:spLocks/>
          </p:cNvSpPr>
          <p:nvPr/>
        </p:nvSpPr>
        <p:spPr>
          <a:xfrm>
            <a:off x="1568796" y="12823978"/>
            <a:ext cx="9017984" cy="126954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5645052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3EDD1-AF2A-D3E3-E47E-561B0849E7FF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248102006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423AE-8773-47C6-557B-198C81B40FDB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26638811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0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AB0CF-11E6-310E-8628-389A38273EB0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891469618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0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3336B-3BEA-3EB5-6086-B8CCA630DF6A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28378739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0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" y="0"/>
            <a:ext cx="11899316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922948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4" y="9802366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0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38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55320040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4" y="9802366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0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38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4CCC2-5D75-CED7-A9E4-4680F5A23110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363067"/>
      </p:ext>
    </p:extLst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/>
        </p:nvSpPr>
        <p:spPr>
          <a:xfrm>
            <a:off x="12143232" y="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/>
        </p:nvSpPr>
        <p:spPr>
          <a:xfrm>
            <a:off x="12143232" y="9802368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/>
        </p:nvSpPr>
        <p:spPr>
          <a:xfrm>
            <a:off x="24478488" y="0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/>
        </p:nvSpPr>
        <p:spPr>
          <a:xfrm>
            <a:off x="24478488" y="1792224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4" y="9802366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0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38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A8A64-86AF-417D-8D8D-A6DDC0970405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CA4A8D-DB50-5FDB-6B51-FD20CB7D2561}"/>
              </a:ext>
            </a:extLst>
          </p:cNvPr>
          <p:cNvSpPr txBox="1">
            <a:spLocks/>
          </p:cNvSpPr>
          <p:nvPr/>
        </p:nvSpPr>
        <p:spPr>
          <a:xfrm>
            <a:off x="12143232" y="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Insert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4216CC4-F176-4377-8B00-4DA916919AD1}"/>
              </a:ext>
            </a:extLst>
          </p:cNvPr>
          <p:cNvSpPr txBox="1">
            <a:spLocks/>
          </p:cNvSpPr>
          <p:nvPr/>
        </p:nvSpPr>
        <p:spPr>
          <a:xfrm>
            <a:off x="12143232" y="9802368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30C24A2-F849-1A38-571D-4F1FA48A03DB}"/>
              </a:ext>
            </a:extLst>
          </p:cNvPr>
          <p:cNvSpPr txBox="1">
            <a:spLocks/>
          </p:cNvSpPr>
          <p:nvPr/>
        </p:nvSpPr>
        <p:spPr>
          <a:xfrm>
            <a:off x="24478488" y="0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6A1318EF-CCCA-0845-9313-C886D20CE539}"/>
              </a:ext>
            </a:extLst>
          </p:cNvPr>
          <p:cNvSpPr txBox="1">
            <a:spLocks/>
          </p:cNvSpPr>
          <p:nvPr/>
        </p:nvSpPr>
        <p:spPr>
          <a:xfrm>
            <a:off x="24478488" y="1792224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007942115"/>
      </p:ext>
    </p:extLst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2" y="0"/>
            <a:ext cx="7969672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2" y="13944592"/>
            <a:ext cx="7940912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79410" y="30992"/>
            <a:ext cx="7828220" cy="660894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479410" y="7003298"/>
            <a:ext cx="7828220" cy="1348326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479410" y="20849924"/>
            <a:ext cx="7828220" cy="655108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643120" y="-25400"/>
            <a:ext cx="7969672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43120" y="13919192"/>
            <a:ext cx="7940912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3952" y="12740224"/>
            <a:ext cx="913200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61251690"/>
      </p:ext>
    </p:extLst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4" y="13944592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4" y="2636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99974" y="13947228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58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60992491"/>
      </p:ext>
    </p:extLst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/>
        </p:nvSpPr>
        <p:spPr>
          <a:xfrm>
            <a:off x="-370114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58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4" y="0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4" y="13944592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4" y="2636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499974" y="13947228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05597F-0EA0-6AEA-BF96-EF08EEF5F59F}"/>
              </a:ext>
            </a:extLst>
          </p:cNvPr>
          <p:cNvSpPr/>
          <p:nvPr/>
        </p:nvSpPr>
        <p:spPr>
          <a:xfrm>
            <a:off x="-370114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296940046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95374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46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85C703-3508-F00C-F2B0-0FFDA9B83B7D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994926266"/>
      </p:ext>
    </p:extLst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/>
        </p:nvSpPr>
        <p:spPr>
          <a:xfrm>
            <a:off x="13496546" y="3511302"/>
            <a:ext cx="21868724" cy="18530940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980"/>
              </a:lnSpc>
            </a:pPr>
            <a:endParaRPr lang="en-US" sz="8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608793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34942" y="2851158"/>
            <a:ext cx="21755100" cy="2182494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FF979B72-ED9A-3EDE-6657-A30F78A980FF}"/>
              </a:ext>
            </a:extLst>
          </p:cNvPr>
          <p:cNvSpPr txBox="1">
            <a:spLocks/>
          </p:cNvSpPr>
          <p:nvPr/>
        </p:nvSpPr>
        <p:spPr>
          <a:xfrm>
            <a:off x="13496546" y="3511306"/>
            <a:ext cx="21868724" cy="18530940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980"/>
              </a:lnSpc>
            </a:pPr>
            <a:endParaRPr lang="en-US" sz="8400" dirty="0"/>
          </a:p>
        </p:txBody>
      </p:sp>
    </p:spTree>
    <p:extLst>
      <p:ext uri="{BB962C8B-B14F-4D97-AF65-F5344CB8AC3E}">
        <p14:creationId xmlns:p14="http://schemas.microsoft.com/office/powerpoint/2010/main" val="3419237386"/>
      </p:ext>
    </p:extLst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292138" y="3938962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C6523B-3C30-5420-93D2-28181789FBDF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851600692"/>
      </p:ext>
    </p:extLst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/>
        </p:nvSpPr>
        <p:spPr>
          <a:xfrm>
            <a:off x="-19594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2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10EF5C-6A49-0613-1716-1C2A414B0BC8}"/>
              </a:ext>
            </a:extLst>
          </p:cNvPr>
          <p:cNvSpPr/>
          <p:nvPr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213939510"/>
      </p:ext>
    </p:extLst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/>
        </p:nvSpPr>
        <p:spPr>
          <a:xfrm>
            <a:off x="-19594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591580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2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A6CEF-2405-D337-9055-97974B501C88}"/>
              </a:ext>
            </a:extLst>
          </p:cNvPr>
          <p:cNvSpPr/>
          <p:nvPr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1140864131"/>
      </p:ext>
    </p:extLst>
  </p:cSld>
  <p:clrMapOvr>
    <a:masterClrMapping/>
  </p:clrMapOvr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/>
        </p:nvSpPr>
        <p:spPr>
          <a:xfrm>
            <a:off x="12131032" y="0"/>
            <a:ext cx="24444968" cy="274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2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2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45DEB-BE17-867F-B4A5-8A1B0C99F2A4}"/>
              </a:ext>
            </a:extLst>
          </p:cNvPr>
          <p:cNvSpPr/>
          <p:nvPr/>
        </p:nvSpPr>
        <p:spPr>
          <a:xfrm>
            <a:off x="12131032" y="0"/>
            <a:ext cx="24444968" cy="274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174726610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2160">
          <p15:clr>
            <a:srgbClr val="FBAE40"/>
          </p15:clr>
        </p15:guide>
        <p15:guide id="4" orient="horz" pos="64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2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389162" y="3889534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14D06-B2ED-2968-997B-96730AE20C05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100395159"/>
      </p:ext>
    </p:extLst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2" y="0"/>
            <a:ext cx="36566856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5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031D7-6602-24F1-63FF-8728AC3D5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2" y="0"/>
            <a:ext cx="36566856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3139645330"/>
      </p:ext>
    </p:extLst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8008" y="4540552"/>
            <a:ext cx="23552472" cy="1766108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4996" y="4540552"/>
            <a:ext cx="8421624" cy="17678856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8326" y="4540258"/>
            <a:ext cx="23550564" cy="1765934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27090" y="4540258"/>
            <a:ext cx="8420100" cy="1765934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pic>
        <p:nvPicPr>
          <p:cNvPr id="2" name="Picture 1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7603C44B-9D9D-C2E2-6608-AED97DA69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8008" y="4540552"/>
            <a:ext cx="23552472" cy="17661080"/>
          </a:xfrm>
          <a:prstGeom prst="rect">
            <a:avLst/>
          </a:prstGeom>
        </p:spPr>
      </p:pic>
      <p:pic>
        <p:nvPicPr>
          <p:cNvPr id="4" name="Picture 3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891E081A-113D-DC0E-9FDC-3302E03BCC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4996" y="4540552"/>
            <a:ext cx="8421624" cy="176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90083"/>
      </p:ext>
    </p:extLst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40"/>
            <a:ext cx="36566796" cy="2743196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/>
        </p:nvSpPr>
        <p:spPr>
          <a:xfrm>
            <a:off x="11274552" y="18427708"/>
            <a:ext cx="25301448" cy="5010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1600" y="20023016"/>
            <a:ext cx="22826664" cy="215704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3" name="Picture 2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FCBB5C93-3462-1376-4A10-3226D92F52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40"/>
            <a:ext cx="36566796" cy="274319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3128F7-F376-54BB-CF1B-93249E8C794D}"/>
              </a:ext>
            </a:extLst>
          </p:cNvPr>
          <p:cNvSpPr/>
          <p:nvPr/>
        </p:nvSpPr>
        <p:spPr>
          <a:xfrm>
            <a:off x="11274552" y="18427708"/>
            <a:ext cx="25301448" cy="5010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2350019865"/>
      </p:ext>
    </p:extLst>
  </p:cSld>
  <p:clrMapOvr>
    <a:masterClrMapping/>
  </p:clrMapOvr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/>
        </p:nvSpPr>
        <p:spPr>
          <a:xfrm>
            <a:off x="13343562" y="312950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/>
        </p:nvSpPr>
        <p:spPr>
          <a:xfrm>
            <a:off x="13343562" y="17685878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/>
        </p:nvSpPr>
        <p:spPr>
          <a:xfrm>
            <a:off x="13344908" y="3193896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/>
        </p:nvSpPr>
        <p:spPr>
          <a:xfrm>
            <a:off x="13344908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/>
        </p:nvSpPr>
        <p:spPr>
          <a:xfrm>
            <a:off x="13344908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0" y="360694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4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1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4" y="566837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2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0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65851C-140F-7627-456C-2236D96BE11E}"/>
              </a:ext>
            </a:extLst>
          </p:cNvPr>
          <p:cNvSpPr/>
          <p:nvPr/>
        </p:nvSpPr>
        <p:spPr>
          <a:xfrm>
            <a:off x="13343562" y="312951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B0366B-5499-A7A0-19C8-C001A423DC3F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A28B83-B771-0CD9-7171-DABD89FBCCF5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8C50B5-A74F-A004-6634-B954717A88F1}"/>
              </a:ext>
            </a:extLst>
          </p:cNvPr>
          <p:cNvSpPr txBox="1">
            <a:spLocks/>
          </p:cNvSpPr>
          <p:nvPr/>
        </p:nvSpPr>
        <p:spPr>
          <a:xfrm>
            <a:off x="13344912" y="3193896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FB042A8-137F-10CC-9EC0-62F405FE9173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F4123E1-62FA-F963-DB1D-90EA7235C75C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247472-31B1-305F-63B7-44210745D461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161320152"/>
      </p:ext>
    </p:extLst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/>
        </p:nvSpPr>
        <p:spPr>
          <a:xfrm>
            <a:off x="13343562" y="32701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/>
        </p:nvSpPr>
        <p:spPr>
          <a:xfrm>
            <a:off x="13343562" y="17685878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/>
        </p:nvSpPr>
        <p:spPr>
          <a:xfrm>
            <a:off x="13344908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/>
        </p:nvSpPr>
        <p:spPr>
          <a:xfrm>
            <a:off x="13344908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/>
        </p:nvSpPr>
        <p:spPr>
          <a:xfrm>
            <a:off x="13344908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0" y="360694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4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1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4" y="566837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2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0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B45CB-4C00-E5D0-37FA-B8B5BE7E31FD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F6BDB1-788F-8A10-664F-E1DBAB3E7677}"/>
              </a:ext>
            </a:extLst>
          </p:cNvPr>
          <p:cNvSpPr/>
          <p:nvPr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8D8B43-2A08-6313-7025-BB6FA16929AF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2748A7-CAB7-1A1E-05F5-15577D7D339F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3CB8F994-5F0B-9DC8-AF1F-A841EFF04BBF}"/>
              </a:ext>
            </a:extLst>
          </p:cNvPr>
          <p:cNvSpPr txBox="1">
            <a:spLocks/>
          </p:cNvSpPr>
          <p:nvPr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5D364E-8E4E-8CEE-459C-AD122B0CBE66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AB1199A-B029-25C6-B4D6-0C656DA669AF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3931224"/>
      </p:ext>
    </p:extLst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/>
        </p:nvSpPr>
        <p:spPr>
          <a:xfrm>
            <a:off x="13343562" y="32701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/>
        </p:nvSpPr>
        <p:spPr>
          <a:xfrm>
            <a:off x="13343562" y="17685878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/>
        </p:nvSpPr>
        <p:spPr>
          <a:xfrm>
            <a:off x="13344908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/>
        </p:nvSpPr>
        <p:spPr>
          <a:xfrm>
            <a:off x="13344908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/>
        </p:nvSpPr>
        <p:spPr>
          <a:xfrm>
            <a:off x="13344908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0" y="360694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4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1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4" y="566837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2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0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CD28C-D4BE-9D5C-228E-0982A9C6A9E3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08663A-51E5-F929-38FB-CC2035D41FFD}"/>
              </a:ext>
            </a:extLst>
          </p:cNvPr>
          <p:cNvSpPr/>
          <p:nvPr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042D9-BB8C-3D9C-D301-9A55D19D6288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640221-615A-11C1-BCE4-CDF814B36108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57F377-AA67-79EB-A15A-B606A55D58ED}"/>
              </a:ext>
            </a:extLst>
          </p:cNvPr>
          <p:cNvSpPr txBox="1">
            <a:spLocks/>
          </p:cNvSpPr>
          <p:nvPr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D498AC-D6B6-0327-9868-0BE7F816F547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C1BC81DA-204A-A9FF-FF0B-A5A4825C11E5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549898"/>
      </p:ext>
    </p:extLst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466594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EAEB3-3A8E-1FD8-38A9-9C0CF0CF4435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4080580981"/>
      </p:ext>
    </p:extLst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68" y="2817424"/>
            <a:ext cx="23533720" cy="301353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25516" y="6400802"/>
            <a:ext cx="32748168" cy="1821378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27432-DE6F-9076-F805-0393B0EC38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959985846"/>
      </p:ext>
    </p:extLst>
  </p:cSld>
  <p:clrMapOvr>
    <a:masterClrMapping/>
  </p:clrMapOvr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/>
        </p:nvSpPr>
        <p:spPr>
          <a:xfrm>
            <a:off x="14473926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/>
        </p:nvSpPr>
        <p:spPr>
          <a:xfrm>
            <a:off x="19582194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/>
        </p:nvSpPr>
        <p:spPr>
          <a:xfrm>
            <a:off x="24690458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/>
        </p:nvSpPr>
        <p:spPr>
          <a:xfrm>
            <a:off x="29798722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/>
        </p:nvSpPr>
        <p:spPr>
          <a:xfrm>
            <a:off x="14473926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/>
        </p:nvSpPr>
        <p:spPr>
          <a:xfrm>
            <a:off x="19582194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/>
        </p:nvSpPr>
        <p:spPr>
          <a:xfrm>
            <a:off x="24690458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/>
        </p:nvSpPr>
        <p:spPr>
          <a:xfrm>
            <a:off x="29798722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108104" y="6390944"/>
            <a:ext cx="10582352" cy="346306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296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2968" y="17398850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7264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72644" y="17398850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0090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00904" y="17398850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7634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476348" y="17398850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178140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78140" y="2480113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0781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07816" y="2480113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43607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436076" y="2480113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511524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511524" y="2480113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473926" y="112776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9582194" y="113049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4690458" y="1127760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9798722" y="11277598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4473926" y="18666238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9582194" y="18693538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4690458" y="18666234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9798722" y="18666230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241606-E261-1B89-831F-313C813F4459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B363A46-4CA8-1A88-4D19-F80ECE23DD7D}"/>
              </a:ext>
            </a:extLst>
          </p:cNvPr>
          <p:cNvSpPr txBox="1">
            <a:spLocks/>
          </p:cNvSpPr>
          <p:nvPr/>
        </p:nvSpPr>
        <p:spPr>
          <a:xfrm>
            <a:off x="14473926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8C05CF4-14B7-C574-C2C3-A3BA35586357}"/>
              </a:ext>
            </a:extLst>
          </p:cNvPr>
          <p:cNvSpPr txBox="1">
            <a:spLocks/>
          </p:cNvSpPr>
          <p:nvPr/>
        </p:nvSpPr>
        <p:spPr>
          <a:xfrm>
            <a:off x="19582194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D2C5126-2277-BE10-F1CF-84A9F9E0EC79}"/>
              </a:ext>
            </a:extLst>
          </p:cNvPr>
          <p:cNvSpPr txBox="1">
            <a:spLocks/>
          </p:cNvSpPr>
          <p:nvPr/>
        </p:nvSpPr>
        <p:spPr>
          <a:xfrm>
            <a:off x="24690458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52152E-70D4-15A6-3916-2C72F74096DF}"/>
              </a:ext>
            </a:extLst>
          </p:cNvPr>
          <p:cNvSpPr txBox="1">
            <a:spLocks/>
          </p:cNvSpPr>
          <p:nvPr/>
        </p:nvSpPr>
        <p:spPr>
          <a:xfrm>
            <a:off x="29798722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EC7DF6A-23BC-1474-6B95-EB5D4D81CB51}"/>
              </a:ext>
            </a:extLst>
          </p:cNvPr>
          <p:cNvSpPr txBox="1">
            <a:spLocks/>
          </p:cNvSpPr>
          <p:nvPr/>
        </p:nvSpPr>
        <p:spPr>
          <a:xfrm>
            <a:off x="14473926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3699F6C-AB15-8C91-1F83-E1ED541AB3DE}"/>
              </a:ext>
            </a:extLst>
          </p:cNvPr>
          <p:cNvSpPr txBox="1">
            <a:spLocks/>
          </p:cNvSpPr>
          <p:nvPr/>
        </p:nvSpPr>
        <p:spPr>
          <a:xfrm>
            <a:off x="19582194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02923E5A-B06C-3343-7291-989082ACDCC7}"/>
              </a:ext>
            </a:extLst>
          </p:cNvPr>
          <p:cNvSpPr txBox="1">
            <a:spLocks/>
          </p:cNvSpPr>
          <p:nvPr/>
        </p:nvSpPr>
        <p:spPr>
          <a:xfrm>
            <a:off x="24690458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66228858-19AC-BE80-8FB7-B9F14EACECD5}"/>
              </a:ext>
            </a:extLst>
          </p:cNvPr>
          <p:cNvSpPr txBox="1">
            <a:spLocks/>
          </p:cNvSpPr>
          <p:nvPr/>
        </p:nvSpPr>
        <p:spPr>
          <a:xfrm>
            <a:off x="29798722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3509337388"/>
      </p:ext>
    </p:extLst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800" y="0"/>
            <a:ext cx="24460200" cy="27432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/>
        </p:nvSpPr>
        <p:spPr>
          <a:xfrm>
            <a:off x="15697206" y="5429844"/>
            <a:ext cx="16881836" cy="1402708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58315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2740224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697206" y="5429844"/>
            <a:ext cx="16881836" cy="1402708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2" y="25792760"/>
            <a:ext cx="11053764" cy="1517648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6148052"/>
            <a:ext cx="9105900" cy="96456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4D5779-E222-3059-2A8E-5BA279C7FE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800" y="0"/>
            <a:ext cx="24460200" cy="27432000"/>
          </a:xfrm>
          <a:prstGeom prst="rect">
            <a:avLst/>
          </a:prstGeom>
        </p:spPr>
      </p:pic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73613C29-A758-DEDA-191E-9E072DEB2181}"/>
              </a:ext>
            </a:extLst>
          </p:cNvPr>
          <p:cNvSpPr txBox="1">
            <a:spLocks/>
          </p:cNvSpPr>
          <p:nvPr/>
        </p:nvSpPr>
        <p:spPr>
          <a:xfrm>
            <a:off x="15697206" y="5429844"/>
            <a:ext cx="16881836" cy="1402708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551773675"/>
      </p:ext>
    </p:extLst>
  </p:cSld>
  <p:clrMapOvr>
    <a:masterClrMapping/>
  </p:clrMapOvr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8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78" y="19443706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861D02-104E-64B7-69D0-E31C9956C668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1957921285"/>
      </p:ext>
    </p:extLst>
  </p:cSld>
  <p:clrMapOvr>
    <a:masterClrMapping/>
  </p:clrMapOvr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/>
        </p:nvSpPr>
        <p:spPr>
          <a:xfrm>
            <a:off x="0" y="0"/>
            <a:ext cx="12115800" cy="27474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8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78" y="19443706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69506-D95D-93EB-EF97-4ECA97180DB6}"/>
              </a:ext>
            </a:extLst>
          </p:cNvPr>
          <p:cNvSpPr/>
          <p:nvPr/>
        </p:nvSpPr>
        <p:spPr>
          <a:xfrm>
            <a:off x="0" y="0"/>
            <a:ext cx="12115800" cy="27474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6BB6C18-6BB9-12DE-9BAE-B4109B4995BD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1481307675"/>
      </p:ext>
    </p:extLst>
  </p:cSld>
  <p:clrMapOvr>
    <a:masterClrMapping/>
  </p:clrMapOvr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0" y="2345841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727951579"/>
      </p:ext>
    </p:extLst>
  </p:cSld>
  <p:clrMapOvr>
    <a:masterClrMapping/>
  </p:clrMapOvr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/>
        </p:nvSpPr>
        <p:spPr>
          <a:xfrm>
            <a:off x="0" y="2998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0" y="2345841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A028C-5938-415C-0739-EA541EE70194}"/>
              </a:ext>
            </a:extLst>
          </p:cNvPr>
          <p:cNvSpPr/>
          <p:nvPr/>
        </p:nvSpPr>
        <p:spPr>
          <a:xfrm>
            <a:off x="0" y="2998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566164549"/>
      </p:ext>
    </p:extLst>
  </p:cSld>
  <p:clrMapOvr>
    <a:masterClrMapping/>
  </p:clrMapOvr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 err="1"/>
              <a:t>Etiam</a:t>
            </a:r>
            <a:r>
              <a:rPr lang="en-US" sz="8400" dirty="0"/>
              <a:t> </a:t>
            </a:r>
            <a:r>
              <a:rPr lang="en-US" sz="8400" dirty="0" err="1"/>
              <a:t>tempor</a:t>
            </a:r>
            <a:r>
              <a:rPr lang="en-US" sz="8400" dirty="0"/>
              <a:t> </a:t>
            </a:r>
            <a:r>
              <a:rPr lang="en-US" sz="8400" dirty="0" err="1"/>
              <a:t>orci</a:t>
            </a:r>
            <a:r>
              <a:rPr lang="en-US" sz="8400" dirty="0"/>
              <a:t> </a:t>
            </a:r>
            <a:r>
              <a:rPr lang="en-US" sz="8400" dirty="0" err="1"/>
              <a:t>eu</a:t>
            </a:r>
            <a:r>
              <a:rPr lang="en-US" sz="8400" dirty="0"/>
              <a:t> </a:t>
            </a:r>
            <a:r>
              <a:rPr lang="en-US" sz="8400" dirty="0" err="1"/>
              <a:t>lobortis</a:t>
            </a:r>
            <a:r>
              <a:rPr lang="en-US" sz="8400" dirty="0"/>
              <a:t> </a:t>
            </a:r>
            <a:r>
              <a:rPr lang="en-US" sz="8400" dirty="0" err="1"/>
              <a:t>elementum</a:t>
            </a:r>
            <a:r>
              <a:rPr lang="en-US" sz="8400" dirty="0"/>
              <a:t> </a:t>
            </a:r>
            <a:r>
              <a:rPr lang="en-US" sz="8400" dirty="0" err="1"/>
              <a:t>nibh</a:t>
            </a:r>
            <a:r>
              <a:rPr lang="en-US" sz="8400" dirty="0"/>
              <a:t> </a:t>
            </a:r>
            <a:r>
              <a:rPr lang="en-US" sz="8400" dirty="0" err="1"/>
              <a:t>tellus</a:t>
            </a:r>
            <a:r>
              <a:rPr lang="en-US" sz="8400" dirty="0"/>
              <a:t>. Questions? Contact us at </a:t>
            </a:r>
            <a:r>
              <a:rPr lang="en-US" sz="8400" dirty="0" err="1"/>
              <a:t>email@yale.edu</a:t>
            </a:r>
            <a:r>
              <a:rPr lang="en-US" sz="8400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2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26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0" y="2345841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B11B1-A154-BE3E-B273-C55C7569E44D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50C081-D340-81FB-9BBD-A28FE03F1162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 err="1"/>
              <a:t>Etiam</a:t>
            </a:r>
            <a:r>
              <a:rPr lang="en-US" sz="8400" dirty="0"/>
              <a:t> </a:t>
            </a:r>
            <a:r>
              <a:rPr lang="en-US" sz="8400" dirty="0" err="1"/>
              <a:t>tempor</a:t>
            </a:r>
            <a:r>
              <a:rPr lang="en-US" sz="8400" dirty="0"/>
              <a:t> </a:t>
            </a:r>
            <a:r>
              <a:rPr lang="en-US" sz="8400" dirty="0" err="1"/>
              <a:t>orci</a:t>
            </a:r>
            <a:r>
              <a:rPr lang="en-US" sz="8400" dirty="0"/>
              <a:t> </a:t>
            </a:r>
            <a:r>
              <a:rPr lang="en-US" sz="8400" dirty="0" err="1"/>
              <a:t>eu</a:t>
            </a:r>
            <a:r>
              <a:rPr lang="en-US" sz="8400" dirty="0"/>
              <a:t> </a:t>
            </a:r>
            <a:r>
              <a:rPr lang="en-US" sz="8400" dirty="0" err="1"/>
              <a:t>lobortis</a:t>
            </a:r>
            <a:r>
              <a:rPr lang="en-US" sz="8400" dirty="0"/>
              <a:t> </a:t>
            </a:r>
            <a:r>
              <a:rPr lang="en-US" sz="8400" dirty="0" err="1"/>
              <a:t>elementum</a:t>
            </a:r>
            <a:r>
              <a:rPr lang="en-US" sz="8400" dirty="0"/>
              <a:t> </a:t>
            </a:r>
            <a:r>
              <a:rPr lang="en-US" sz="8400" dirty="0" err="1"/>
              <a:t>nibh</a:t>
            </a:r>
            <a:r>
              <a:rPr lang="en-US" sz="8400" dirty="0"/>
              <a:t> </a:t>
            </a:r>
            <a:r>
              <a:rPr lang="en-US" sz="8400" dirty="0" err="1"/>
              <a:t>tellus</a:t>
            </a:r>
            <a:r>
              <a:rPr lang="en-US" sz="8400" dirty="0"/>
              <a:t>. Questions? Contact us at </a:t>
            </a:r>
            <a:r>
              <a:rPr lang="en-US" sz="8400" dirty="0" err="1"/>
              <a:t>email@yale.edu</a:t>
            </a:r>
            <a:r>
              <a:rPr lang="en-US" sz="8400" dirty="0"/>
              <a:t>.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1FFA40A-6CD7-3D2D-FF1E-98460B7CDEA6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10851378"/>
      </p:ext>
    </p:extLst>
  </p:cSld>
  <p:clrMapOvr>
    <a:masterClrMapping/>
  </p:clrMapOvr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>
                <a:solidFill>
                  <a:schemeClr val="bg1"/>
                </a:solidFill>
              </a:rPr>
              <a:t>Click to edit Master text styles. </a:t>
            </a:r>
            <a:r>
              <a:rPr lang="en-US" sz="8400" dirty="0" err="1">
                <a:solidFill>
                  <a:schemeClr val="bg1"/>
                </a:solidFill>
              </a:rPr>
              <a:t>Etiam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tempor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orci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eu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lobortis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elementum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nibh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tellus</a:t>
            </a:r>
            <a:r>
              <a:rPr lang="en-US" sz="8400" dirty="0">
                <a:solidFill>
                  <a:schemeClr val="bg1"/>
                </a:solidFill>
              </a:rPr>
              <a:t>. Questions? Contact us at </a:t>
            </a:r>
            <a:r>
              <a:rPr lang="en-US" sz="8400" dirty="0" err="1">
                <a:solidFill>
                  <a:schemeClr val="bg1"/>
                </a:solidFill>
              </a:rPr>
              <a:t>email@yale.edu</a:t>
            </a:r>
            <a:r>
              <a:rPr lang="en-US" sz="8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2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30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0" y="23458418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16785-6B1A-1EA6-27A3-B0FB55743DC7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0F6DD7E-100B-83E6-7B63-F29FDB861BFE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>
                <a:solidFill>
                  <a:schemeClr val="bg1"/>
                </a:solidFill>
              </a:rPr>
              <a:t>Click to edit Master text styles. </a:t>
            </a:r>
            <a:r>
              <a:rPr lang="en-US" sz="8400" dirty="0" err="1">
                <a:solidFill>
                  <a:schemeClr val="bg1"/>
                </a:solidFill>
              </a:rPr>
              <a:t>Etiam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tempor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orci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eu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lobortis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elementum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nibh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tellus</a:t>
            </a:r>
            <a:r>
              <a:rPr lang="en-US" sz="8400" dirty="0">
                <a:solidFill>
                  <a:schemeClr val="bg1"/>
                </a:solidFill>
              </a:rPr>
              <a:t>. Questions? Contact us at </a:t>
            </a:r>
            <a:r>
              <a:rPr lang="en-US" sz="8400" dirty="0" err="1">
                <a:solidFill>
                  <a:schemeClr val="bg1"/>
                </a:solidFill>
              </a:rPr>
              <a:t>email@yale.edu</a:t>
            </a:r>
            <a:r>
              <a:rPr lang="en-US" sz="8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9E323ADF-571D-8BE2-DACB-C07F43BF76A7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221544930"/>
      </p:ext>
    </p:extLst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58CE6-C012-6D8D-1F36-9A7F96616E8A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58916467"/>
      </p:ext>
    </p:extLst>
  </p:cSld>
  <p:clrMapOvr>
    <a:masterClrMapping/>
  </p:clrMapOvr>
  <p:hf sldNum="0"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B7BAA-70CB-10BC-98B6-BD6FAB9CBCF7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269649751"/>
      </p:ext>
    </p:extLst>
  </p:cSld>
  <p:clrMapOvr>
    <a:masterClrMapping/>
  </p:clrMapOvr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8305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251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70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7CD32-DD08-4128-DA4C-60642D6FD032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5010028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/>
        </p:nvSpPr>
        <p:spPr>
          <a:xfrm>
            <a:off x="12133494" y="0"/>
            <a:ext cx="24966172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70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F0305-9CD7-A6AF-37DA-280CB5F73A0C}"/>
              </a:ext>
            </a:extLst>
          </p:cNvPr>
          <p:cNvSpPr/>
          <p:nvPr userDrawn="1"/>
        </p:nvSpPr>
        <p:spPr>
          <a:xfrm>
            <a:off x="12133494" y="0"/>
            <a:ext cx="24966172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984712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7A382-B96F-7588-07B6-1332BBAFC983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457047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4ED40-7049-D35C-D9B6-2BC293626E65}"/>
              </a:ext>
            </a:extLst>
          </p:cNvPr>
          <p:cNvSpPr/>
          <p:nvPr userDrawn="1"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5723502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F35997-83F8-D672-BCF4-A425B2E6F0B2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2007372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90116C-C8B1-83DF-EFB1-349215FB7EA2}"/>
              </a:ext>
            </a:extLst>
          </p:cNvPr>
          <p:cNvSpPr/>
          <p:nvPr userDrawn="1"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2123127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7022" y="20894690"/>
            <a:ext cx="12785900" cy="232366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7022" y="4127156"/>
            <a:ext cx="22667396" cy="14964032"/>
          </a:xfrm>
        </p:spPr>
        <p:txBody>
          <a:bodyPr>
            <a:noAutofit/>
          </a:bodyPr>
          <a:lstStyle>
            <a:lvl1pPr marL="0" indent="0">
              <a:buNone/>
              <a:defRPr sz="90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07AD80-1D5D-5ADD-E88C-ED2BA7F56D01}"/>
              </a:ext>
            </a:extLst>
          </p:cNvPr>
          <p:cNvSpPr/>
          <p:nvPr userDrawn="1"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213379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9046352"/>
            <a:ext cx="27432000" cy="8203680"/>
          </a:xfrm>
        </p:spPr>
        <p:txBody>
          <a:bodyPr>
            <a:normAutofit/>
          </a:bodyPr>
          <a:lstStyle>
            <a:lvl1pPr marL="0" indent="0" algn="ctr">
              <a:buNone/>
              <a:defRPr sz="4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BAA8DD-78A9-4B4B-A033-24BDBD230B24}"/>
              </a:ext>
            </a:extLst>
          </p:cNvPr>
          <p:cNvSpPr/>
          <p:nvPr userDrawn="1"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7191250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-2" y="0"/>
            <a:ext cx="36576004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4" y="11392350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82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E8F974-66E7-2BDD-2E05-54AFB8918B84}"/>
              </a:ext>
            </a:extLst>
          </p:cNvPr>
          <p:cNvSpPr/>
          <p:nvPr userDrawn="1"/>
        </p:nvSpPr>
        <p:spPr>
          <a:xfrm>
            <a:off x="-2" y="0"/>
            <a:ext cx="36576004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96091133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4" y="11392350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82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608591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7E940-8BF0-DFF8-04D8-3938618037D0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19679168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2FE9F-43F4-1083-924D-5C0FDB13B987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3117510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4940" y="2914652"/>
            <a:ext cx="22036088" cy="21818600"/>
          </a:xfrm>
        </p:spPr>
        <p:txBody>
          <a:bodyPr>
            <a:normAutofit/>
          </a:bodyPr>
          <a:lstStyle>
            <a:lvl1pPr marL="0" indent="0">
              <a:lnSpc>
                <a:spcPts val="14640"/>
              </a:lnSpc>
              <a:buNone/>
              <a:defRPr sz="96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46097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772" y="2858486"/>
            <a:ext cx="21910432" cy="221361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413DC-A088-6A4F-1AA0-C72899FDA377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2567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/>
        </p:nvSpPr>
        <p:spPr>
          <a:xfrm>
            <a:off x="1568796" y="12823978"/>
            <a:ext cx="9017984" cy="126954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43232" y="0"/>
            <a:ext cx="24432768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98862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981091-AC1A-A3B8-B2A8-1D50A4E4F5BA}"/>
              </a:ext>
            </a:extLst>
          </p:cNvPr>
          <p:cNvSpPr txBox="1">
            <a:spLocks/>
          </p:cNvSpPr>
          <p:nvPr userDrawn="1"/>
        </p:nvSpPr>
        <p:spPr>
          <a:xfrm>
            <a:off x="1568796" y="12823978"/>
            <a:ext cx="9017984" cy="126954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261001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7EADA-8053-7CB1-C452-C72DEC0E6FEC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0133180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24FB9-03B1-334D-805F-B113378172FD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649718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BEE62-4990-0773-9977-E0D4434DBFF5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6891146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237342-000E-32FF-AA3B-630E46B9E356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0220193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" y="0"/>
            <a:ext cx="11899316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45706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121392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D2E4E-68EB-6096-B7CF-BFA62B317DDD}"/>
              </a:ext>
            </a:extLst>
          </p:cNvPr>
          <p:cNvSpPr/>
          <p:nvPr userDrawn="1"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7542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/>
        </p:nvSpPr>
        <p:spPr>
          <a:xfrm>
            <a:off x="12143232" y="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/>
        </p:nvSpPr>
        <p:spPr>
          <a:xfrm>
            <a:off x="12143232" y="9802368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/>
        </p:nvSpPr>
        <p:spPr>
          <a:xfrm>
            <a:off x="24478488" y="0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/>
        </p:nvSpPr>
        <p:spPr>
          <a:xfrm>
            <a:off x="24478488" y="1792224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74B72-753E-8378-B0ED-E9557D907081}"/>
              </a:ext>
            </a:extLst>
          </p:cNvPr>
          <p:cNvSpPr/>
          <p:nvPr userDrawn="1"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9A6245-78D3-8457-3349-A2B06BAC6CD7}"/>
              </a:ext>
            </a:extLst>
          </p:cNvPr>
          <p:cNvSpPr txBox="1">
            <a:spLocks/>
          </p:cNvSpPr>
          <p:nvPr userDrawn="1"/>
        </p:nvSpPr>
        <p:spPr>
          <a:xfrm>
            <a:off x="12143232" y="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Insert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617115-A9AA-82C1-5D7E-677460EB4E12}"/>
              </a:ext>
            </a:extLst>
          </p:cNvPr>
          <p:cNvSpPr txBox="1">
            <a:spLocks/>
          </p:cNvSpPr>
          <p:nvPr userDrawn="1"/>
        </p:nvSpPr>
        <p:spPr>
          <a:xfrm>
            <a:off x="12143232" y="9802368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7A95AED-D583-5E65-879C-1DBB559252F5}"/>
              </a:ext>
            </a:extLst>
          </p:cNvPr>
          <p:cNvSpPr txBox="1">
            <a:spLocks/>
          </p:cNvSpPr>
          <p:nvPr userDrawn="1"/>
        </p:nvSpPr>
        <p:spPr>
          <a:xfrm>
            <a:off x="24478488" y="0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B9E59E4-126A-DCBB-655D-148AE5083C41}"/>
              </a:ext>
            </a:extLst>
          </p:cNvPr>
          <p:cNvSpPr txBox="1">
            <a:spLocks/>
          </p:cNvSpPr>
          <p:nvPr userDrawn="1"/>
        </p:nvSpPr>
        <p:spPr>
          <a:xfrm>
            <a:off x="24478488" y="1792224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308160530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6" y="0"/>
            <a:ext cx="7969672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6" y="13944592"/>
            <a:ext cx="7940912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79410" y="30992"/>
            <a:ext cx="7828220" cy="6608944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479410" y="7003302"/>
            <a:ext cx="7828220" cy="1348326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479410" y="20849924"/>
            <a:ext cx="7828220" cy="655108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643124" y="-25400"/>
            <a:ext cx="7969672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43120" y="13919192"/>
            <a:ext cx="7940912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3952" y="12740224"/>
            <a:ext cx="913200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719285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13944592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8" y="2636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99978" y="13947228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62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052350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/>
        </p:nvSpPr>
        <p:spPr>
          <a:xfrm>
            <a:off x="-370114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62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13944592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8" y="2636"/>
            <a:ext cx="12081644" cy="13716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499978" y="13947228"/>
            <a:ext cx="12081644" cy="135128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853D7D-176A-06AA-5E51-54D70D06FE23}"/>
              </a:ext>
            </a:extLst>
          </p:cNvPr>
          <p:cNvSpPr/>
          <p:nvPr userDrawn="1"/>
        </p:nvSpPr>
        <p:spPr>
          <a:xfrm>
            <a:off x="-370114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96470765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1300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078634-2028-8452-3E33-6106B9A7083C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94311045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/>
        </p:nvSpPr>
        <p:spPr>
          <a:xfrm>
            <a:off x="13496546" y="3511306"/>
            <a:ext cx="21868724" cy="18530940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980"/>
              </a:lnSpc>
            </a:pPr>
            <a:endParaRPr lang="en-US" sz="8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608793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34942" y="2851162"/>
            <a:ext cx="21755100" cy="2182494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A1A855CD-06EC-E7F0-B844-566EE1C97A92}"/>
              </a:ext>
            </a:extLst>
          </p:cNvPr>
          <p:cNvSpPr txBox="1">
            <a:spLocks/>
          </p:cNvSpPr>
          <p:nvPr userDrawn="1"/>
        </p:nvSpPr>
        <p:spPr>
          <a:xfrm>
            <a:off x="13496546" y="3511306"/>
            <a:ext cx="21868724" cy="18530940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980"/>
              </a:lnSpc>
            </a:pPr>
            <a:endParaRPr lang="en-US" sz="8400" dirty="0"/>
          </a:p>
        </p:txBody>
      </p:sp>
    </p:spTree>
    <p:extLst>
      <p:ext uri="{BB962C8B-B14F-4D97-AF65-F5344CB8AC3E}">
        <p14:creationId xmlns:p14="http://schemas.microsoft.com/office/powerpoint/2010/main" val="200857984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292138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5C7D1-CD51-1812-0971-CFA0C3379064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73927629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F376D3-C325-96D4-B2AF-6F258EBF3949}"/>
              </a:ext>
            </a:extLst>
          </p:cNvPr>
          <p:cNvSpPr/>
          <p:nvPr userDrawn="1"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87374389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591580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DE09ED-9B52-C93A-B8D5-3F4059D66B42}"/>
              </a:ext>
            </a:extLst>
          </p:cNvPr>
          <p:cNvSpPr/>
          <p:nvPr userDrawn="1"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20350468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/>
        </p:nvSpPr>
        <p:spPr>
          <a:xfrm>
            <a:off x="12131032" y="0"/>
            <a:ext cx="24444968" cy="274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6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63CF0-A81C-2AE7-B0C4-EF09F664D25A}"/>
              </a:ext>
            </a:extLst>
          </p:cNvPr>
          <p:cNvSpPr/>
          <p:nvPr userDrawn="1"/>
        </p:nvSpPr>
        <p:spPr>
          <a:xfrm>
            <a:off x="12131032" y="0"/>
            <a:ext cx="24444968" cy="274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868142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orient="horz" pos="648">
          <p15:clr>
            <a:srgbClr val="FBAE40"/>
          </p15:clr>
        </p15:guide>
        <p15:guide id="3" pos="8640" userDrawn="1">
          <p15:clr>
            <a:srgbClr val="FBAE40"/>
          </p15:clr>
        </p15:guide>
        <p15:guide id="4" orient="horz" pos="2592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6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389162" y="3889534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956C9-5174-BD6F-BEF7-3FEB30B633D0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51701813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2" y="0"/>
            <a:ext cx="36566856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5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2829C-3156-EE68-8095-35E6AA0D7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2" y="0"/>
            <a:ext cx="36566856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40038927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8008" y="4540552"/>
            <a:ext cx="23552472" cy="1766108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4996" y="4540552"/>
            <a:ext cx="8421624" cy="17678856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8326" y="4540262"/>
            <a:ext cx="23550564" cy="1765934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27090" y="4540262"/>
            <a:ext cx="8420100" cy="1765934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pic>
        <p:nvPicPr>
          <p:cNvPr id="2" name="Picture 1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591A0BB4-DFB3-6AED-1D63-0F710D720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8008" y="4540552"/>
            <a:ext cx="23552472" cy="17661080"/>
          </a:xfrm>
          <a:prstGeom prst="rect">
            <a:avLst/>
          </a:prstGeom>
        </p:spPr>
      </p:pic>
      <p:pic>
        <p:nvPicPr>
          <p:cNvPr id="4" name="Picture 3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BB98F118-5DBF-1371-7C17-9447E06D0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4996" y="4540552"/>
            <a:ext cx="8421624" cy="176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7334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40"/>
            <a:ext cx="36566796" cy="2743196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/>
        </p:nvSpPr>
        <p:spPr>
          <a:xfrm>
            <a:off x="11274552" y="18427708"/>
            <a:ext cx="25301448" cy="5010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1600" y="20023016"/>
            <a:ext cx="22826664" cy="215704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3" name="Picture 2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24108FB6-7AE3-B4A7-0328-11EEC85B9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40"/>
            <a:ext cx="36566796" cy="274319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979B90-F6A5-5347-EE52-EB16E5EC05A0}"/>
              </a:ext>
            </a:extLst>
          </p:cNvPr>
          <p:cNvSpPr/>
          <p:nvPr userDrawn="1"/>
        </p:nvSpPr>
        <p:spPr>
          <a:xfrm>
            <a:off x="11274552" y="18427708"/>
            <a:ext cx="25301448" cy="5010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53977298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/>
        </p:nvSpPr>
        <p:spPr>
          <a:xfrm>
            <a:off x="13343562" y="312951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/>
        </p:nvSpPr>
        <p:spPr>
          <a:xfrm>
            <a:off x="13344912" y="3193896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D3B10D-346C-AF7F-4B7D-8FFB23EA242C}"/>
              </a:ext>
            </a:extLst>
          </p:cNvPr>
          <p:cNvSpPr/>
          <p:nvPr userDrawn="1"/>
        </p:nvSpPr>
        <p:spPr>
          <a:xfrm>
            <a:off x="13343562" y="312951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29C801-A1E2-F6A8-A65C-0A9C6ACA664C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DCC3A8-053D-BABD-9669-108E7D5E26B2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FCA811A7-AF52-01AE-3F0E-B0B97A10971C}"/>
              </a:ext>
            </a:extLst>
          </p:cNvPr>
          <p:cNvSpPr txBox="1">
            <a:spLocks/>
          </p:cNvSpPr>
          <p:nvPr userDrawn="1"/>
        </p:nvSpPr>
        <p:spPr>
          <a:xfrm>
            <a:off x="13344912" y="3193896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21A83ED-97CF-C310-F748-54B93AA30530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FC63756-F5D5-12F8-6D0E-63FAE16566E6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C8BD3-7129-01F4-F869-096F614DEC55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342577285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4F1DC-B848-A699-37E4-5C4D613A3616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A01A4-DE35-BF16-7E06-FB9F14536467}"/>
              </a:ext>
            </a:extLst>
          </p:cNvPr>
          <p:cNvSpPr/>
          <p:nvPr userDrawn="1"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D28D62-5975-9AA1-7447-6A1473E01265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09A395-8F94-3CF0-8063-E1E9AB64B994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1D4F976-E582-5A3D-C254-598732898CCF}"/>
              </a:ext>
            </a:extLst>
          </p:cNvPr>
          <p:cNvSpPr txBox="1">
            <a:spLocks/>
          </p:cNvSpPr>
          <p:nvPr userDrawn="1"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A19AEE-F6B9-C3FA-79D6-BD7D26D5C76F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002F551-A373-3E79-CAA2-A46288241B96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815200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B97B5-BBB5-47EF-8095-885883F620B3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A1D178-34EB-379A-9518-396C4DEAFE02}"/>
              </a:ext>
            </a:extLst>
          </p:cNvPr>
          <p:cNvSpPr/>
          <p:nvPr userDrawn="1"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319A42-724B-6722-B2C0-F88A916618A6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EB695E-364A-EBF4-94EB-6D1DD973CA05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AE3BAB-1A34-604A-DDDF-1AE447EF1475}"/>
              </a:ext>
            </a:extLst>
          </p:cNvPr>
          <p:cNvSpPr txBox="1">
            <a:spLocks/>
          </p:cNvSpPr>
          <p:nvPr userDrawn="1"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645612BB-3F3D-6A47-4A3D-C476A589548D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C47CE3E5-F14E-08A0-F29D-DFA7583645D9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79983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466594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C0296-2DC1-D02E-0CE6-B690BC8E2554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</p:spTree>
    <p:extLst>
      <p:ext uri="{BB962C8B-B14F-4D97-AF65-F5344CB8AC3E}">
        <p14:creationId xmlns:p14="http://schemas.microsoft.com/office/powerpoint/2010/main" val="126500158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2817424"/>
            <a:ext cx="23533720" cy="301353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25516" y="6400806"/>
            <a:ext cx="32748168" cy="1821378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5E0BC-8A02-2FB4-D7AE-6B99083A8598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5687677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/>
        </p:nvSpPr>
        <p:spPr>
          <a:xfrm>
            <a:off x="14473926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/>
        </p:nvSpPr>
        <p:spPr>
          <a:xfrm>
            <a:off x="19582194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/>
        </p:nvSpPr>
        <p:spPr>
          <a:xfrm>
            <a:off x="24690458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/>
        </p:nvSpPr>
        <p:spPr>
          <a:xfrm>
            <a:off x="29798722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/>
        </p:nvSpPr>
        <p:spPr>
          <a:xfrm>
            <a:off x="14473926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/>
        </p:nvSpPr>
        <p:spPr>
          <a:xfrm>
            <a:off x="19582194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/>
        </p:nvSpPr>
        <p:spPr>
          <a:xfrm>
            <a:off x="24690458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/>
        </p:nvSpPr>
        <p:spPr>
          <a:xfrm>
            <a:off x="29798722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108104" y="6390944"/>
            <a:ext cx="10582352" cy="346306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296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2968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7264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72644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0090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00904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7634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476348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178140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78140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0781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07816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43607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436076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511524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511524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473926" y="112776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9582194" y="113049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4690458" y="112776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9798722" y="1127760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4473926" y="1866624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9582194" y="1869354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4690458" y="18666238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9798722" y="18666230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A5EEA-8060-842D-014B-C96498350E63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3EFAAD0-D55E-21A2-99BF-5B7B53039052}"/>
              </a:ext>
            </a:extLst>
          </p:cNvPr>
          <p:cNvSpPr txBox="1">
            <a:spLocks/>
          </p:cNvSpPr>
          <p:nvPr userDrawn="1"/>
        </p:nvSpPr>
        <p:spPr>
          <a:xfrm>
            <a:off x="14473926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2143C21-67D2-E051-A4B8-4326495ECE93}"/>
              </a:ext>
            </a:extLst>
          </p:cNvPr>
          <p:cNvSpPr txBox="1">
            <a:spLocks/>
          </p:cNvSpPr>
          <p:nvPr userDrawn="1"/>
        </p:nvSpPr>
        <p:spPr>
          <a:xfrm>
            <a:off x="19582194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DB237F-F5B1-BC84-27D8-A56CCBA5547A}"/>
              </a:ext>
            </a:extLst>
          </p:cNvPr>
          <p:cNvSpPr txBox="1">
            <a:spLocks/>
          </p:cNvSpPr>
          <p:nvPr userDrawn="1"/>
        </p:nvSpPr>
        <p:spPr>
          <a:xfrm>
            <a:off x="24690458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B737AB4-2C23-D387-3A13-B198F0DED383}"/>
              </a:ext>
            </a:extLst>
          </p:cNvPr>
          <p:cNvSpPr txBox="1">
            <a:spLocks/>
          </p:cNvSpPr>
          <p:nvPr userDrawn="1"/>
        </p:nvSpPr>
        <p:spPr>
          <a:xfrm>
            <a:off x="29798722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6079E3B-5DA0-0041-E441-44ECCB6FE5C2}"/>
              </a:ext>
            </a:extLst>
          </p:cNvPr>
          <p:cNvSpPr txBox="1">
            <a:spLocks/>
          </p:cNvSpPr>
          <p:nvPr userDrawn="1"/>
        </p:nvSpPr>
        <p:spPr>
          <a:xfrm>
            <a:off x="14473926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6CBF101E-6F55-948A-E763-460606619FC9}"/>
              </a:ext>
            </a:extLst>
          </p:cNvPr>
          <p:cNvSpPr txBox="1">
            <a:spLocks/>
          </p:cNvSpPr>
          <p:nvPr userDrawn="1"/>
        </p:nvSpPr>
        <p:spPr>
          <a:xfrm>
            <a:off x="19582194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E29AA0-A018-AA28-93E2-7A7A3ADC7E46}"/>
              </a:ext>
            </a:extLst>
          </p:cNvPr>
          <p:cNvSpPr txBox="1">
            <a:spLocks/>
          </p:cNvSpPr>
          <p:nvPr userDrawn="1"/>
        </p:nvSpPr>
        <p:spPr>
          <a:xfrm>
            <a:off x="24690458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B19F1DD2-32E7-5733-3FC7-BEC7839D4941}"/>
              </a:ext>
            </a:extLst>
          </p:cNvPr>
          <p:cNvSpPr txBox="1">
            <a:spLocks/>
          </p:cNvSpPr>
          <p:nvPr userDrawn="1"/>
        </p:nvSpPr>
        <p:spPr>
          <a:xfrm>
            <a:off x="29798722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354542632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800" y="0"/>
            <a:ext cx="24460200" cy="27432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/>
        </p:nvSpPr>
        <p:spPr>
          <a:xfrm>
            <a:off x="15697206" y="5429844"/>
            <a:ext cx="16881836" cy="1402708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58315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2740224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697206" y="5429844"/>
            <a:ext cx="16881836" cy="1402708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2" y="25792760"/>
            <a:ext cx="11053764" cy="1517648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6148052"/>
            <a:ext cx="9105900" cy="96456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A926F7-C39C-CA3C-A5C1-E970F1EBBD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800" y="0"/>
            <a:ext cx="24460200" cy="27432000"/>
          </a:xfrm>
          <a:prstGeom prst="rect">
            <a:avLst/>
          </a:prstGeom>
        </p:spPr>
      </p:pic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D1EA3AA2-55BE-5E85-62BF-BECBE0B6A491}"/>
              </a:ext>
            </a:extLst>
          </p:cNvPr>
          <p:cNvSpPr txBox="1">
            <a:spLocks/>
          </p:cNvSpPr>
          <p:nvPr userDrawn="1"/>
        </p:nvSpPr>
        <p:spPr>
          <a:xfrm>
            <a:off x="15697206" y="5429844"/>
            <a:ext cx="16881836" cy="1402708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8747794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42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82" y="19443710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B270837-5D9B-4E46-DF0D-FFC3274B4B82}"/>
              </a:ext>
            </a:extLst>
          </p:cNvPr>
          <p:cNvSpPr txBox="1">
            <a:spLocks/>
          </p:cNvSpPr>
          <p:nvPr userDrawn="1"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16472850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/>
        </p:nvSpPr>
        <p:spPr>
          <a:xfrm>
            <a:off x="0" y="0"/>
            <a:ext cx="12115800" cy="27474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42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82" y="19443710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85F83B-9EBA-1771-BD29-84528B281008}"/>
              </a:ext>
            </a:extLst>
          </p:cNvPr>
          <p:cNvSpPr/>
          <p:nvPr userDrawn="1"/>
        </p:nvSpPr>
        <p:spPr>
          <a:xfrm>
            <a:off x="0" y="0"/>
            <a:ext cx="12115800" cy="27474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6AE225F3-75A7-9E4B-FC53-297C671D6C19}"/>
              </a:ext>
            </a:extLst>
          </p:cNvPr>
          <p:cNvSpPr txBox="1">
            <a:spLocks/>
          </p:cNvSpPr>
          <p:nvPr userDrawn="1"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8378950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5419249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/>
        </p:nvSpPr>
        <p:spPr>
          <a:xfrm>
            <a:off x="0" y="2998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6BF87-5419-9E92-6E6E-A7571EC2D106}"/>
              </a:ext>
            </a:extLst>
          </p:cNvPr>
          <p:cNvSpPr/>
          <p:nvPr userDrawn="1"/>
        </p:nvSpPr>
        <p:spPr>
          <a:xfrm>
            <a:off x="0" y="2998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40669563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 err="1"/>
              <a:t>Etiam</a:t>
            </a:r>
            <a:r>
              <a:rPr lang="en-US" sz="8400" dirty="0"/>
              <a:t> </a:t>
            </a:r>
            <a:r>
              <a:rPr lang="en-US" sz="8400" dirty="0" err="1"/>
              <a:t>tempor</a:t>
            </a:r>
            <a:r>
              <a:rPr lang="en-US" sz="8400" dirty="0"/>
              <a:t> </a:t>
            </a:r>
            <a:r>
              <a:rPr lang="en-US" sz="8400" dirty="0" err="1"/>
              <a:t>orci</a:t>
            </a:r>
            <a:r>
              <a:rPr lang="en-US" sz="8400" dirty="0"/>
              <a:t> </a:t>
            </a:r>
            <a:r>
              <a:rPr lang="en-US" sz="8400" dirty="0" err="1"/>
              <a:t>eu</a:t>
            </a:r>
            <a:r>
              <a:rPr lang="en-US" sz="8400" dirty="0"/>
              <a:t> </a:t>
            </a:r>
            <a:r>
              <a:rPr lang="en-US" sz="8400" dirty="0" err="1"/>
              <a:t>lobortis</a:t>
            </a:r>
            <a:r>
              <a:rPr lang="en-US" sz="8400" dirty="0"/>
              <a:t> </a:t>
            </a:r>
            <a:r>
              <a:rPr lang="en-US" sz="8400" dirty="0" err="1"/>
              <a:t>elementum</a:t>
            </a:r>
            <a:r>
              <a:rPr lang="en-US" sz="8400" dirty="0"/>
              <a:t> </a:t>
            </a:r>
            <a:r>
              <a:rPr lang="en-US" sz="8400" dirty="0" err="1"/>
              <a:t>nibh</a:t>
            </a:r>
            <a:r>
              <a:rPr lang="en-US" sz="8400" dirty="0"/>
              <a:t> </a:t>
            </a:r>
            <a:r>
              <a:rPr lang="en-US" sz="8400" dirty="0" err="1"/>
              <a:t>tellus</a:t>
            </a:r>
            <a:r>
              <a:rPr lang="en-US" sz="8400" dirty="0"/>
              <a:t>. Questions? Contact us at </a:t>
            </a:r>
            <a:r>
              <a:rPr lang="en-US" sz="8400" dirty="0" err="1"/>
              <a:t>email@yale.edu</a:t>
            </a:r>
            <a:r>
              <a:rPr lang="en-US" sz="8400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30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788F0-D1A8-C264-2AC0-096A7FD5723D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D5F912-6A58-F9B4-C399-BFF14F35F3FD}"/>
              </a:ext>
            </a:extLst>
          </p:cNvPr>
          <p:cNvSpPr txBox="1">
            <a:spLocks/>
          </p:cNvSpPr>
          <p:nvPr userDrawn="1"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 err="1"/>
              <a:t>Etiam</a:t>
            </a:r>
            <a:r>
              <a:rPr lang="en-US" sz="8400" dirty="0"/>
              <a:t> </a:t>
            </a:r>
            <a:r>
              <a:rPr lang="en-US" sz="8400" dirty="0" err="1"/>
              <a:t>tempor</a:t>
            </a:r>
            <a:r>
              <a:rPr lang="en-US" sz="8400" dirty="0"/>
              <a:t> </a:t>
            </a:r>
            <a:r>
              <a:rPr lang="en-US" sz="8400" dirty="0" err="1"/>
              <a:t>orci</a:t>
            </a:r>
            <a:r>
              <a:rPr lang="en-US" sz="8400" dirty="0"/>
              <a:t> </a:t>
            </a:r>
            <a:r>
              <a:rPr lang="en-US" sz="8400" dirty="0" err="1"/>
              <a:t>eu</a:t>
            </a:r>
            <a:r>
              <a:rPr lang="en-US" sz="8400" dirty="0"/>
              <a:t> </a:t>
            </a:r>
            <a:r>
              <a:rPr lang="en-US" sz="8400" dirty="0" err="1"/>
              <a:t>lobortis</a:t>
            </a:r>
            <a:r>
              <a:rPr lang="en-US" sz="8400" dirty="0"/>
              <a:t> </a:t>
            </a:r>
            <a:r>
              <a:rPr lang="en-US" sz="8400" dirty="0" err="1"/>
              <a:t>elementum</a:t>
            </a:r>
            <a:r>
              <a:rPr lang="en-US" sz="8400" dirty="0"/>
              <a:t> </a:t>
            </a:r>
            <a:r>
              <a:rPr lang="en-US" sz="8400" dirty="0" err="1"/>
              <a:t>nibh</a:t>
            </a:r>
            <a:r>
              <a:rPr lang="en-US" sz="8400" dirty="0"/>
              <a:t> </a:t>
            </a:r>
            <a:r>
              <a:rPr lang="en-US" sz="8400" dirty="0" err="1"/>
              <a:t>tellus</a:t>
            </a:r>
            <a:r>
              <a:rPr lang="en-US" sz="8400" dirty="0"/>
              <a:t>. Questions? Contact us at </a:t>
            </a:r>
            <a:r>
              <a:rPr lang="en-US" sz="8400" dirty="0" err="1"/>
              <a:t>email@yale.edu</a:t>
            </a:r>
            <a:r>
              <a:rPr lang="en-US" sz="8400" dirty="0"/>
              <a:t>.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55F167F-FF80-7F13-B91A-4FA7A590F08E}"/>
              </a:ext>
            </a:extLst>
          </p:cNvPr>
          <p:cNvSpPr txBox="1">
            <a:spLocks/>
          </p:cNvSpPr>
          <p:nvPr userDrawn="1"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2895938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>
                <a:solidFill>
                  <a:schemeClr val="bg1"/>
                </a:solidFill>
              </a:rPr>
              <a:t>Click to edit Master text styles. </a:t>
            </a:r>
            <a:r>
              <a:rPr lang="en-US" sz="8400" dirty="0" err="1">
                <a:solidFill>
                  <a:schemeClr val="bg1"/>
                </a:solidFill>
              </a:rPr>
              <a:t>Etiam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tempor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orci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eu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lobortis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elementum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nibh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tellus</a:t>
            </a:r>
            <a:r>
              <a:rPr lang="en-US" sz="8400" dirty="0">
                <a:solidFill>
                  <a:schemeClr val="bg1"/>
                </a:solidFill>
              </a:rPr>
              <a:t>. Questions? Contact us at </a:t>
            </a:r>
            <a:r>
              <a:rPr lang="en-US" sz="8400" dirty="0" err="1">
                <a:solidFill>
                  <a:schemeClr val="bg1"/>
                </a:solidFill>
              </a:rPr>
              <a:t>email@yale.edu</a:t>
            </a:r>
            <a:r>
              <a:rPr lang="en-US" sz="8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30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0625D-F9BD-F80A-B470-FA93B6A3DF3D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A40E2F-4D07-CD5B-087C-9151F730B513}"/>
              </a:ext>
            </a:extLst>
          </p:cNvPr>
          <p:cNvSpPr txBox="1">
            <a:spLocks/>
          </p:cNvSpPr>
          <p:nvPr userDrawn="1"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>
                <a:solidFill>
                  <a:schemeClr val="bg1"/>
                </a:solidFill>
              </a:rPr>
              <a:t>Click to edit Master text styles. </a:t>
            </a:r>
            <a:r>
              <a:rPr lang="en-US" sz="8400" dirty="0" err="1">
                <a:solidFill>
                  <a:schemeClr val="bg1"/>
                </a:solidFill>
              </a:rPr>
              <a:t>Etiam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tempor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orci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eu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lobortis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elementum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nibh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tellus</a:t>
            </a:r>
            <a:r>
              <a:rPr lang="en-US" sz="8400" dirty="0">
                <a:solidFill>
                  <a:schemeClr val="bg1"/>
                </a:solidFill>
              </a:rPr>
              <a:t>. Questions? Contact us at </a:t>
            </a:r>
            <a:r>
              <a:rPr lang="en-US" sz="8400" dirty="0" err="1">
                <a:solidFill>
                  <a:schemeClr val="bg1"/>
                </a:solidFill>
              </a:rPr>
              <a:t>email@yale.edu</a:t>
            </a:r>
            <a:r>
              <a:rPr lang="en-US" sz="8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A83D8363-5FC7-5683-0753-28C17A9A000A}"/>
              </a:ext>
            </a:extLst>
          </p:cNvPr>
          <p:cNvSpPr txBox="1">
            <a:spLocks/>
          </p:cNvSpPr>
          <p:nvPr userDrawn="1"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9933700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64CAA2-76FF-AA29-36FD-B09ED68545DE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9767317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B59E86-190E-D6DC-6E2C-2CEAB6C8B991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27415291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460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70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1706469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 userDrawn="1"/>
        </p:nvSpPr>
        <p:spPr>
          <a:xfrm>
            <a:off x="12133494" y="0"/>
            <a:ext cx="24966172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96970" y="13795512"/>
            <a:ext cx="17092612" cy="2825752"/>
          </a:xfrm>
        </p:spPr>
        <p:txBody>
          <a:bodyPr>
            <a:normAutofit/>
          </a:bodyPr>
          <a:lstStyle>
            <a:lvl1pPr marL="0" indent="0">
              <a:buNone/>
              <a:defRPr sz="72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0890094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7866548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6970" y="5245102"/>
            <a:ext cx="19269076" cy="6000748"/>
          </a:xfrm>
        </p:spPr>
        <p:txBody>
          <a:bodyPr>
            <a:no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6966" y="13884166"/>
            <a:ext cx="17197388" cy="3517900"/>
          </a:xfrm>
        </p:spPr>
        <p:txBody>
          <a:bodyPr>
            <a:normAutofit/>
          </a:bodyPr>
          <a:lstStyle>
            <a:lvl1pPr marL="0" indent="0"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796966" y="12649200"/>
            <a:ext cx="16663988" cy="106680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1732971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 userDrawn="1"/>
        </p:nvSpPr>
        <p:spPr>
          <a:xfrm>
            <a:off x="0" y="0"/>
            <a:ext cx="12131040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03547468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 userDrawn="1"/>
        </p:nvSpPr>
        <p:spPr>
          <a:xfrm>
            <a:off x="12134848" y="0"/>
            <a:ext cx="24441152" cy="276352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0"/>
            <a:ext cx="1213485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01724" y="3194052"/>
            <a:ext cx="20159664" cy="8382000"/>
          </a:xfrm>
        </p:spPr>
        <p:txBody>
          <a:bodyPr>
            <a:normAutofit/>
          </a:bodyPr>
          <a:lstStyle>
            <a:lvl1pPr marL="0" indent="0">
              <a:buNone/>
              <a:defRPr sz="1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01726" y="15082150"/>
            <a:ext cx="16663988" cy="969820"/>
          </a:xfrm>
        </p:spPr>
        <p:txBody>
          <a:bodyPr>
            <a:normAutofit/>
          </a:bodyPr>
          <a:lstStyle>
            <a:lvl1pPr marL="0" indent="0">
              <a:buNone/>
              <a:defRPr sz="3600" b="0" i="0" spc="9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01726" y="16359970"/>
            <a:ext cx="17197388" cy="319809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4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093536" y="2263776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34858643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7022" y="20894690"/>
            <a:ext cx="12785900" cy="232366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7022" y="4127156"/>
            <a:ext cx="22667396" cy="14964032"/>
          </a:xfrm>
        </p:spPr>
        <p:txBody>
          <a:bodyPr>
            <a:noAutofit/>
          </a:bodyPr>
          <a:lstStyle>
            <a:lvl1pPr marL="0" indent="0">
              <a:buNone/>
              <a:defRPr sz="90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5366255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4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9046352"/>
            <a:ext cx="27432000" cy="8203680"/>
          </a:xfrm>
        </p:spPr>
        <p:txBody>
          <a:bodyPr>
            <a:normAutofit/>
          </a:bodyPr>
          <a:lstStyle>
            <a:lvl1pPr marL="0" indent="0" algn="ctr">
              <a:buNone/>
              <a:defRPr sz="4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288503268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-2" y="0"/>
            <a:ext cx="36576004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4" y="11392350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82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3127093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96934" y="11392350"/>
            <a:ext cx="13115924" cy="832485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043882"/>
            <a:ext cx="10513464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3524460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4445334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13188" y="6422250"/>
            <a:ext cx="18616936" cy="379381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38774" y="12740224"/>
            <a:ext cx="1666398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340697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4940" y="2914652"/>
            <a:ext cx="22036088" cy="21818600"/>
          </a:xfrm>
        </p:spPr>
        <p:txBody>
          <a:bodyPr>
            <a:normAutofit/>
          </a:bodyPr>
          <a:lstStyle>
            <a:lvl1pPr marL="0" indent="0">
              <a:lnSpc>
                <a:spcPts val="14640"/>
              </a:lnSpc>
              <a:buNone/>
              <a:defRPr sz="96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974581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 userDrawn="1"/>
        </p:nvSpPr>
        <p:spPr>
          <a:xfrm>
            <a:off x="-216562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36772" y="2858486"/>
            <a:ext cx="21910432" cy="221361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9269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 userDrawn="1"/>
        </p:nvSpPr>
        <p:spPr>
          <a:xfrm>
            <a:off x="1568796" y="12823978"/>
            <a:ext cx="9017984" cy="126954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43232" y="0"/>
            <a:ext cx="24432768" cy="27432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6"/>
            <a:ext cx="9103712" cy="598862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7570829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340043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3953808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018556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368399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490834" y="0"/>
            <a:ext cx="12085172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" y="0"/>
            <a:ext cx="11899316" cy="27432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5492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8180400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 userDrawn="1"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015262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 userDrawn="1"/>
        </p:nvSpPr>
        <p:spPr>
          <a:xfrm>
            <a:off x="-370110" y="0"/>
            <a:ext cx="36946116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 userDrawn="1"/>
        </p:nvSpPr>
        <p:spPr>
          <a:xfrm>
            <a:off x="12143232" y="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 userDrawn="1"/>
        </p:nvSpPr>
        <p:spPr>
          <a:xfrm>
            <a:off x="12143232" y="9802368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 userDrawn="1"/>
        </p:nvSpPr>
        <p:spPr>
          <a:xfrm>
            <a:off x="24478488" y="0"/>
            <a:ext cx="12097512" cy="17629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 userDrawn="1"/>
        </p:nvSpPr>
        <p:spPr>
          <a:xfrm>
            <a:off x="24478488" y="17922240"/>
            <a:ext cx="12097512" cy="9509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/>
              <a:t>Insert Picture</a:t>
            </a:r>
            <a:endParaRPr lang="en-US" sz="4200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5172" cy="9509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9802370"/>
            <a:ext cx="12085172" cy="176296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0834" y="-4"/>
            <a:ext cx="12085172" cy="1762963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78494" y="17922242"/>
            <a:ext cx="12085172" cy="9509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6783139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6" y="0"/>
            <a:ext cx="7969672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6" y="13944592"/>
            <a:ext cx="7940912" cy="13512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79410" y="30992"/>
            <a:ext cx="7828220" cy="66089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479410" y="7003302"/>
            <a:ext cx="7828220" cy="1348326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479410" y="20849924"/>
            <a:ext cx="7828220" cy="65510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643124" y="-25400"/>
            <a:ext cx="7969672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43120" y="13919192"/>
            <a:ext cx="7940912" cy="13512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3952" y="12740224"/>
            <a:ext cx="913200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6387325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1644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13944592"/>
            <a:ext cx="12081644" cy="13512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8" y="2636"/>
            <a:ext cx="12081644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499978" y="13947228"/>
            <a:ext cx="12081644" cy="13512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62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628930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 userDrawn="1"/>
        </p:nvSpPr>
        <p:spPr>
          <a:xfrm>
            <a:off x="-370114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6864" y="23221962"/>
            <a:ext cx="9405936" cy="26289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55578" y="0"/>
            <a:ext cx="12081644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55578" y="13944592"/>
            <a:ext cx="12081644" cy="135128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99978" y="2636"/>
            <a:ext cx="12081644" cy="1371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499978" y="13947228"/>
            <a:ext cx="12081644" cy="1351280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4586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066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0" y="6390950"/>
            <a:ext cx="7913180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6" y="12740224"/>
            <a:ext cx="7902296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89481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 userDrawn="1"/>
        </p:nvSpPr>
        <p:spPr>
          <a:xfrm>
            <a:off x="13496546" y="3511306"/>
            <a:ext cx="21868724" cy="18530940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980"/>
              </a:lnSpc>
            </a:pPr>
            <a:endParaRPr lang="en-US" sz="8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608793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834942" y="2851162"/>
            <a:ext cx="21755100" cy="2182494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83784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292138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975641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 userDrawn="1"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10538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 userDrawn="1"/>
        </p:nvSpPr>
        <p:spPr>
          <a:xfrm>
            <a:off x="-195938" y="0"/>
            <a:ext cx="37316228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5915808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4404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 userDrawn="1"/>
        </p:nvSpPr>
        <p:spPr>
          <a:xfrm>
            <a:off x="12131032" y="0"/>
            <a:ext cx="24444968" cy="274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77494" y="3938966"/>
            <a:ext cx="21755100" cy="2031511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6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8548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40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3406026"/>
            <a:ext cx="9103712" cy="5044300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389162" y="3889534"/>
            <a:ext cx="21755100" cy="203151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" y="9978506"/>
            <a:ext cx="12131036" cy="1745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7972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2" y="0"/>
            <a:ext cx="36566856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54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731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8008" y="4540552"/>
            <a:ext cx="23552472" cy="1766108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24996" y="4540552"/>
            <a:ext cx="8421624" cy="17678856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8326" y="4540262"/>
            <a:ext cx="23550564" cy="1765934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27090" y="4540262"/>
            <a:ext cx="8420100" cy="1765934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450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40"/>
            <a:ext cx="36566796" cy="2743196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657600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 userDrawn="1"/>
        </p:nvSpPr>
        <p:spPr>
          <a:xfrm>
            <a:off x="11274552" y="18427708"/>
            <a:ext cx="25301448" cy="50109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01600" y="20023016"/>
            <a:ext cx="22826664" cy="215704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02446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 userDrawn="1"/>
        </p:nvSpPr>
        <p:spPr>
          <a:xfrm>
            <a:off x="13343562" y="312951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 userDrawn="1"/>
        </p:nvSpPr>
        <p:spPr>
          <a:xfrm>
            <a:off x="13344912" y="3193896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0700682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 userDrawn="1"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 userDrawn="1"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9558515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 userDrawn="1"/>
        </p:nvSpPr>
        <p:spPr>
          <a:xfrm>
            <a:off x="13343562" y="3270186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 userDrawn="1"/>
        </p:nvSpPr>
        <p:spPr>
          <a:xfrm>
            <a:off x="13343562" y="10408970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 userDrawn="1"/>
        </p:nvSpPr>
        <p:spPr>
          <a:xfrm>
            <a:off x="13343562" y="17685882"/>
            <a:ext cx="1825388" cy="24338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72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 userDrawn="1"/>
        </p:nvSpPr>
        <p:spPr>
          <a:xfrm>
            <a:off x="13344912" y="3334572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 userDrawn="1"/>
        </p:nvSpPr>
        <p:spPr>
          <a:xfrm>
            <a:off x="13344912" y="1044960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 userDrawn="1"/>
        </p:nvSpPr>
        <p:spPr>
          <a:xfrm>
            <a:off x="13344912" y="17724164"/>
            <a:ext cx="1824040" cy="243384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770257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27994" y="3606946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13038" y="11020238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13038" y="18244322"/>
            <a:ext cx="18391676" cy="1780684"/>
          </a:xfrm>
        </p:spPr>
        <p:txBody>
          <a:bodyPr>
            <a:norm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13038" y="5668378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7866" y="13064226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13030" y="20302094"/>
            <a:ext cx="18391676" cy="4527868"/>
          </a:xfrm>
        </p:spPr>
        <p:txBody>
          <a:bodyPr>
            <a:normAutofit/>
          </a:bodyPr>
          <a:lstStyle>
            <a:lvl1pPr marL="0" indent="0">
              <a:buNone/>
              <a:defRPr sz="5400" b="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17882203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40"/>
            <a:ext cx="9103712" cy="466594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8" y="12740224"/>
            <a:ext cx="909282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0410" y="24014316"/>
            <a:ext cx="9105900" cy="18034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3732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2817424"/>
            <a:ext cx="23533720" cy="3013536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25516" y="6400806"/>
            <a:ext cx="32748168" cy="1821378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6251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 userDrawn="1"/>
        </p:nvSpPr>
        <p:spPr>
          <a:xfrm>
            <a:off x="14473926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 userDrawn="1"/>
        </p:nvSpPr>
        <p:spPr>
          <a:xfrm>
            <a:off x="19582194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 userDrawn="1"/>
        </p:nvSpPr>
        <p:spPr>
          <a:xfrm>
            <a:off x="24690458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 userDrawn="1"/>
        </p:nvSpPr>
        <p:spPr>
          <a:xfrm>
            <a:off x="29798722" y="112776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 userDrawn="1"/>
        </p:nvSpPr>
        <p:spPr>
          <a:xfrm>
            <a:off x="14473926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 userDrawn="1"/>
        </p:nvSpPr>
        <p:spPr>
          <a:xfrm>
            <a:off x="19582194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 userDrawn="1"/>
        </p:nvSpPr>
        <p:spPr>
          <a:xfrm>
            <a:off x="24690458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 userDrawn="1"/>
        </p:nvSpPr>
        <p:spPr>
          <a:xfrm>
            <a:off x="29798722" y="18620306"/>
            <a:ext cx="2913428" cy="4865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274320" tIns="137160" rIns="274320" bIns="13716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108104" y="6390944"/>
            <a:ext cx="10582352" cy="3463064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296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2968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7264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272644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00904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00904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76348" y="16579782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476348" y="17398854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178140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78140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0781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07816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436076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436076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511524" y="23982066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 err="1"/>
              <a:t>Firstname</a:t>
            </a:r>
            <a:r>
              <a:rPr lang="en-US" sz="3600" dirty="0"/>
              <a:t> </a:t>
            </a:r>
            <a:r>
              <a:rPr lang="en-US" sz="3600" dirty="0" err="1"/>
              <a:t>Lastname</a:t>
            </a:r>
            <a:endParaRPr lang="en-US" sz="36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511524" y="24801138"/>
            <a:ext cx="5256312" cy="102694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tx1"/>
                </a:solidFill>
                <a:latin typeface="+mn-lt"/>
              </a:defRPr>
            </a:lvl1pPr>
            <a:lvl2pPr marL="1371600" indent="0">
              <a:buNone/>
              <a:defRPr>
                <a:solidFill>
                  <a:schemeClr val="bg1"/>
                </a:solidFill>
              </a:defRPr>
            </a:lvl2pPr>
            <a:lvl3pPr marL="2743200" indent="0">
              <a:buNone/>
              <a:defRPr>
                <a:solidFill>
                  <a:schemeClr val="bg1"/>
                </a:solidFill>
              </a:defRPr>
            </a:lvl3pPr>
            <a:lvl4pPr marL="4114800" indent="0">
              <a:buNone/>
              <a:defRPr>
                <a:solidFill>
                  <a:schemeClr val="bg1"/>
                </a:solidFill>
              </a:defRPr>
            </a:lvl4pPr>
            <a:lvl5pPr marL="5486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36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473926" y="112776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9582194" y="113049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4690458" y="11277606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9798722" y="1127760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4473926" y="1866624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9582194" y="18693542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4690458" y="18666238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9798722" y="18666230"/>
            <a:ext cx="2913428" cy="48653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3607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5800" y="0"/>
            <a:ext cx="24460200" cy="27432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 userDrawn="1"/>
        </p:nvSpPr>
        <p:spPr>
          <a:xfrm>
            <a:off x="15697206" y="5429844"/>
            <a:ext cx="16881836" cy="1402708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58315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2740224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697206" y="5429844"/>
            <a:ext cx="16881836" cy="140270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2" y="25792760"/>
            <a:ext cx="11053764" cy="1517648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6148052"/>
            <a:ext cx="9105900" cy="96456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</p:spTree>
    <p:extLst>
      <p:ext uri="{BB962C8B-B14F-4D97-AF65-F5344CB8AC3E}">
        <p14:creationId xmlns:p14="http://schemas.microsoft.com/office/powerpoint/2010/main" val="9284641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42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82" y="19443710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6904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 userDrawn="1"/>
        </p:nvSpPr>
        <p:spPr>
          <a:xfrm>
            <a:off x="0" y="0"/>
            <a:ext cx="12115800" cy="27474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1819438" y="19440674"/>
            <a:ext cx="3252788" cy="4337052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42"/>
            <a:ext cx="9105900" cy="550677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19282" y="19443710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3283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tx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00249959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 userDrawn="1"/>
        </p:nvSpPr>
        <p:spPr>
          <a:xfrm>
            <a:off x="0" y="2998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6390950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31040" y="42040"/>
            <a:ext cx="24444960" cy="2743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1142" y="12778132"/>
            <a:ext cx="9105900" cy="785237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61676569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 userDrawn="1"/>
        </p:nvSpPr>
        <p:spPr>
          <a:xfrm>
            <a:off x="0" y="0"/>
            <a:ext cx="1213104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 userDrawn="1"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 err="1"/>
              <a:t>Etiam</a:t>
            </a:r>
            <a:r>
              <a:rPr lang="en-US" sz="8400" dirty="0"/>
              <a:t> </a:t>
            </a:r>
            <a:r>
              <a:rPr lang="en-US" sz="8400" dirty="0" err="1"/>
              <a:t>tempor</a:t>
            </a:r>
            <a:r>
              <a:rPr lang="en-US" sz="8400" dirty="0"/>
              <a:t> </a:t>
            </a:r>
            <a:r>
              <a:rPr lang="en-US" sz="8400" dirty="0" err="1"/>
              <a:t>orci</a:t>
            </a:r>
            <a:r>
              <a:rPr lang="en-US" sz="8400" dirty="0"/>
              <a:t> </a:t>
            </a:r>
            <a:r>
              <a:rPr lang="en-US" sz="8400" dirty="0" err="1"/>
              <a:t>eu</a:t>
            </a:r>
            <a:r>
              <a:rPr lang="en-US" sz="8400" dirty="0"/>
              <a:t> </a:t>
            </a:r>
            <a:r>
              <a:rPr lang="en-US" sz="8400" dirty="0" err="1"/>
              <a:t>lobortis</a:t>
            </a:r>
            <a:r>
              <a:rPr lang="en-US" sz="8400" dirty="0"/>
              <a:t> </a:t>
            </a:r>
            <a:r>
              <a:rPr lang="en-US" sz="8400" dirty="0" err="1"/>
              <a:t>elementum</a:t>
            </a:r>
            <a:r>
              <a:rPr lang="en-US" sz="8400" dirty="0"/>
              <a:t> </a:t>
            </a:r>
            <a:r>
              <a:rPr lang="en-US" sz="8400" dirty="0" err="1"/>
              <a:t>nibh</a:t>
            </a:r>
            <a:r>
              <a:rPr lang="en-US" sz="8400" dirty="0"/>
              <a:t> </a:t>
            </a:r>
            <a:r>
              <a:rPr lang="en-US" sz="8400" dirty="0" err="1"/>
              <a:t>tellus</a:t>
            </a:r>
            <a:r>
              <a:rPr lang="en-US" sz="8400" dirty="0"/>
              <a:t>. Questions? Contact us at </a:t>
            </a:r>
            <a:r>
              <a:rPr lang="en-US" sz="8400" dirty="0" err="1"/>
              <a:t>email@yale.edu</a:t>
            </a:r>
            <a:r>
              <a:rPr lang="en-US" sz="8400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 userDrawn="1"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30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7439833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 userDrawn="1"/>
        </p:nvSpPr>
        <p:spPr>
          <a:xfrm>
            <a:off x="13782200" y="3504036"/>
            <a:ext cx="19979000" cy="94613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743200" rtl="0" eaLnBrk="1" fontAlgn="auto" latinLnBrk="0" hangingPunct="1">
              <a:lnSpc>
                <a:spcPts val="10980"/>
              </a:lnSpc>
              <a:spcBef>
                <a:spcPts val="48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8400" dirty="0">
                <a:solidFill>
                  <a:schemeClr val="bg1"/>
                </a:solidFill>
              </a:rPr>
              <a:t>Click to edit Master text styles. </a:t>
            </a:r>
            <a:r>
              <a:rPr lang="en-US" sz="8400" dirty="0" err="1">
                <a:solidFill>
                  <a:schemeClr val="bg1"/>
                </a:solidFill>
              </a:rPr>
              <a:t>Etiam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tempor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orci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eu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lobortis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elementum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nibh</a:t>
            </a:r>
            <a:r>
              <a:rPr lang="en-US" sz="8400" dirty="0">
                <a:solidFill>
                  <a:schemeClr val="bg1"/>
                </a:solidFill>
              </a:rPr>
              <a:t> </a:t>
            </a:r>
            <a:r>
              <a:rPr lang="en-US" sz="8400" dirty="0" err="1">
                <a:solidFill>
                  <a:schemeClr val="bg1"/>
                </a:solidFill>
              </a:rPr>
              <a:t>tellus</a:t>
            </a:r>
            <a:r>
              <a:rPr lang="en-US" sz="8400" dirty="0">
                <a:solidFill>
                  <a:schemeClr val="bg1"/>
                </a:solidFill>
              </a:rPr>
              <a:t>. Questions? Contact us at </a:t>
            </a:r>
            <a:r>
              <a:rPr lang="en-US" sz="8400" dirty="0" err="1">
                <a:solidFill>
                  <a:schemeClr val="bg1"/>
                </a:solidFill>
              </a:rPr>
              <a:t>email@yale.edu</a:t>
            </a:r>
            <a:r>
              <a:rPr lang="en-US" sz="8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 userDrawn="1"/>
        </p:nvSpPr>
        <p:spPr>
          <a:xfrm>
            <a:off x="14102426" y="14800434"/>
            <a:ext cx="3252788" cy="43370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/>
              <a:t>QR Code</a:t>
            </a:r>
            <a:endParaRPr lang="en-US" sz="54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3072" y="9747346"/>
            <a:ext cx="9103712" cy="5506772"/>
          </a:xfrm>
        </p:spPr>
        <p:txBody>
          <a:bodyPr>
            <a:noAutofit/>
          </a:bodyPr>
          <a:lstStyle>
            <a:lvl1pPr marL="0" indent="0">
              <a:buNone/>
              <a:defRPr sz="12000">
                <a:solidFill>
                  <a:schemeClr val="bg1"/>
                </a:solidFill>
              </a:defRPr>
            </a:lvl1pPr>
            <a:lvl2pPr>
              <a:defRPr sz="8400">
                <a:solidFill>
                  <a:schemeClr val="tx1"/>
                </a:solidFill>
              </a:defRPr>
            </a:lvl2pPr>
            <a:lvl3pPr>
              <a:defRPr sz="8400">
                <a:solidFill>
                  <a:schemeClr val="tx1"/>
                </a:solidFill>
              </a:defRPr>
            </a:lvl3pPr>
            <a:lvl4pPr>
              <a:defRPr sz="8400">
                <a:solidFill>
                  <a:schemeClr val="tx1"/>
                </a:solidFill>
              </a:defRPr>
            </a:lvl4pPr>
            <a:lvl5pPr>
              <a:defRPr sz="84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3952" y="16355772"/>
            <a:ext cx="9377248" cy="1066800"/>
          </a:xfrm>
        </p:spPr>
        <p:txBody>
          <a:bodyPr>
            <a:noAutofit/>
          </a:bodyPr>
          <a:lstStyle>
            <a:lvl1pPr marL="0" indent="0">
              <a:buNone/>
              <a:defRPr sz="54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6858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02430" y="14800434"/>
            <a:ext cx="3252788" cy="433705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81144" y="23458422"/>
            <a:ext cx="9224960" cy="237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95050623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65197667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36576000" cy="27432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776"/>
          </a:p>
        </p:txBody>
      </p:sp>
    </p:spTree>
    <p:extLst>
      <p:ext uri="{BB962C8B-B14F-4D97-AF65-F5344CB8AC3E}">
        <p14:creationId xmlns:p14="http://schemas.microsoft.com/office/powerpoint/2010/main" val="190850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55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7302500"/>
            <a:ext cx="315468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DE203-C6B2-FA44-9A0A-05D60AA7684A}" type="datetime1">
              <a:rPr lang="en-US" smtClean="0"/>
              <a:t>5/24/2026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AEC2072-FB31-3F4B-87F4-F9EBF7296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31806" y="25425406"/>
            <a:ext cx="9710924" cy="1460500"/>
          </a:xfrm>
          <a:prstGeom prst="rect">
            <a:avLst/>
          </a:prstGeom>
        </p:spPr>
        <p:txBody>
          <a:bodyPr/>
          <a:lstStyle>
            <a:lvl1pPr>
              <a:defRPr sz="480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Yale Office of the Provost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57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  <p:sldLayoutId id="2147483816" r:id="rId18"/>
    <p:sldLayoutId id="2147483817" r:id="rId19"/>
    <p:sldLayoutId id="2147483818" r:id="rId20"/>
    <p:sldLayoutId id="2147483819" r:id="rId21"/>
    <p:sldLayoutId id="2147483820" r:id="rId22"/>
    <p:sldLayoutId id="2147483821" r:id="rId23"/>
    <p:sldLayoutId id="2147483822" r:id="rId24"/>
    <p:sldLayoutId id="2147483823" r:id="rId25"/>
    <p:sldLayoutId id="2147483824" r:id="rId26"/>
    <p:sldLayoutId id="2147483825" r:id="rId27"/>
    <p:sldLayoutId id="2147483826" r:id="rId28"/>
    <p:sldLayoutId id="2147483827" r:id="rId29"/>
    <p:sldLayoutId id="2147483828" r:id="rId30"/>
    <p:sldLayoutId id="2147483829" r:id="rId31"/>
    <p:sldLayoutId id="2147483830" r:id="rId32"/>
    <p:sldLayoutId id="2147483831" r:id="rId33"/>
    <p:sldLayoutId id="2147483832" r:id="rId34"/>
    <p:sldLayoutId id="2147483833" r:id="rId35"/>
    <p:sldLayoutId id="2147483834" r:id="rId36"/>
    <p:sldLayoutId id="2147483835" r:id="rId37"/>
    <p:sldLayoutId id="2147483836" r:id="rId38"/>
    <p:sldLayoutId id="2147483837" r:id="rId39"/>
    <p:sldLayoutId id="2147483838" r:id="rId40"/>
    <p:sldLayoutId id="2147483839" r:id="rId41"/>
    <p:sldLayoutId id="2147483840" r:id="rId42"/>
    <p:sldLayoutId id="2147483841" r:id="rId43"/>
    <p:sldLayoutId id="2147483842" r:id="rId44"/>
    <p:sldLayoutId id="2147483843" r:id="rId45"/>
    <p:sldLayoutId id="2147483844" r:id="rId46"/>
    <p:sldLayoutId id="2147483845" r:id="rId47"/>
    <p:sldLayoutId id="2147483846" r:id="rId48"/>
    <p:sldLayoutId id="2147483847" r:id="rId49"/>
    <p:sldLayoutId id="2147483848" r:id="rId50"/>
    <p:sldLayoutId id="2147483849" r:id="rId51"/>
    <p:sldLayoutId id="2147483850" r:id="rId52"/>
    <p:sldLayoutId id="2147483851" r:id="rId53"/>
    <p:sldLayoutId id="2147483852" r:id="rId54"/>
    <p:sldLayoutId id="2147483853" r:id="rId55"/>
    <p:sldLayoutId id="2147483854" r:id="rId56"/>
    <p:sldLayoutId id="2147483855" r:id="rId57"/>
    <p:sldLayoutId id="2147483856" r:id="rId58"/>
    <p:sldLayoutId id="2147483857" r:id="rId59"/>
    <p:sldLayoutId id="2147483858" r:id="rId60"/>
    <p:sldLayoutId id="2147483859" r:id="rId61"/>
    <p:sldLayoutId id="2147483860" r:id="rId62"/>
    <p:sldLayoutId id="2147483861" r:id="rId63"/>
    <p:sldLayoutId id="2147483862" r:id="rId64"/>
    <p:sldLayoutId id="2147483863" r:id="rId65"/>
    <p:sldLayoutId id="2147483864" r:id="rId66"/>
    <p:sldLayoutId id="2147483865" r:id="rId67"/>
    <p:sldLayoutId id="2147483866" r:id="rId68"/>
    <p:sldLayoutId id="2147483867" r:id="rId69"/>
    <p:sldLayoutId id="2147483868" r:id="rId70"/>
    <p:sldLayoutId id="2147483869" r:id="rId71"/>
    <p:sldLayoutId id="2147483870" r:id="rId72"/>
    <p:sldLayoutId id="2147483871" r:id="rId73"/>
    <p:sldLayoutId id="2147483872" r:id="rId74"/>
    <p:sldLayoutId id="2147483873" r:id="rId75"/>
    <p:sldLayoutId id="2147483874" r:id="rId76"/>
    <p:sldLayoutId id="2147483875" r:id="rId77"/>
    <p:sldLayoutId id="2147483876" r:id="rId78"/>
    <p:sldLayoutId id="2147483877" r:id="rId79"/>
    <p:sldLayoutId id="2147483878" r:id="rId80"/>
    <p:sldLayoutId id="2147483879" r:id="rId81"/>
    <p:sldLayoutId id="2147483880" r:id="rId82"/>
    <p:sldLayoutId id="2147483881" r:id="rId83"/>
    <p:sldLayoutId id="2147483882" r:id="rId84"/>
    <p:sldLayoutId id="2147483883" r:id="rId85"/>
    <p:sldLayoutId id="2147483884" r:id="rId86"/>
    <p:sldLayoutId id="2147483885" r:id="rId87"/>
    <p:sldLayoutId id="2147483886" r:id="rId88"/>
    <p:sldLayoutId id="2147483887" r:id="rId89"/>
    <p:sldLayoutId id="2147483888" r:id="rId90"/>
    <p:sldLayoutId id="2147483889" r:id="rId91"/>
    <p:sldLayoutId id="2147483890" r:id="rId92"/>
    <p:sldLayoutId id="2147483891" r:id="rId93"/>
    <p:sldLayoutId id="2147483892" r:id="rId94"/>
    <p:sldLayoutId id="2147483893" r:id="rId95"/>
    <p:sldLayoutId id="2147483894" r:id="rId96"/>
    <p:sldLayoutId id="2147483895" r:id="rId97"/>
    <p:sldLayoutId id="2147483896" r:id="rId98"/>
    <p:sldLayoutId id="2147483897" r:id="rId99"/>
    <p:sldLayoutId id="2147483898" r:id="rId100"/>
    <p:sldLayoutId id="2147483899" r:id="rId101"/>
    <p:sldLayoutId id="2147483900" r:id="rId102"/>
    <p:sldLayoutId id="2147483901" r:id="rId103"/>
    <p:sldLayoutId id="2147483902" r:id="rId104"/>
    <p:sldLayoutId id="2147483903" r:id="rId105"/>
    <p:sldLayoutId id="2147483904" r:id="rId106"/>
    <p:sldLayoutId id="2147483730" r:id="rId107"/>
    <p:sldLayoutId id="2147483661" r:id="rId108"/>
    <p:sldLayoutId id="2147483662" r:id="rId109"/>
    <p:sldLayoutId id="2147483663" r:id="rId110"/>
    <p:sldLayoutId id="2147483711" r:id="rId111"/>
    <p:sldLayoutId id="2147483665" r:id="rId112"/>
    <p:sldLayoutId id="2147483710" r:id="rId113"/>
    <p:sldLayoutId id="2147483713" r:id="rId114"/>
    <p:sldLayoutId id="2147483714" r:id="rId115"/>
    <p:sldLayoutId id="2147483666" r:id="rId116"/>
    <p:sldLayoutId id="2147483667" r:id="rId117"/>
    <p:sldLayoutId id="2147483668" r:id="rId118"/>
    <p:sldLayoutId id="2147483669" r:id="rId119"/>
    <p:sldLayoutId id="2147483671" r:id="rId120"/>
    <p:sldLayoutId id="2147483712" r:id="rId121"/>
    <p:sldLayoutId id="2147483670" r:id="rId122"/>
    <p:sldLayoutId id="2147483672" r:id="rId123"/>
    <p:sldLayoutId id="2147483673" r:id="rId124"/>
    <p:sldLayoutId id="2147483674" r:id="rId125"/>
    <p:sldLayoutId id="2147483675" r:id="rId126"/>
    <p:sldLayoutId id="2147483676" r:id="rId127"/>
    <p:sldLayoutId id="2147483677" r:id="rId128"/>
    <p:sldLayoutId id="2147483678" r:id="rId129"/>
    <p:sldLayoutId id="2147483680" r:id="rId130"/>
    <p:sldLayoutId id="2147483681" r:id="rId131"/>
    <p:sldLayoutId id="2147483682" r:id="rId132"/>
    <p:sldLayoutId id="2147483683" r:id="rId133"/>
    <p:sldLayoutId id="2147483684" r:id="rId134"/>
    <p:sldLayoutId id="2147483685" r:id="rId135"/>
    <p:sldLayoutId id="2147483686" r:id="rId136"/>
    <p:sldLayoutId id="2147483688" r:id="rId137"/>
    <p:sldLayoutId id="2147483689" r:id="rId138"/>
    <p:sldLayoutId id="2147483687" r:id="rId139"/>
    <p:sldLayoutId id="2147483691" r:id="rId140"/>
    <p:sldLayoutId id="2147483692" r:id="rId141"/>
    <p:sldLayoutId id="2147483693" r:id="rId142"/>
    <p:sldLayoutId id="2147483694" r:id="rId143"/>
    <p:sldLayoutId id="2147483695" r:id="rId144"/>
    <p:sldLayoutId id="2147483697" r:id="rId145"/>
    <p:sldLayoutId id="2147483698" r:id="rId146"/>
    <p:sldLayoutId id="2147483699" r:id="rId147"/>
    <p:sldLayoutId id="2147483700" r:id="rId148"/>
    <p:sldLayoutId id="2147483701" r:id="rId149"/>
    <p:sldLayoutId id="2147483702" r:id="rId150"/>
    <p:sldLayoutId id="2147483703" r:id="rId151"/>
    <p:sldLayoutId id="2147483704" r:id="rId152"/>
    <p:sldLayoutId id="2147483709" r:id="rId153"/>
    <p:sldLayoutId id="2147483705" r:id="rId154"/>
    <p:sldLayoutId id="2147483706" r:id="rId155"/>
    <p:sldLayoutId id="2147483707" r:id="rId156"/>
    <p:sldLayoutId id="2147483708" r:id="rId157"/>
    <p:sldLayoutId id="2147483715" r:id="rId158"/>
    <p:sldLayoutId id="2147483717" r:id="rId159"/>
  </p:sldLayoutIdLst>
  <p:hf sldNum="0" hdr="0" dt="0"/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YaleNew" panose="02000602050000020003" pitchFamily="2" charset="77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4pPr>
      <a:lvl5pPr marL="6343652" indent="-857252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800" kern="1200" spc="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2880">
          <p15:clr>
            <a:srgbClr val="F26B43"/>
          </p15:clr>
        </p15:guide>
        <p15:guide id="7" pos="2160">
          <p15:clr>
            <a:srgbClr val="F26B43"/>
          </p15:clr>
        </p15:guide>
        <p15:guide id="8" orient="horz" pos="648">
          <p15:clr>
            <a:srgbClr val="F26B43"/>
          </p15:clr>
        </p15:guide>
        <p15:guide id="9" pos="15360" userDrawn="1">
          <p15:clr>
            <a:srgbClr val="F26B43"/>
          </p15:clr>
        </p15:guide>
        <p15:guide id="10" orient="horz" pos="8640" userDrawn="1">
          <p15:clr>
            <a:srgbClr val="F26B43"/>
          </p15:clr>
        </p15:guide>
        <p15:guide id="11" pos="11520" userDrawn="1">
          <p15:clr>
            <a:srgbClr val="F26B43"/>
          </p15:clr>
        </p15:guide>
        <p15:guide id="12" pos="8640" userDrawn="1">
          <p15:clr>
            <a:srgbClr val="F26B43"/>
          </p15:clr>
        </p15:guide>
        <p15:guide id="13" orient="horz" pos="25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D4EF881-8641-35C4-F928-C7E4D1354C36}"/>
              </a:ext>
            </a:extLst>
          </p:cNvPr>
          <p:cNvSpPr/>
          <p:nvPr/>
        </p:nvSpPr>
        <p:spPr>
          <a:xfrm>
            <a:off x="12305172" y="12908065"/>
            <a:ext cx="12098344" cy="38318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4F8B1-4FC5-B02C-8674-DA7764CA2038}"/>
              </a:ext>
            </a:extLst>
          </p:cNvPr>
          <p:cNvSpPr/>
          <p:nvPr/>
        </p:nvSpPr>
        <p:spPr>
          <a:xfrm>
            <a:off x="444562" y="12067856"/>
            <a:ext cx="11551024" cy="37426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260109-6362-2236-291B-F4297B2E027A}"/>
              </a:ext>
            </a:extLst>
          </p:cNvPr>
          <p:cNvSpPr/>
          <p:nvPr/>
        </p:nvSpPr>
        <p:spPr>
          <a:xfrm>
            <a:off x="439706" y="5788329"/>
            <a:ext cx="5989680" cy="62773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CA770-C4C4-212D-7676-8B28B72BA2BC}"/>
              </a:ext>
            </a:extLst>
          </p:cNvPr>
          <p:cNvSpPr/>
          <p:nvPr/>
        </p:nvSpPr>
        <p:spPr>
          <a:xfrm>
            <a:off x="6027595" y="3635922"/>
            <a:ext cx="5981953" cy="45461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01126CE-A0FA-B413-F8BF-25785BBDDD7E}"/>
              </a:ext>
            </a:extLst>
          </p:cNvPr>
          <p:cNvGrpSpPr/>
          <p:nvPr/>
        </p:nvGrpSpPr>
        <p:grpSpPr>
          <a:xfrm>
            <a:off x="24886606" y="7158514"/>
            <a:ext cx="11546188" cy="7231132"/>
            <a:chOff x="6193639" y="1945104"/>
            <a:chExt cx="2886547" cy="1807783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F0E6B1B-EF3D-AB2D-B68E-B3AF712B1FE7}"/>
                </a:ext>
              </a:extLst>
            </p:cNvPr>
            <p:cNvGrpSpPr/>
            <p:nvPr/>
          </p:nvGrpSpPr>
          <p:grpSpPr>
            <a:xfrm>
              <a:off x="6193639" y="1945104"/>
              <a:ext cx="2886547" cy="1807783"/>
              <a:chOff x="6186635" y="1923834"/>
              <a:chExt cx="2886547" cy="1807783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B2129AD-E3B1-B1A3-55C5-474D7B108270}"/>
                  </a:ext>
                </a:extLst>
              </p:cNvPr>
              <p:cNvGrpSpPr/>
              <p:nvPr/>
            </p:nvGrpSpPr>
            <p:grpSpPr>
              <a:xfrm>
                <a:off x="6186635" y="1923834"/>
                <a:ext cx="2886547" cy="1807783"/>
                <a:chOff x="6228909" y="1918303"/>
                <a:chExt cx="2886547" cy="1807783"/>
              </a:xfrm>
            </p:grpSpPr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751FB13A-1E08-23AF-CDA5-A59BF0DFB9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28909" y="1918303"/>
                  <a:ext cx="2828463" cy="1547260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1F13892-003B-D653-C5EA-EA51F44A3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14639" y="3465563"/>
                  <a:ext cx="1258094" cy="260203"/>
                </a:xfrm>
                <a:prstGeom prst="rect">
                  <a:avLst/>
                </a:prstGeom>
              </p:spPr>
            </p:pic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D2BB2DC2-4318-07E1-2144-66AAF6890E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57362" y="3465883"/>
                  <a:ext cx="1258094" cy="260203"/>
                </a:xfrm>
                <a:prstGeom prst="rect">
                  <a:avLst/>
                </a:prstGeom>
              </p:spPr>
            </p:pic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ECC2C7B-4846-1175-F4FC-2C18966A7BA1}"/>
                  </a:ext>
                </a:extLst>
              </p:cNvPr>
              <p:cNvSpPr/>
              <p:nvPr/>
            </p:nvSpPr>
            <p:spPr>
              <a:xfrm>
                <a:off x="6188423" y="1945104"/>
                <a:ext cx="183942" cy="129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243D483-6B03-A8C2-85BF-D18170F14152}"/>
                  </a:ext>
                </a:extLst>
              </p:cNvPr>
              <p:cNvSpPr/>
              <p:nvPr/>
            </p:nvSpPr>
            <p:spPr>
              <a:xfrm>
                <a:off x="7600866" y="1945104"/>
                <a:ext cx="183942" cy="129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8EFB05-7F32-2B50-7A66-F7353B9005CF}"/>
                </a:ext>
              </a:extLst>
            </p:cNvPr>
            <p:cNvSpPr txBox="1"/>
            <p:nvPr/>
          </p:nvSpPr>
          <p:spPr>
            <a:xfrm>
              <a:off x="6990641" y="2146891"/>
              <a:ext cx="537029" cy="146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/>
                <a:t>exciton</a:t>
              </a:r>
              <a:endParaRPr lang="zh-CN" altLang="en-US" sz="32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77574E6-57C0-2E7A-F5F4-7D52A9DC0C27}"/>
                </a:ext>
              </a:extLst>
            </p:cNvPr>
            <p:cNvSpPr txBox="1"/>
            <p:nvPr/>
          </p:nvSpPr>
          <p:spPr>
            <a:xfrm>
              <a:off x="8480332" y="2146891"/>
              <a:ext cx="537029" cy="146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 err="1"/>
                <a:t>trion</a:t>
              </a:r>
              <a:endParaRPr lang="zh-CN" altLang="en-US" sz="3200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E8C430D3-D456-E476-165F-872D97F0935A}"/>
              </a:ext>
            </a:extLst>
          </p:cNvPr>
          <p:cNvSpPr/>
          <p:nvPr/>
        </p:nvSpPr>
        <p:spPr>
          <a:xfrm>
            <a:off x="12305172" y="17317634"/>
            <a:ext cx="12076228" cy="43244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D9C0B3-05F9-B7CD-1643-50520889DFB1}"/>
              </a:ext>
            </a:extLst>
          </p:cNvPr>
          <p:cNvSpPr txBox="1">
            <a:spLocks/>
          </p:cNvSpPr>
          <p:nvPr/>
        </p:nvSpPr>
        <p:spPr>
          <a:xfrm>
            <a:off x="8500688" y="207026"/>
            <a:ext cx="26454744" cy="1412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0" dirty="0"/>
              <a:t>What is the signature of a </a:t>
            </a:r>
            <a:r>
              <a:rPr lang="en-US" sz="8400" dirty="0" err="1"/>
              <a:t>trion</a:t>
            </a:r>
            <a:r>
              <a:rPr lang="en-US" sz="8400" dirty="0"/>
              <a:t> in ARPES?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94407-0452-7803-4338-82FB73C6428E}"/>
              </a:ext>
            </a:extLst>
          </p:cNvPr>
          <p:cNvSpPr txBox="1"/>
          <p:nvPr/>
        </p:nvSpPr>
        <p:spPr>
          <a:xfrm>
            <a:off x="10049348" y="1256412"/>
            <a:ext cx="155873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/>
              <a:t>Jinyuan Wu</a:t>
            </a:r>
            <a:r>
              <a:rPr lang="en-US" altLang="zh-CN" sz="4800" baseline="30000" dirty="0"/>
              <a:t>1</a:t>
            </a:r>
            <a:r>
              <a:rPr lang="en-US" altLang="zh-CN" sz="4800" dirty="0"/>
              <a:t>, Zachary Withers</a:t>
            </a:r>
            <a:r>
              <a:rPr lang="en-US" altLang="zh-CN" sz="4800" baseline="30000" dirty="0"/>
              <a:t>2</a:t>
            </a:r>
            <a:r>
              <a:rPr lang="en-US" altLang="zh-CN" sz="4800" dirty="0"/>
              <a:t>, Thomas Allison</a:t>
            </a:r>
            <a:r>
              <a:rPr lang="en-US" altLang="zh-CN" sz="4800" baseline="30000" dirty="0"/>
              <a:t>2</a:t>
            </a:r>
            <a:r>
              <a:rPr lang="en-US" altLang="zh-CN" sz="4800" dirty="0"/>
              <a:t>, Diana Y. Qiu</a:t>
            </a:r>
            <a:r>
              <a:rPr lang="en-US" altLang="zh-CN" sz="4800" baseline="30000" dirty="0"/>
              <a:t>1</a:t>
            </a:r>
            <a:endParaRPr lang="zh-CN" altLang="en-US" sz="48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1E9CA-6BBA-E9F1-938F-BB3F3572A309}"/>
              </a:ext>
            </a:extLst>
          </p:cNvPr>
          <p:cNvSpPr txBox="1"/>
          <p:nvPr/>
        </p:nvSpPr>
        <p:spPr>
          <a:xfrm>
            <a:off x="4759742" y="1918998"/>
            <a:ext cx="2909520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300" dirty="0"/>
              <a:t>1. Department of Materials Science, Yale University, New Haven, CT 06511, USA 2. Department of Chemistry, Stoney Brook University, Stony Brook, New York 11794, USA</a:t>
            </a:r>
            <a:endParaRPr lang="zh-CN" altLang="en-US" sz="3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C3766-B9C5-EB47-AD72-6274E1FBEBDF}"/>
              </a:ext>
            </a:extLst>
          </p:cNvPr>
          <p:cNvSpPr txBox="1"/>
          <p:nvPr/>
        </p:nvSpPr>
        <p:spPr>
          <a:xfrm>
            <a:off x="439706" y="2826444"/>
            <a:ext cx="1155588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Introduction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F3471-DA03-8447-1E2D-A9A657C571B4}"/>
              </a:ext>
            </a:extLst>
          </p:cNvPr>
          <p:cNvSpPr txBox="1"/>
          <p:nvPr/>
        </p:nvSpPr>
        <p:spPr>
          <a:xfrm>
            <a:off x="439708" y="3656233"/>
            <a:ext cx="5663100" cy="216982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tr-ARPES</a:t>
            </a:r>
          </a:p>
          <a:p>
            <a:pPr algn="just"/>
            <a:r>
              <a:rPr lang="en-US" altLang="zh-CN" sz="3300" dirty="0"/>
              <a:t>Time-resolved ARPES in pumped systems detects non-equilibrium electronic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F59EE-1D75-C4C6-F677-8486EC335DBF}"/>
              </a:ext>
            </a:extLst>
          </p:cNvPr>
          <p:cNvSpPr txBox="1"/>
          <p:nvPr/>
        </p:nvSpPr>
        <p:spPr>
          <a:xfrm>
            <a:off x="417430" y="15995008"/>
            <a:ext cx="1157815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Theory of tr-ARPES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pic>
        <p:nvPicPr>
          <p:cNvPr id="13" name="Picture 12" descr="A screen shot of a computer game&#10;&#10;AI-generated content may be incorrect.">
            <a:extLst>
              <a:ext uri="{FF2B5EF4-FFF2-40B4-BE49-F238E27FC236}">
                <a16:creationId xmlns:a16="http://schemas.microsoft.com/office/drawing/2014/main" id="{973D43C7-F78B-E98A-EE38-35C795C804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18" r="59307" b="27302"/>
          <a:stretch>
            <a:fillRect/>
          </a:stretch>
        </p:blipFill>
        <p:spPr>
          <a:xfrm>
            <a:off x="5728128" y="3869540"/>
            <a:ext cx="5663100" cy="37202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053096-A625-AF63-FBF8-CB613213CCB1}"/>
                  </a:ext>
                </a:extLst>
              </p:cNvPr>
              <p:cNvSpPr txBox="1"/>
              <p:nvPr/>
            </p:nvSpPr>
            <p:spPr>
              <a:xfrm>
                <a:off x="410818" y="16829155"/>
                <a:ext cx="11578164" cy="445666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/>
                  <a:t>Linear, incoherent limit</a:t>
                </a:r>
              </a:p>
              <a:p>
                <a:pPr algn="just"/>
                <a:r>
                  <a:rPr lang="en-US" altLang="zh-CN" sz="3300" dirty="0"/>
                  <a:t>Long delay between pump and probe, weak probe: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&lt;</m:t>
                        </m:r>
                      </m:sup>
                    </m:sSup>
                  </m:oMath>
                </a14:m>
                <a:r>
                  <a:rPr lang="en-US" altLang="zh-CN" sz="33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&lt;</m:t>
                        </m:r>
                      </m:sup>
                    </m:sSup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zh-CN" sz="3300" dirty="0"/>
                  <a:t> mixed state of excitations. Pole structure of ARPES spectrum: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3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300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3300" i="1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3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sz="3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3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300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3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300">
                                              <a:latin typeface="Cambria Math" panose="02040503050406030204" pitchFamily="18" charset="0"/>
                                            </a:rPr>
                                            <m:t>residue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3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33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33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33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  <m:r>
                                                <a:rPr lang="en-US" altLang="zh-CN" sz="3300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sz="3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300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3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33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3300">
                                  <a:latin typeface="Cambria Math" panose="02040503050406030204" pitchFamily="18" charset="0"/>
                                </a:rPr>
                                <m:t>residue</m:t>
                              </m:r>
                            </m:sup>
                          </m:sSubSup>
                          <m:r>
                            <a:rPr lang="en-US" altLang="zh-CN" sz="3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3300" dirty="0"/>
              </a:p>
              <a:p>
                <a:pPr/>
                <a:r>
                  <a:rPr lang="en-US" altLang="zh-CN" sz="3300" dirty="0"/>
                  <a:t>A theory of </a:t>
                </a:r>
                <a:r>
                  <a:rPr lang="en-US" altLang="zh-CN" sz="3300" dirty="0" err="1"/>
                  <a:t>trion’s</a:t>
                </a:r>
                <a:r>
                  <a:rPr lang="en-US" altLang="zh-CN" sz="3300" dirty="0"/>
                  <a:t> tr-ARPES image involves the </a:t>
                </a:r>
                <a:r>
                  <a:rPr lang="en-US" altLang="zh-CN" sz="3300" dirty="0" err="1"/>
                  <a:t>trion</a:t>
                </a:r>
                <a:r>
                  <a:rPr lang="en-US" altLang="zh-CN" sz="3300" dirty="0"/>
                  <a:t> wave function and the residue states’ wave function after photoemission, and also their energies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053096-A625-AF63-FBF8-CB613213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8" y="16829155"/>
                <a:ext cx="11578164" cy="4456669"/>
              </a:xfrm>
              <a:prstGeom prst="rect">
                <a:avLst/>
              </a:prstGeom>
              <a:blipFill>
                <a:blip r:embed="rId6"/>
                <a:stretch>
                  <a:fillRect l="-1579" t="-2189" r="-1684" b="-3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FE988B3-D92A-FDF4-9583-4CD87672B777}"/>
              </a:ext>
            </a:extLst>
          </p:cNvPr>
          <p:cNvSpPr txBox="1"/>
          <p:nvPr/>
        </p:nvSpPr>
        <p:spPr>
          <a:xfrm>
            <a:off x="422292" y="22354886"/>
            <a:ext cx="11598452" cy="263149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3300" dirty="0"/>
              <a:t>Christopher et al. Sci. Rep. 7.1 (2017): 14062.</a:t>
            </a:r>
          </a:p>
          <a:p>
            <a:r>
              <a:rPr lang="zh-CN" altLang="en-US" sz="3300" dirty="0"/>
              <a:t>Perfetto, et al. PRB 94.24 (2016): 245303.</a:t>
            </a:r>
            <a:endParaRPr lang="en-US" altLang="zh-CN" sz="3300" dirty="0"/>
          </a:p>
          <a:p>
            <a:r>
              <a:rPr lang="en-US" altLang="zh-CN" sz="3300" dirty="0"/>
              <a:t>Rustagi et al. PRB 97.23 (2018): 235310.</a:t>
            </a:r>
          </a:p>
          <a:p>
            <a:r>
              <a:rPr lang="fr-FR" altLang="zh-CN" sz="3300" dirty="0" err="1"/>
              <a:t>Drüppel</a:t>
            </a:r>
            <a:r>
              <a:rPr lang="fr-FR" altLang="zh-CN" sz="3300" dirty="0"/>
              <a:t> et al. Nat. </a:t>
            </a:r>
            <a:r>
              <a:rPr lang="fr-FR" altLang="zh-CN" sz="3300" dirty="0" err="1"/>
              <a:t>Comm</a:t>
            </a:r>
            <a:r>
              <a:rPr lang="fr-FR" altLang="zh-CN" sz="3300" dirty="0"/>
              <a:t>. 8.1 (2017): 2117.</a:t>
            </a:r>
          </a:p>
          <a:p>
            <a:r>
              <a:rPr lang="en-US" altLang="zh-CN" sz="3300" dirty="0" err="1"/>
              <a:t>Berkelbach</a:t>
            </a:r>
            <a:r>
              <a:rPr lang="en-US" altLang="zh-CN" sz="3300" dirty="0"/>
              <a:t> et al. PRB 88.4 (2013): 045318.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02C26-80A2-51C3-49A2-B7FE8DBCF6A8}"/>
              </a:ext>
            </a:extLst>
          </p:cNvPr>
          <p:cNvSpPr txBox="1"/>
          <p:nvPr/>
        </p:nvSpPr>
        <p:spPr>
          <a:xfrm>
            <a:off x="12323081" y="2832223"/>
            <a:ext cx="1205402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Theory of tr-ARPES for </a:t>
            </a:r>
            <a:r>
              <a:rPr lang="en-US" altLang="zh-CN" sz="4800" dirty="0" err="1">
                <a:solidFill>
                  <a:schemeClr val="bg1"/>
                </a:solidFill>
              </a:rPr>
              <a:t>trions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017619-72C5-606F-1D84-EB7066909767}"/>
              </a:ext>
            </a:extLst>
          </p:cNvPr>
          <p:cNvSpPr txBox="1"/>
          <p:nvPr/>
        </p:nvSpPr>
        <p:spPr>
          <a:xfrm>
            <a:off x="12305565" y="8853304"/>
            <a:ext cx="8213844" cy="267765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Trions in monolayer MoS</a:t>
            </a:r>
            <a:r>
              <a:rPr lang="en-US" altLang="zh-CN" sz="3600" b="1" baseline="-25000" dirty="0"/>
              <a:t>2</a:t>
            </a:r>
            <a:r>
              <a:rPr lang="en-US" altLang="zh-CN" sz="3600" b="1" dirty="0"/>
              <a:t>: initial state</a:t>
            </a:r>
          </a:p>
          <a:p>
            <a:pPr algn="just"/>
            <a:r>
              <a:rPr lang="en-US" altLang="zh-CN" sz="3300" dirty="0"/>
              <a:t>Existing </a:t>
            </a:r>
            <a:r>
              <a:rPr lang="en-US" altLang="zh-CN" sz="3300" dirty="0" err="1"/>
              <a:t>trion</a:t>
            </a:r>
            <a:r>
              <a:rPr lang="en-US" altLang="zh-CN" sz="3300" dirty="0"/>
              <a:t> BSE calculation: lowest mode is an intervalley singlet. We build two-band models for this </a:t>
            </a:r>
            <a:r>
              <a:rPr lang="en-US" altLang="zh-CN" sz="3300" dirty="0" err="1"/>
              <a:t>trion</a:t>
            </a:r>
            <a:r>
              <a:rPr lang="en-US" altLang="zh-CN" sz="3300" dirty="0"/>
              <a:t> structure, solved by Chandrasekhar ansatz.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9CB5DD-24D7-4AFE-7E59-4B5E8A2F1BA7}"/>
              </a:ext>
            </a:extLst>
          </p:cNvPr>
          <p:cNvSpPr txBox="1"/>
          <p:nvPr/>
        </p:nvSpPr>
        <p:spPr>
          <a:xfrm>
            <a:off x="24662518" y="2819701"/>
            <a:ext cx="1177027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Results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2E2E77-99A2-4F2B-F47F-7E16CDEF5D38}"/>
              </a:ext>
            </a:extLst>
          </p:cNvPr>
          <p:cNvSpPr/>
          <p:nvPr/>
        </p:nvSpPr>
        <p:spPr>
          <a:xfrm>
            <a:off x="12306411" y="3657441"/>
            <a:ext cx="12074989" cy="51955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BD03F0-C1A6-E0B2-1F01-8FEAA58D98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8396" r="44616"/>
          <a:stretch>
            <a:fillRect/>
          </a:stretch>
        </p:blipFill>
        <p:spPr>
          <a:xfrm>
            <a:off x="12269753" y="3866910"/>
            <a:ext cx="7848920" cy="492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D80A751-EB25-C3EE-079E-ABE0384E9487}"/>
              </a:ext>
            </a:extLst>
          </p:cNvPr>
          <p:cNvSpPr txBox="1"/>
          <p:nvPr/>
        </p:nvSpPr>
        <p:spPr>
          <a:xfrm>
            <a:off x="19808702" y="3759434"/>
            <a:ext cx="4404180" cy="318548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BSE for </a:t>
            </a:r>
            <a:r>
              <a:rPr lang="en-US" altLang="zh-CN" sz="3600" b="1" dirty="0" err="1"/>
              <a:t>trion</a:t>
            </a:r>
            <a:endParaRPr lang="en-US" altLang="zh-CN" sz="3600" b="1" dirty="0"/>
          </a:p>
          <a:p>
            <a:pPr algn="just"/>
            <a:r>
              <a:rPr lang="en-US" altLang="zh-CN" sz="3300" dirty="0"/>
              <a:t>Excitonic Bethe-Salpeter equation (BSE) generalized for </a:t>
            </a:r>
            <a:r>
              <a:rPr lang="en-US" altLang="zh-CN" sz="3300" dirty="0" err="1"/>
              <a:t>trions</a:t>
            </a:r>
            <a:r>
              <a:rPr lang="en-US" altLang="zh-CN" sz="3300" dirty="0"/>
              <a:t>: adding e-e or h-h interaction 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30B75-BD07-97DF-A912-39E9BDE69E2C}"/>
                  </a:ext>
                </a:extLst>
              </p:cNvPr>
              <p:cNvSpPr txBox="1"/>
              <p:nvPr/>
            </p:nvSpPr>
            <p:spPr>
              <a:xfrm>
                <a:off x="24662518" y="3651978"/>
                <a:ext cx="11770276" cy="369331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/>
                  <a:t>ARPES image of positive </a:t>
                </a:r>
                <a:r>
                  <a:rPr lang="en-US" altLang="zh-CN" sz="3600" b="1" dirty="0" err="1"/>
                  <a:t>trion</a:t>
                </a:r>
                <a:endParaRPr lang="en-US" altLang="zh-CN" sz="3600" b="1" baseline="-25000" dirty="0"/>
              </a:p>
              <a:p>
                <a:pPr algn="just"/>
                <a:r>
                  <a:rPr lang="en-US" altLang="zh-CN" sz="3300" dirty="0"/>
                  <a:t>An additional internal momentum degrees of freedom and Coulomb repulsion in the residue state ⇒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Dispersion relation NOT a replica of the valence band top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Asymmetry of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300" dirty="0"/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Redshift of peak</a:t>
                </a:r>
              </a:p>
              <a:p>
                <a:pPr algn="just"/>
                <a:r>
                  <a:rPr lang="en-US" altLang="zh-CN" sz="3300" dirty="0"/>
                  <a:t>when compared with exciton ARPES image.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30B75-BD07-97DF-A912-39E9BDE69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2518" y="3651978"/>
                <a:ext cx="11770276" cy="3693319"/>
              </a:xfrm>
              <a:prstGeom prst="rect">
                <a:avLst/>
              </a:prstGeom>
              <a:blipFill>
                <a:blip r:embed="rId8"/>
                <a:stretch>
                  <a:fillRect l="-1605" t="-2475" r="-1398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4189A0-C55B-1B4E-6577-A87DCD727DFC}"/>
                  </a:ext>
                </a:extLst>
              </p:cNvPr>
              <p:cNvSpPr txBox="1"/>
              <p:nvPr/>
            </p:nvSpPr>
            <p:spPr>
              <a:xfrm>
                <a:off x="24658390" y="14384518"/>
                <a:ext cx="11770276" cy="572464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3600" b="1" dirty="0"/>
                  <a:t>ARPES image of negative </a:t>
                </a:r>
                <a:r>
                  <a:rPr lang="en-US" altLang="zh-CN" sz="3600" b="1" dirty="0" err="1"/>
                  <a:t>trion</a:t>
                </a:r>
                <a:endParaRPr lang="en-US" altLang="zh-CN" sz="3600" b="1" dirty="0"/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Two electrons ⇒ two branches. Energy conservation ⇒ one branch images the </a:t>
                </a:r>
                <a14:m>
                  <m:oMath xmlns:m="http://schemas.openxmlformats.org/officeDocument/2006/math">
                    <m:r>
                      <a:rPr lang="en-US" altLang="zh-CN" sz="3300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30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3300" dirty="0"/>
                  <a:t> exciton band structure (hard to detect optically!), one images the </a:t>
                </a:r>
                <a14:m>
                  <m:oMath xmlns:m="http://schemas.openxmlformats.org/officeDocument/2006/math">
                    <m:r>
                      <a:rPr lang="en-US" altLang="zh-CN" sz="3300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30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sz="3300" dirty="0"/>
                  <a:t> one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Overlap matrix involving no </a:t>
                </a:r>
                <a:r>
                  <a:rPr lang="en-US" altLang="zh-CN" sz="3300"/>
                  <a:t>dipole ⇒ the </a:t>
                </a:r>
                <a14:m>
                  <m:oMath xmlns:m="http://schemas.openxmlformats.org/officeDocument/2006/math">
                    <m:r>
                      <a:rPr lang="en-US" altLang="zh-CN" sz="3300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30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3300" dirty="0"/>
                  <a:t> branch detected is spin-unlike 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Exciton and </a:t>
                </a:r>
                <a:r>
                  <a:rPr lang="en-US" altLang="zh-CN" sz="3300" dirty="0" err="1"/>
                  <a:t>trion</a:t>
                </a:r>
                <a:r>
                  <a:rPr lang="en-US" altLang="zh-CN" sz="3300" dirty="0"/>
                  <a:t> frequencies close to each other ⇒ blueshift of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300" dirty="0"/>
                  <a:t> to a place near the conduction band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Exciton p states can’t be detected (selection rule)</a:t>
                </a:r>
              </a:p>
              <a:p>
                <a:pPr marL="685800" indent="-685800" algn="just">
                  <a:buFont typeface="Arial" panose="020B0604020202020204" pitchFamily="34" charset="0"/>
                  <a:buChar char="•"/>
                </a:pPr>
                <a:r>
                  <a:rPr lang="en-US" altLang="zh-CN" sz="3300" dirty="0"/>
                  <a:t>2s exciton having a </a:t>
                </a:r>
                <a:r>
                  <a:rPr lang="en-US" altLang="zh-CN" sz="3300" i="1" dirty="0"/>
                  <a:t>higher</a:t>
                </a:r>
                <a:r>
                  <a:rPr lang="en-US" altLang="zh-CN" sz="3300" dirty="0"/>
                  <a:t> peak! (due to more concentrated weight)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4189A0-C55B-1B4E-6577-A87DCD727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90" y="14384518"/>
                <a:ext cx="11770276" cy="5724644"/>
              </a:xfrm>
              <a:prstGeom prst="rect">
                <a:avLst/>
              </a:prstGeom>
              <a:blipFill>
                <a:blip r:embed="rId9"/>
                <a:stretch>
                  <a:fillRect l="-1554" t="-1704" r="-1398" b="-2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88F7D75-0FE5-099C-4F1B-EECD927F0529}"/>
              </a:ext>
            </a:extLst>
          </p:cNvPr>
          <p:cNvSpPr txBox="1"/>
          <p:nvPr/>
        </p:nvSpPr>
        <p:spPr>
          <a:xfrm>
            <a:off x="422294" y="21523023"/>
            <a:ext cx="11598448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References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B17773-F6D4-7705-620F-62FF7E2523DE}"/>
              </a:ext>
            </a:extLst>
          </p:cNvPr>
          <p:cNvSpPr txBox="1"/>
          <p:nvPr/>
        </p:nvSpPr>
        <p:spPr>
          <a:xfrm>
            <a:off x="422294" y="25233335"/>
            <a:ext cx="11578152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Acknowledgement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0847DF-9889-9964-34A8-2C85B9672DA3}"/>
              </a:ext>
            </a:extLst>
          </p:cNvPr>
          <p:cNvSpPr txBox="1"/>
          <p:nvPr/>
        </p:nvSpPr>
        <p:spPr>
          <a:xfrm>
            <a:off x="422290" y="26064332"/>
            <a:ext cx="11578152" cy="110799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3300" dirty="0"/>
              <a:t>We thank precious theoretical and experimental inputs from Tom Allison and Zach Withers.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AA0FF-837E-542F-87DD-E7B372AFC436}"/>
              </a:ext>
            </a:extLst>
          </p:cNvPr>
          <p:cNvSpPr/>
          <p:nvPr/>
        </p:nvSpPr>
        <p:spPr>
          <a:xfrm>
            <a:off x="20519409" y="8766844"/>
            <a:ext cx="3860753" cy="29213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150B31-A10C-AEAC-2C04-C427D26D09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74972" y="7176068"/>
            <a:ext cx="3484168" cy="34125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1DF437-43B6-20F2-B7C8-D4BA5050A8A4}"/>
                  </a:ext>
                </a:extLst>
              </p:cNvPr>
              <p:cNvSpPr txBox="1"/>
              <p:nvPr/>
            </p:nvSpPr>
            <p:spPr>
              <a:xfrm>
                <a:off x="12305173" y="11522120"/>
                <a:ext cx="12074989" cy="166199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/>
                  <a:t>Two-hole residue: final state of positive </a:t>
                </a:r>
                <a:r>
                  <a:rPr lang="en-US" altLang="zh-CN" sz="3600" b="1" dirty="0" err="1"/>
                  <a:t>trion</a:t>
                </a:r>
                <a:endParaRPr lang="en-US" altLang="zh-CN" sz="3600" b="1" dirty="0"/>
              </a:p>
              <a:p>
                <a:pPr algn="just"/>
                <a:r>
                  <a:rPr lang="en-US" altLang="zh-CN" sz="3300" dirty="0"/>
                  <a:t>Photoemission from positive </a:t>
                </a:r>
                <a:r>
                  <a:rPr lang="en-US" altLang="zh-CN" sz="3300" dirty="0" err="1"/>
                  <a:t>trion</a:t>
                </a:r>
                <a:r>
                  <a:rPr lang="en-US" altLang="zh-CN" sz="33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3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3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3300" dirty="0"/>
                  <a:t>; ARPES Fermi golden rule is two-step: electron removal, then “explosion”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1DF437-43B6-20F2-B7C8-D4BA5050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5173" y="11522120"/>
                <a:ext cx="12074989" cy="1661993"/>
              </a:xfrm>
              <a:prstGeom prst="rect">
                <a:avLst/>
              </a:prstGeom>
              <a:blipFill>
                <a:blip r:embed="rId11"/>
                <a:stretch>
                  <a:fillRect l="-1566" t="-5495" r="-1414" b="-12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79E43EE-BC5C-5BA4-7DE0-80518572D155}"/>
              </a:ext>
            </a:extLst>
          </p:cNvPr>
          <p:cNvSpPr txBox="1"/>
          <p:nvPr/>
        </p:nvSpPr>
        <p:spPr>
          <a:xfrm>
            <a:off x="12298560" y="16739948"/>
            <a:ext cx="12098344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Exciton residue: final state of negative </a:t>
            </a:r>
            <a:r>
              <a:rPr lang="en-US" altLang="zh-CN" sz="3600" b="1" dirty="0" err="1"/>
              <a:t>trion</a:t>
            </a:r>
            <a:endParaRPr lang="en-US" altLang="zh-CN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C6D1B5-33D7-EAF2-0AA7-35B1BD02960D}"/>
                  </a:ext>
                </a:extLst>
              </p:cNvPr>
              <p:cNvSpPr txBox="1"/>
              <p:nvPr/>
            </p:nvSpPr>
            <p:spPr>
              <a:xfrm>
                <a:off x="21045418" y="10736686"/>
                <a:ext cx="2850604" cy="64633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300" dirty="0"/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C6D1B5-33D7-EAF2-0AA7-35B1BD029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5418" y="10736686"/>
                <a:ext cx="2850604" cy="646331"/>
              </a:xfrm>
              <a:prstGeom prst="rect">
                <a:avLst/>
              </a:prstGeom>
              <a:blipFill>
                <a:blip r:embed="rId12"/>
                <a:stretch>
                  <a:fillRect l="-6410" t="-14151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75EFE04-EAF9-D3F3-8E5B-6658A2FAC2F2}"/>
              </a:ext>
            </a:extLst>
          </p:cNvPr>
          <p:cNvSpPr txBox="1"/>
          <p:nvPr/>
        </p:nvSpPr>
        <p:spPr>
          <a:xfrm>
            <a:off x="17091796" y="16101692"/>
            <a:ext cx="3251200" cy="6001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300" dirty="0"/>
              <a:t>intermediate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F90961-6ADF-8ABD-FE25-9C1A2B6327D2}"/>
              </a:ext>
            </a:extLst>
          </p:cNvPr>
          <p:cNvSpPr txBox="1"/>
          <p:nvPr/>
        </p:nvSpPr>
        <p:spPr>
          <a:xfrm>
            <a:off x="14245018" y="16111244"/>
            <a:ext cx="2054060" cy="6001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300" dirty="0"/>
              <a:t>initial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592E53-2A27-573D-EF87-45D7E0BC1513}"/>
              </a:ext>
            </a:extLst>
          </p:cNvPr>
          <p:cNvSpPr txBox="1"/>
          <p:nvPr/>
        </p:nvSpPr>
        <p:spPr>
          <a:xfrm>
            <a:off x="21149604" y="16092032"/>
            <a:ext cx="1636032" cy="6001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300" dirty="0"/>
              <a:t>final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2C2AA5-AE91-0CA4-6B95-C66D4D8A9A19}"/>
              </a:ext>
            </a:extLst>
          </p:cNvPr>
          <p:cNvSpPr/>
          <p:nvPr/>
        </p:nvSpPr>
        <p:spPr>
          <a:xfrm>
            <a:off x="12275196" y="22680932"/>
            <a:ext cx="12176552" cy="4492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9889204-F9E4-49DB-8253-3BEDCE4A30D4}"/>
                  </a:ext>
                </a:extLst>
              </p:cNvPr>
              <p:cNvSpPr txBox="1"/>
              <p:nvPr/>
            </p:nvSpPr>
            <p:spPr>
              <a:xfrm>
                <a:off x="12348716" y="17426684"/>
                <a:ext cx="6635968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3300" dirty="0"/>
                  <a:t>Photoemission </a:t>
                </a:r>
                <a:r>
                  <a:rPr lang="en-US" altLang="zh-CN" sz="3300"/>
                  <a:t>from negative </a:t>
                </a:r>
                <a:r>
                  <a:rPr lang="en-US" altLang="zh-CN" sz="3300" dirty="0" err="1"/>
                  <a:t>trion</a:t>
                </a:r>
                <a:r>
                  <a:rPr lang="en-US" altLang="zh-CN" sz="33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33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30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33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3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30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3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33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3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zh-CN" sz="33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9889204-F9E4-49DB-8253-3BEDCE4A3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8716" y="17426684"/>
                <a:ext cx="6635968" cy="1107996"/>
              </a:xfrm>
              <a:prstGeom prst="rect">
                <a:avLst/>
              </a:prstGeom>
              <a:blipFill>
                <a:blip r:embed="rId13"/>
                <a:stretch>
                  <a:fillRect l="-2482" t="-7735" r="-2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A9C6C3-6A93-B866-A344-58C1DC3DDB23}"/>
                  </a:ext>
                </a:extLst>
              </p:cNvPr>
              <p:cNvSpPr txBox="1"/>
              <p:nvPr/>
            </p:nvSpPr>
            <p:spPr>
              <a:xfrm>
                <a:off x="12348716" y="18636068"/>
                <a:ext cx="6635968" cy="2123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3300" dirty="0"/>
                  <a:t>Photoemission from K valley: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3300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30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3300" dirty="0"/>
                  <a:t> final state </a:t>
                </a:r>
              </a:p>
              <a:p>
                <a:pPr algn="just"/>
                <a:r>
                  <a:rPr lang="en-US" altLang="zh-CN" sz="3300" dirty="0"/>
                  <a:t>Photoemission from K’ valley: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3300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33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30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sz="3300" dirty="0"/>
                  <a:t> final state 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A9C6C3-6A93-B866-A344-58C1DC3DD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8716" y="18636068"/>
                <a:ext cx="6635968" cy="2123658"/>
              </a:xfrm>
              <a:prstGeom prst="rect">
                <a:avLst/>
              </a:prstGeom>
              <a:blipFill>
                <a:blip r:embed="rId14"/>
                <a:stretch>
                  <a:fillRect l="-2482" t="-4023" b="-9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>
            <a:extLst>
              <a:ext uri="{FF2B5EF4-FFF2-40B4-BE49-F238E27FC236}">
                <a16:creationId xmlns:a16="http://schemas.microsoft.com/office/drawing/2014/main" id="{22F8E159-8F8B-C50B-2F72-856C38119D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82512" y="17648234"/>
            <a:ext cx="6694592" cy="379822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CB75E-92E6-1563-9E90-81ADA89924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61296" y="13232808"/>
            <a:ext cx="11090480" cy="3183376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F23E7296-B30E-D11A-1AE8-B050F6FA5284}"/>
              </a:ext>
            </a:extLst>
          </p:cNvPr>
          <p:cNvSpPr txBox="1"/>
          <p:nvPr/>
        </p:nvSpPr>
        <p:spPr>
          <a:xfrm>
            <a:off x="12275196" y="21849350"/>
            <a:ext cx="12180872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</a:rPr>
              <a:t>Summary and discussion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1226D03-ECF7-196C-E787-F55AA519BAD1}"/>
              </a:ext>
            </a:extLst>
          </p:cNvPr>
          <p:cNvGrpSpPr/>
          <p:nvPr/>
        </p:nvGrpSpPr>
        <p:grpSpPr>
          <a:xfrm>
            <a:off x="24491172" y="20436106"/>
            <a:ext cx="12090968" cy="6890372"/>
            <a:chOff x="9762890" y="2864477"/>
            <a:chExt cx="4742301" cy="270253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1C36953-C435-654A-D97B-82F91EF34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77297" t="11933" r="2484" b="21464"/>
            <a:stretch>
              <a:fillRect/>
            </a:stretch>
          </p:blipFill>
          <p:spPr>
            <a:xfrm>
              <a:off x="12222459" y="3431159"/>
              <a:ext cx="244733" cy="245616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4C1ADC7-E8CE-E7EC-E5DD-2FB524F4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r="47235"/>
            <a:stretch>
              <a:fillRect/>
            </a:stretch>
          </p:blipFill>
          <p:spPr>
            <a:xfrm>
              <a:off x="9762890" y="2871923"/>
              <a:ext cx="2370125" cy="2695085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0120807-C6F8-2590-1DF3-2D8C91E8C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54590" r="900"/>
            <a:stretch>
              <a:fillRect/>
            </a:stretch>
          </p:blipFill>
          <p:spPr>
            <a:xfrm>
              <a:off x="12505848" y="2864477"/>
              <a:ext cx="1999343" cy="2695085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C97B60F1-4576-5D9E-7A49-45AA4D487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31796" t="12944" r="47692" b="20454"/>
            <a:stretch>
              <a:fillRect/>
            </a:stretch>
          </p:blipFill>
          <p:spPr>
            <a:xfrm>
              <a:off x="12088989" y="3185543"/>
              <a:ext cx="248277" cy="245616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749CF10-1B76-E5D6-1770-9C5ABC20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9136" t="12304" r="70305" b="19781"/>
            <a:stretch>
              <a:fillRect/>
            </a:stretch>
          </p:blipFill>
          <p:spPr>
            <a:xfrm>
              <a:off x="12218359" y="2935089"/>
              <a:ext cx="248833" cy="25045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C64BD00-F598-C427-E172-AAF65DC25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55245" t="12019" r="26017" b="21379"/>
            <a:stretch>
              <a:fillRect/>
            </a:stretch>
          </p:blipFill>
          <p:spPr>
            <a:xfrm>
              <a:off x="12343587" y="3179440"/>
              <a:ext cx="226795" cy="24561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A8EAF13-1418-82F5-156F-097200707955}"/>
                  </a:ext>
                </a:extLst>
              </p:cNvPr>
              <p:cNvSpPr txBox="1"/>
              <p:nvPr/>
            </p:nvSpPr>
            <p:spPr>
              <a:xfrm>
                <a:off x="27512606" y="25354830"/>
                <a:ext cx="19242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A8EAF13-1418-82F5-156F-09720070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2606" y="25354830"/>
                <a:ext cx="1924280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BAEC93-8229-2E37-1504-E0709F78842B}"/>
                  </a:ext>
                </a:extLst>
              </p:cNvPr>
              <p:cNvSpPr txBox="1"/>
              <p:nvPr/>
            </p:nvSpPr>
            <p:spPr>
              <a:xfrm>
                <a:off x="33555475" y="25356349"/>
                <a:ext cx="19242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BAEC93-8229-2E37-1504-E0709F78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5475" y="25356349"/>
                <a:ext cx="1924280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09F6B20D-CF3A-0340-4892-585764A477FA}"/>
              </a:ext>
            </a:extLst>
          </p:cNvPr>
          <p:cNvSpPr txBox="1"/>
          <p:nvPr/>
        </p:nvSpPr>
        <p:spPr>
          <a:xfrm>
            <a:off x="12388864" y="22680932"/>
            <a:ext cx="12008040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Positive and negative </a:t>
            </a:r>
            <a:r>
              <a:rPr lang="en-US" altLang="zh-CN" sz="3300" dirty="0" err="1"/>
              <a:t>trions</a:t>
            </a:r>
            <a:r>
              <a:rPr lang="en-US" altLang="zh-CN" sz="3300" dirty="0"/>
              <a:t> have </a:t>
            </a:r>
            <a:r>
              <a:rPr lang="en-US" altLang="zh-CN" sz="3300" b="1" dirty="0"/>
              <a:t>qualitative differences </a:t>
            </a:r>
            <a:r>
              <a:rPr lang="en-US" altLang="zh-CN" sz="3300" dirty="0"/>
              <a:t>from each other and from excitons in tr-ARPES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Negative </a:t>
            </a:r>
            <a:r>
              <a:rPr lang="en-US" altLang="zh-CN" sz="3300" dirty="0" err="1"/>
              <a:t>trion’s</a:t>
            </a:r>
            <a:r>
              <a:rPr lang="en-US" altLang="zh-CN" sz="3300" dirty="0"/>
              <a:t> tr-ARPES signal images the exciton band structure, including parts with optically inaccessible momenta and spin structure </a:t>
            </a:r>
            <a:r>
              <a:rPr lang="en-US" altLang="zh-CN" sz="3300" b="1" dirty="0"/>
              <a:t>(possible new way to see exciton bands!)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b="1" dirty="0"/>
              <a:t>Features robust to thermalization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Generalizable to other composite excitations (and able to tell them apart)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512D3-B4A9-D588-0FCB-CD4835C96456}"/>
              </a:ext>
            </a:extLst>
          </p:cNvPr>
          <p:cNvSpPr txBox="1"/>
          <p:nvPr/>
        </p:nvSpPr>
        <p:spPr>
          <a:xfrm>
            <a:off x="5480094" y="7899024"/>
            <a:ext cx="6528282" cy="420115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Trions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Optical excitations created by pumping in doped systems </a:t>
            </a:r>
            <a:r>
              <a:rPr lang="en-US" altLang="zh-CN" sz="3300" i="1" dirty="0"/>
              <a:t>allegedly</a:t>
            </a:r>
            <a:r>
              <a:rPr lang="en-US" altLang="zh-CN" sz="3300" dirty="0"/>
              <a:t> creates </a:t>
            </a:r>
            <a:r>
              <a:rPr lang="en-US" altLang="zh-CN" sz="3300" dirty="0" err="1"/>
              <a:t>trions</a:t>
            </a:r>
            <a:r>
              <a:rPr lang="en-US" altLang="zh-CN" sz="3300" dirty="0"/>
              <a:t>.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Asymmetric photoluminescence line shape. Enough evidence?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What about tr-ARPES detection of </a:t>
            </a:r>
            <a:r>
              <a:rPr lang="en-US" altLang="zh-CN" sz="3300" dirty="0" err="1"/>
              <a:t>trions</a:t>
            </a:r>
            <a:r>
              <a:rPr lang="en-US" altLang="zh-CN" sz="3300" dirty="0"/>
              <a:t>?</a:t>
            </a:r>
          </a:p>
        </p:txBody>
      </p:sp>
      <p:pic>
        <p:nvPicPr>
          <p:cNvPr id="17" name="Picture 16" descr="A black screen with blue text&#10;&#10;AI-generated content may be incorrect.">
            <a:extLst>
              <a:ext uri="{FF2B5EF4-FFF2-40B4-BE49-F238E27FC236}">
                <a16:creationId xmlns:a16="http://schemas.microsoft.com/office/drawing/2014/main" id="{041DA088-6801-4528-6F49-2644639E836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9980" t="18394" r="61505" b="8357"/>
          <a:stretch>
            <a:fillRect/>
          </a:stretch>
        </p:blipFill>
        <p:spPr>
          <a:xfrm>
            <a:off x="479824" y="8036341"/>
            <a:ext cx="4517180" cy="42460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A7491C1-1858-A2FF-93B9-98C2590E1AD4}"/>
              </a:ext>
            </a:extLst>
          </p:cNvPr>
          <p:cNvSpPr txBox="1"/>
          <p:nvPr/>
        </p:nvSpPr>
        <p:spPr>
          <a:xfrm>
            <a:off x="565068" y="12852617"/>
            <a:ext cx="1138336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300" b="1" dirty="0"/>
              <a:t>MoS2 monolayer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Well known excitonic material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Existing exciton and </a:t>
            </a:r>
            <a:r>
              <a:rPr lang="en-US" altLang="zh-CN" sz="3300" dirty="0" err="1"/>
              <a:t>trion</a:t>
            </a:r>
            <a:r>
              <a:rPr lang="en-US" altLang="zh-CN" sz="3300" dirty="0"/>
              <a:t> BSE data and experimental data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 err="1"/>
              <a:t>Valleytronic</a:t>
            </a:r>
            <a:r>
              <a:rPr lang="en-US" altLang="zh-CN" sz="3300" dirty="0"/>
              <a:t> material, spin-valley locking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altLang="zh-CN" sz="3300" dirty="0"/>
              <a:t>Parabolic band structure near valleys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F85DAD-875E-3527-8CDC-226EB49B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24" y="591979"/>
            <a:ext cx="3950899" cy="170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849771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Yale">
      <a:dk1>
        <a:srgbClr val="00356B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daa3d8-d8cc-4c47-8fb8-106f94026de5">
      <Terms xmlns="http://schemas.microsoft.com/office/infopath/2007/PartnerControls"/>
    </lcf76f155ced4ddcb4097134ff3c332f>
    <TaxCatchAll xmlns="711383b6-fbef-4d30-84b2-280ccf3ea691" xsi:nil="true"/>
    <SharedWithUsers xmlns="711383b6-fbef-4d30-84b2-280ccf3ea691">
      <UserInfo>
        <DisplayName>Lugo, Kayla</DisplayName>
        <AccountId>1428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BF018E9C2B114B946D2A2E7C201C83" ma:contentTypeVersion="12" ma:contentTypeDescription="Create a new document." ma:contentTypeScope="" ma:versionID="1c11fdbb635e30e6a37ba6402de010df">
  <xsd:schema xmlns:xsd="http://www.w3.org/2001/XMLSchema" xmlns:xs="http://www.w3.org/2001/XMLSchema" xmlns:p="http://schemas.microsoft.com/office/2006/metadata/properties" xmlns:ns2="711383b6-fbef-4d30-84b2-280ccf3ea691" xmlns:ns3="66daa3d8-d8cc-4c47-8fb8-106f94026de5" targetNamespace="http://schemas.microsoft.com/office/2006/metadata/properties" ma:root="true" ma:fieldsID="e695844c4081f149e9b0cf1a7d89bda8" ns2:_="" ns3:_="">
    <xsd:import namespace="711383b6-fbef-4d30-84b2-280ccf3ea691"/>
    <xsd:import namespace="66daa3d8-d8cc-4c47-8fb8-106f94026de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383b6-fbef-4d30-84b2-280ccf3ea6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c6e7409-1c60-47af-ac8b-a458a73d6579}" ma:internalName="TaxCatchAll" ma:showField="CatchAllData" ma:web="711383b6-fbef-4d30-84b2-280ccf3ea6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aa3d8-d8cc-4c47-8fb8-106f94026d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d9ce95e-1345-4484-817e-41007f7553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9F0F13-E87B-4B2C-AF3B-F16DCBCCA2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1ECB86-15B6-452B-81E6-253C1C497EBB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66daa3d8-d8cc-4c47-8fb8-106f94026de5"/>
    <ds:schemaRef ds:uri="http://www.w3.org/XML/1998/namespace"/>
    <ds:schemaRef ds:uri="http://purl.org/dc/elements/1.1/"/>
    <ds:schemaRef ds:uri="http://purl.org/dc/dcmitype/"/>
    <ds:schemaRef ds:uri="711383b6-fbef-4d30-84b2-280ccf3ea691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F2A1B48-DBB4-47B6-8321-1FD7E2A8B3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1383b6-fbef-4d30-84b2-280ccf3ea691"/>
    <ds:schemaRef ds:uri="66daa3d8-d8cc-4c47-8fb8-106f94026d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poster-usd</Template>
  <TotalTime>58336</TotalTime>
  <Words>626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Red Hat Text</vt:lpstr>
      <vt:lpstr>YaleNew</vt:lpstr>
      <vt:lpstr>Arial</vt:lpstr>
      <vt:lpstr>Calibri</vt:lpstr>
      <vt:lpstr>Cambria Math</vt:lpstr>
      <vt:lpstr>Wingdings</vt:lpstr>
      <vt:lpstr>poster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Gianakos, Maura</dc:creator>
  <cp:lastModifiedBy>Wu, Jinyuan</cp:lastModifiedBy>
  <cp:revision>1593</cp:revision>
  <dcterms:created xsi:type="dcterms:W3CDTF">2022-01-13T20:32:59Z</dcterms:created>
  <dcterms:modified xsi:type="dcterms:W3CDTF">2026-05-25T03:02:04Z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0x010100A3BF018E9C2B114B946D2A2E7C201C83</vt:lpwstr>
  </property>
  <property fmtid="{D5CDD505-2E9C-101B-9397-08002B2CF9AE}" pid="3" name="MediaServiceImageTags">
    <vt:lpwstr/>
  </property>
</Properties>
</file>