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3"/>
  </p:notesMasterIdLst>
  <p:handoutMasterIdLst>
    <p:handoutMasterId r:id="rId24"/>
  </p:handoutMasterIdLst>
  <p:sldIdLst>
    <p:sldId id="262" r:id="rId5"/>
    <p:sldId id="362" r:id="rId6"/>
    <p:sldId id="327" r:id="rId7"/>
    <p:sldId id="320" r:id="rId8"/>
    <p:sldId id="307" r:id="rId9"/>
    <p:sldId id="363" r:id="rId10"/>
    <p:sldId id="357" r:id="rId11"/>
    <p:sldId id="358" r:id="rId12"/>
    <p:sldId id="359" r:id="rId13"/>
    <p:sldId id="360" r:id="rId14"/>
    <p:sldId id="361" r:id="rId15"/>
    <p:sldId id="332" r:id="rId16"/>
    <p:sldId id="319" r:id="rId17"/>
    <p:sldId id="318" r:id="rId18"/>
    <p:sldId id="273" r:id="rId19"/>
    <p:sldId id="325" r:id="rId20"/>
    <p:sldId id="343" r:id="rId21"/>
    <p:sldId id="32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80" userDrawn="1">
          <p15:clr>
            <a:srgbClr val="A4A3A4"/>
          </p15:clr>
        </p15:guide>
        <p15:guide id="5" orient="horz" pos="3696" userDrawn="1">
          <p15:clr>
            <a:srgbClr val="A4A3A4"/>
          </p15:clr>
        </p15:guide>
        <p15:guide id="6" pos="4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D5E3"/>
    <a:srgbClr val="1313FF"/>
    <a:srgbClr val="FF1111"/>
    <a:srgbClr val="0000FE"/>
    <a:srgbClr val="FE0000"/>
    <a:srgbClr val="BE0ABD"/>
    <a:srgbClr val="DE10B9"/>
    <a:srgbClr val="030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4"/>
    <p:restoredTop sz="96327"/>
  </p:normalViewPr>
  <p:slideViewPr>
    <p:cSldViewPr snapToGrid="0" snapToObjects="1">
      <p:cViewPr varScale="1">
        <p:scale>
          <a:sx n="59" d="100"/>
          <a:sy n="59" d="100"/>
        </p:scale>
        <p:origin x="1024" y="52"/>
      </p:cViewPr>
      <p:guideLst>
        <p:guide pos="480"/>
        <p:guide orient="horz" pos="3696"/>
        <p:guide pos="422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BF996D-81CD-24F2-4208-1434413FDF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FC300-5CC2-DA2F-D2AE-6E6388192D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98C99-694C-5644-BD12-D569D5F9E70C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5A97B-4CC9-C2B2-1DD2-947F9701DE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51D4D-51DC-1CF5-63ED-EB53320584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E6B2F-4F99-F84D-9DAC-E51171C21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744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7ADCB-635E-0D41-B235-4FD67CF7CC7E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9E44-D13C-C54E-8DA3-DB5207EAD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2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eft phot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4012D7-C34B-1398-8A79-B99B084FF86D}"/>
              </a:ext>
            </a:extLst>
          </p:cNvPr>
          <p:cNvSpPr/>
          <p:nvPr userDrawn="1"/>
        </p:nvSpPr>
        <p:spPr>
          <a:xfrm>
            <a:off x="0" y="0"/>
            <a:ext cx="404368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3BC4A-607B-9C33-C3E1-76099F265F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8988" y="1311274"/>
            <a:ext cx="6423025" cy="1500187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45FE34-DBB4-7144-614C-50F865D985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8988" y="3448878"/>
            <a:ext cx="5697537" cy="706438"/>
          </a:xfrm>
        </p:spPr>
        <p:txBody>
          <a:bodyPr>
            <a:normAutofit/>
          </a:bodyPr>
          <a:lstStyle>
            <a:lvl1pPr marL="0" indent="0">
              <a:buNone/>
              <a:defRPr sz="24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2F890BE-658A-59E0-D180-DAEDCD4DDB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44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6E9CAC-1B7C-D0E4-3757-6ECEC90FEC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97844" y="5659438"/>
            <a:ext cx="3074987" cy="593725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170646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eft photo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A593C7-BA47-FC44-857F-64A0886F85B2}"/>
              </a:ext>
            </a:extLst>
          </p:cNvPr>
          <p:cNvSpPr/>
          <p:nvPr userDrawn="1"/>
        </p:nvSpPr>
        <p:spPr>
          <a:xfrm>
            <a:off x="4044496" y="0"/>
            <a:ext cx="8322057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C202747-3258-FD08-6F6E-5C5534E168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8988" y="1311274"/>
            <a:ext cx="6423025" cy="1500187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5C2B047-130C-DCE5-FCD4-516F9299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98988" y="3448878"/>
            <a:ext cx="5697537" cy="706438"/>
          </a:xfrm>
        </p:spPr>
        <p:txBody>
          <a:bodyPr>
            <a:normAutofit/>
          </a:bodyPr>
          <a:lstStyle>
            <a:lvl1pPr marL="0" indent="0">
              <a:buNone/>
              <a:defRPr sz="24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algn="l"/>
            <a:r>
              <a:rPr lang="en-US" dirty="0"/>
              <a:t>Presentation subtitle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C7D1017-C174-5995-B134-9C0767CFDE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44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BBB0B30-5630-075B-536D-C785F63CAE2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97844" y="5659438"/>
            <a:ext cx="3074987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08900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with name and 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 userDrawn="1"/>
        </p:nvSpPr>
        <p:spPr>
          <a:xfrm>
            <a:off x="0" y="0"/>
            <a:ext cx="404368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44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8988" y="1311274"/>
            <a:ext cx="6423025" cy="1500187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8988" y="3471040"/>
            <a:ext cx="5732462" cy="879475"/>
          </a:xfrm>
        </p:spPr>
        <p:txBody>
          <a:bodyPr>
            <a:normAutofit/>
          </a:bodyPr>
          <a:lstStyle>
            <a:lvl1pPr marL="0" indent="0">
              <a:buNone/>
              <a:defRPr sz="15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98988" y="3162300"/>
            <a:ext cx="5554662" cy="266700"/>
          </a:xfrm>
        </p:spPr>
        <p:txBody>
          <a:bodyPr>
            <a:normAutofit/>
          </a:bodyPr>
          <a:lstStyle>
            <a:lvl1pPr marL="0" indent="0">
              <a:buNone/>
              <a:defRPr sz="1200" b="0" i="0" spc="300"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7EBB38DD-BEEE-0800-08EF-1371600DA7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97844" y="5659438"/>
            <a:ext cx="3074987" cy="593725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78665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with name and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328A0A-C662-74EC-D228-434B49036BF5}"/>
              </a:ext>
            </a:extLst>
          </p:cNvPr>
          <p:cNvSpPr/>
          <p:nvPr userDrawn="1"/>
        </p:nvSpPr>
        <p:spPr>
          <a:xfrm>
            <a:off x="4044950" y="0"/>
            <a:ext cx="814705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27BA40FD-F3BD-03E1-4F9A-24F5093BF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44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AE731-F2CF-F141-4254-D13FFBB02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8988" y="1311274"/>
            <a:ext cx="6423025" cy="1500187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Cover slide 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926FA2-06C0-DF0E-0BE4-60126FAB68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98988" y="3471040"/>
            <a:ext cx="5732462" cy="879475"/>
          </a:xfrm>
        </p:spPr>
        <p:txBody>
          <a:bodyPr>
            <a:normAutofit/>
          </a:bodyPr>
          <a:lstStyle>
            <a:lvl1pPr marL="0" indent="0">
              <a:buNone/>
              <a:defRPr sz="15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Position title or role, Presenting Organization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92629E-BF76-30D0-FEAC-BDCA393C87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98988" y="3162300"/>
            <a:ext cx="5554662" cy="266700"/>
          </a:xfrm>
        </p:spPr>
        <p:txBody>
          <a:bodyPr>
            <a:normAutofit/>
          </a:bodyPr>
          <a:lstStyle>
            <a:lvl1pPr marL="0" indent="0">
              <a:buNone/>
              <a:defRPr sz="1200" b="0" i="0" spc="30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A4EAA61-1FFD-8A28-7DC9-38D365F35F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97844" y="5659438"/>
            <a:ext cx="3074987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41732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cov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1CD429-F4CB-F003-36B2-E9B184B82220}"/>
              </a:ext>
            </a:extLst>
          </p:cNvPr>
          <p:cNvSpPr/>
          <p:nvPr userDrawn="1"/>
        </p:nvSpPr>
        <p:spPr>
          <a:xfrm>
            <a:off x="0" y="0"/>
            <a:ext cx="404368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44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575" y="798513"/>
            <a:ext cx="6719888" cy="2095500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00575" y="3770536"/>
            <a:ext cx="5554662" cy="242455"/>
          </a:xfrm>
        </p:spPr>
        <p:txBody>
          <a:bodyPr>
            <a:normAutofit/>
          </a:bodyPr>
          <a:lstStyle>
            <a:lvl1pPr marL="0" indent="0">
              <a:buNone/>
              <a:defRPr sz="1200" b="0" i="0" spc="30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0575" y="4089991"/>
            <a:ext cx="5732462" cy="799523"/>
          </a:xfrm>
        </p:spPr>
        <p:txBody>
          <a:bodyPr>
            <a:normAutofit/>
          </a:bodyPr>
          <a:lstStyle>
            <a:lvl1pPr marL="0" indent="0">
              <a:spcBef>
                <a:spcPts val="400"/>
              </a:spcBef>
              <a:buNone/>
              <a:defRPr sz="1500" b="0" i="1">
                <a:solidFill>
                  <a:schemeClr val="tx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59BF377-5E44-BE06-8775-337EAEF61CE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97844" y="5659438"/>
            <a:ext cx="3074987" cy="593725"/>
          </a:xfrm>
        </p:spPr>
        <p:txBody>
          <a:bodyPr/>
          <a:lstStyle/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4035474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cov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724A1A-CCB3-3518-BE27-F5984904B7DC}"/>
              </a:ext>
            </a:extLst>
          </p:cNvPr>
          <p:cNvSpPr/>
          <p:nvPr userDrawn="1"/>
        </p:nvSpPr>
        <p:spPr>
          <a:xfrm>
            <a:off x="4044950" y="0"/>
            <a:ext cx="8147050" cy="69088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A55F96EC-D597-7562-3262-77679926DF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44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E9B22-AD31-D302-D772-54D1A8A36F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575" y="798513"/>
            <a:ext cx="6719888" cy="2095500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Cover slide presentation with a very very long technical presentation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0F99ADC-4D70-B1D8-5F00-F94A620E0C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00575" y="3770536"/>
            <a:ext cx="5554662" cy="242455"/>
          </a:xfrm>
        </p:spPr>
        <p:txBody>
          <a:bodyPr>
            <a:normAutofit/>
          </a:bodyPr>
          <a:lstStyle>
            <a:lvl1pPr marL="0" indent="0">
              <a:buNone/>
              <a:defRPr sz="1200" b="0" i="0" spc="30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ALL CAPS • PRESENTER NAME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601721B-BCB8-3974-44B8-CA35E119B6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00575" y="4089991"/>
            <a:ext cx="5732462" cy="799523"/>
          </a:xfrm>
        </p:spPr>
        <p:txBody>
          <a:bodyPr>
            <a:normAutofit/>
          </a:bodyPr>
          <a:lstStyle>
            <a:lvl1pPr marL="0" indent="0">
              <a:spcBef>
                <a:spcPts val="400"/>
              </a:spcBef>
              <a:buNone/>
              <a:defRPr sz="1500" b="0" i="1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/>
              <a:t>Title of initiative, program, or event • Date</a:t>
            </a:r>
          </a:p>
          <a:p>
            <a:pPr lvl="0"/>
            <a:r>
              <a:rPr lang="en-US" dirty="0"/>
              <a:t>Name of Organization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CC580FFC-C5B2-0684-3CBB-DC4EEDE81B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97844" y="5659438"/>
            <a:ext cx="3074987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34858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2340" y="5223671"/>
            <a:ext cx="4261966" cy="58091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YaleNew" panose="02000602050000020003" pitchFamily="2" charset="77"/>
              </a:defRPr>
            </a:lvl1pPr>
          </a:lstStyle>
          <a:p>
            <a:pPr lvl="0"/>
            <a:r>
              <a:rPr lang="en-US" dirty="0">
                <a:latin typeface="YaleNew" panose="02000602050000020003" pitchFamily="2" charset="77"/>
              </a:rPr>
              <a:t>Years in service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62340" y="1031789"/>
            <a:ext cx="7555798" cy="3741008"/>
          </a:xfrm>
        </p:spPr>
        <p:txBody>
          <a:bodyPr>
            <a:noAutofit/>
          </a:bodyPr>
          <a:lstStyle>
            <a:lvl1pPr marL="0" indent="0">
              <a:buNone/>
              <a:defRPr sz="30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05366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9B7685-F0D7-A4A4-7FEE-87EC0F8B00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2261588"/>
            <a:ext cx="9144000" cy="2050920"/>
          </a:xfrm>
        </p:spPr>
        <p:txBody>
          <a:bodyPr>
            <a:normAutofit/>
          </a:bodyPr>
          <a:lstStyle>
            <a:lvl1pPr marL="0" indent="0" algn="ctr">
              <a:buNone/>
              <a:defRPr sz="1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Creativity</a:t>
            </a:r>
          </a:p>
        </p:txBody>
      </p:sp>
    </p:spTree>
    <p:extLst>
      <p:ext uri="{BB962C8B-B14F-4D97-AF65-F5344CB8AC3E}">
        <p14:creationId xmlns:p14="http://schemas.microsoft.com/office/powerpoint/2010/main" val="2885032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899A24-6ACD-B248-AC77-11A666B28F00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72E48-7EA6-BB05-C9C4-5A1F78059A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8975" y="2848085"/>
            <a:ext cx="4371975" cy="20812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401732-1E15-607D-80DF-3CF638B48F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4396" y="1510968"/>
            <a:ext cx="3504488" cy="94845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43127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2F1AAC9-4F60-02BD-E5F4-1F8F7A47F0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8975" y="2848085"/>
            <a:ext cx="4371975" cy="208121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922E5-6D0E-6630-2922-4DC2DD4DB6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4396" y="1510968"/>
            <a:ext cx="3504488" cy="94845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035244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8E10B3-AFE6-E347-AEEE-4B4703F602C0}"/>
              </a:ext>
            </a:extLst>
          </p:cNvPr>
          <p:cNvSpPr/>
          <p:nvPr userDrawn="1"/>
        </p:nvSpPr>
        <p:spPr>
          <a:xfrm>
            <a:off x="-72190" y="0"/>
            <a:ext cx="12438743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9AC403C-F0A0-F03D-EBDC-35B8BB74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4395" y="1605561"/>
            <a:ext cx="6205645" cy="94845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565F177-92CA-432B-9472-0C21EB878F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2924" y="3185056"/>
            <a:ext cx="5554662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44453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49C516D-A9DC-5D45-9B68-81750F393EBE}"/>
              </a:ext>
            </a:extLst>
          </p:cNvPr>
          <p:cNvSpPr/>
          <p:nvPr userDrawn="1"/>
        </p:nvSpPr>
        <p:spPr>
          <a:xfrm>
            <a:off x="-72190" y="0"/>
            <a:ext cx="12438743" cy="6858000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58114D9-B3B6-2E94-AE63-D6764795D7B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04395" y="1605561"/>
            <a:ext cx="6205645" cy="94845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1D95BE9-B16F-CB2D-0092-DEFACC73D2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2924" y="3185056"/>
            <a:ext cx="5554662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93406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192BDC-4E51-A739-11CF-739234B25C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8313" y="728663"/>
            <a:ext cx="7345362" cy="5454650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</a:lstStyle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. Cras </a:t>
            </a:r>
            <a:r>
              <a:rPr lang="en-US" baseline="0" dirty="0" err="1">
                <a:solidFill>
                  <a:schemeClr val="tx1"/>
                </a:solidFill>
              </a:rPr>
              <a:t>eu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urna</a:t>
            </a:r>
            <a:r>
              <a:rPr lang="en-US" baseline="0" dirty="0">
                <a:solidFill>
                  <a:schemeClr val="tx1"/>
                </a:solidFill>
              </a:rPr>
              <a:t> semper </a:t>
            </a:r>
            <a:r>
              <a:rPr lang="en-US" baseline="0" dirty="0" err="1">
                <a:solidFill>
                  <a:schemeClr val="tx1"/>
                </a:solidFill>
              </a:rPr>
              <a:t>mauris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viverra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sollicitudin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lnSpc>
                <a:spcPts val="3660"/>
              </a:lnSpc>
              <a:buNone/>
            </a:pPr>
            <a:r>
              <a:rPr lang="en-US" baseline="0" dirty="0">
                <a:solidFill>
                  <a:schemeClr val="tx1"/>
                </a:solidFill>
              </a:rPr>
              <a:t>Lorem ipsum dolor sit </a:t>
            </a:r>
            <a:r>
              <a:rPr lang="en-US" baseline="0" dirty="0" err="1">
                <a:solidFill>
                  <a:schemeClr val="tx1"/>
                </a:solidFill>
              </a:rPr>
              <a:t>amet</a:t>
            </a:r>
            <a:r>
              <a:rPr lang="en-US" baseline="0" dirty="0">
                <a:solidFill>
                  <a:schemeClr val="tx1"/>
                </a:solidFill>
              </a:rPr>
              <a:t>, </a:t>
            </a:r>
            <a:r>
              <a:rPr lang="en-US" baseline="0" dirty="0" err="1">
                <a:solidFill>
                  <a:schemeClr val="tx1"/>
                </a:solidFill>
              </a:rPr>
              <a:t>consectetur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adipiscing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elit</a:t>
            </a:r>
            <a:r>
              <a:rPr lang="en-US" baseline="0" dirty="0">
                <a:solidFill>
                  <a:schemeClr val="tx1"/>
                </a:solidFill>
              </a:rPr>
              <a:t>, sed do </a:t>
            </a:r>
            <a:r>
              <a:rPr lang="en-US" baseline="0" dirty="0" err="1">
                <a:solidFill>
                  <a:schemeClr val="tx1"/>
                </a:solidFill>
              </a:rPr>
              <a:t>eiusmod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tempor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incididunt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 dirty="0" err="1">
                <a:solidFill>
                  <a:schemeClr val="tx1"/>
                </a:solidFill>
              </a:rPr>
              <a:t>ut</a:t>
            </a:r>
            <a:r>
              <a:rPr lang="en-US" baseline="0" dirty="0">
                <a:solidFill>
                  <a:schemeClr val="tx1"/>
                </a:solidFill>
              </a:rPr>
              <a:t> labore et dolore magna </a:t>
            </a:r>
            <a:r>
              <a:rPr lang="en-US" baseline="0" dirty="0" err="1">
                <a:solidFill>
                  <a:schemeClr val="tx1"/>
                </a:solidFill>
              </a:rPr>
              <a:t>aliqua</a:t>
            </a:r>
            <a:r>
              <a:rPr lang="en-US" baseline="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69745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tex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833FB3-78F2-8EE5-5D7E-386CC5C1C4C3}"/>
              </a:ext>
            </a:extLst>
          </p:cNvPr>
          <p:cNvSpPr/>
          <p:nvPr userDrawn="1"/>
        </p:nvSpPr>
        <p:spPr>
          <a:xfrm>
            <a:off x="-72190" y="0"/>
            <a:ext cx="12438743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969DC-FE00-0D81-861C-0F8D67995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A289E2F-7B17-CDF7-9C5B-CF24051E6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0D16D6-D370-970C-B020-29B70939DD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78923" y="714619"/>
            <a:ext cx="7303477" cy="5534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Cras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 semper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192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pictur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6C80356F-7DFD-D44A-96E1-8BFB5F538910}"/>
              </a:ext>
            </a:extLst>
          </p:cNvPr>
          <p:cNvSpPr txBox="1">
            <a:spLocks/>
          </p:cNvSpPr>
          <p:nvPr userDrawn="1"/>
        </p:nvSpPr>
        <p:spPr>
          <a:xfrm>
            <a:off x="522931" y="3205992"/>
            <a:ext cx="3005995" cy="317387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b="1" i="0" kern="1200" spc="300" baseline="0">
                <a:solidFill>
                  <a:schemeClr val="tx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457200" indent="0" algn="ctr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chemeClr val="bg1"/>
                </a:solidFill>
              </a:rPr>
              <a:t>SUBTITLE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C8055-4C29-C92C-ED62-6007DF39BF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47744" y="0"/>
            <a:ext cx="8144256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3DA251B-99F5-9F4C-411B-A2A9EECF40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497157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D2426A9-12C0-BD8C-0F81-78F68F7648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175708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C19243-FD55-0C4B-85ED-C961C8BBE12B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748675B-48D6-79E2-5C34-D4B438BAC4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8D125-6703-D6A3-E599-4C3C1DC563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1C18EDC-9FCD-1109-ADAE-E5F5E5125E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3400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imag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E013-4D5E-B145-9B9B-C9D39954A54D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10C2358D-A18B-3E8F-ED7E-29A949F0E3A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1051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E6908-3247-AFD5-143D-788E8233F1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B39C0D-A644-8ACE-91C2-0360C6765C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39538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two image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34353B-58DB-AD4D-87DC-EFED0AB27ED7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897CA89-5748-AA20-F723-272588182E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51857" y="0"/>
            <a:ext cx="4028391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F501650-0634-F4E8-C690-366D8B3F490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63609" y="0"/>
            <a:ext cx="4028391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FD59C3F-0AF2-0444-1D15-46D26738AF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EB04A69-8814-A535-C9A3-245911686F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10185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with two image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00A879-F7DC-0A4E-B19F-11E2B3030DA6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8198D753-C590-40D3-8E45-348754FA7B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51857" y="0"/>
            <a:ext cx="4028391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E45C83D-F071-E727-7301-0D5888B9EF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63609" y="0"/>
            <a:ext cx="4028391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7536E48-9B1E-2FA0-2DE1-0E3FEA03DE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9F18EE0-F9FA-D8F4-07DD-3656B4BCFC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368399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B4C11385-65BF-8528-422D-FCC44203E7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51857" y="0"/>
            <a:ext cx="4028391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45F8A8-299F-3198-D2B8-0F1B9A7A5B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63609" y="0"/>
            <a:ext cx="4028391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1D31A01-605A-E333-95CB-3884502B66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966439" cy="6858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549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4592B32-C73A-DA59-9DFB-C56900E22B9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51857" y="0"/>
            <a:ext cx="4028391" cy="23774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25C02FF-184F-B181-FF38-6A2EC69DA8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51857" y="2450590"/>
            <a:ext cx="4028391" cy="44074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323BCDF-9792-02C5-8366-1F44FD198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63609" y="-1"/>
            <a:ext cx="4028391" cy="44074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649D1614-E51C-F898-5162-9A5553F55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59496" y="4480558"/>
            <a:ext cx="4028391" cy="23774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C22723B-A2CC-BF98-A503-023DEB3CA6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2637726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C8192F7-7296-ABF5-B5CD-CB65E66102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984" y="3185056"/>
            <a:ext cx="263409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8180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cture masonry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5C1A75-6308-7342-BD74-E48BCE51672A}"/>
              </a:ext>
            </a:extLst>
          </p:cNvPr>
          <p:cNvSpPr/>
          <p:nvPr userDrawn="1"/>
        </p:nvSpPr>
        <p:spPr>
          <a:xfrm>
            <a:off x="-123371" y="0"/>
            <a:ext cx="12315372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8422083-4751-5AA8-E783-DA89DED6E3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51857" y="0"/>
            <a:ext cx="4028391" cy="23774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A4E33C0-821E-A556-8227-50870BD882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51857" y="2450590"/>
            <a:ext cx="4028391" cy="44074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F7C4F6-1119-9262-0FCE-88497A31EE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63609" y="-1"/>
            <a:ext cx="4028391" cy="44074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39167-112A-7A21-6F14-F26D555A63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59496" y="4480558"/>
            <a:ext cx="4028391" cy="23774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AFAD965-AB10-FFFE-CB0A-8CB37E8536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2637726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A1575509-F87E-CB41-0A52-7C509E5DEB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984" y="3185056"/>
            <a:ext cx="263409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01526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cture masonry gallery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135157-004F-A94C-A322-613CD2EC1051}"/>
              </a:ext>
            </a:extLst>
          </p:cNvPr>
          <p:cNvSpPr/>
          <p:nvPr userDrawn="1"/>
        </p:nvSpPr>
        <p:spPr>
          <a:xfrm>
            <a:off x="-123371" y="0"/>
            <a:ext cx="12315372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21AECD-1676-374F-891A-7D1F5B7C1FF1}"/>
              </a:ext>
            </a:extLst>
          </p:cNvPr>
          <p:cNvSpPr txBox="1">
            <a:spLocks/>
          </p:cNvSpPr>
          <p:nvPr userDrawn="1"/>
        </p:nvSpPr>
        <p:spPr>
          <a:xfrm>
            <a:off x="4047744" y="0"/>
            <a:ext cx="4032504" cy="2377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184FFA9-4D24-314E-9F1A-E0C3413EF5CC}"/>
              </a:ext>
            </a:extLst>
          </p:cNvPr>
          <p:cNvSpPr txBox="1">
            <a:spLocks/>
          </p:cNvSpPr>
          <p:nvPr userDrawn="1"/>
        </p:nvSpPr>
        <p:spPr>
          <a:xfrm>
            <a:off x="4047744" y="2450592"/>
            <a:ext cx="4032504" cy="4407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Insert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857D0D-7103-7840-940D-D6493A32F3B7}"/>
              </a:ext>
            </a:extLst>
          </p:cNvPr>
          <p:cNvSpPr txBox="1">
            <a:spLocks/>
          </p:cNvSpPr>
          <p:nvPr userDrawn="1"/>
        </p:nvSpPr>
        <p:spPr>
          <a:xfrm>
            <a:off x="8159496" y="0"/>
            <a:ext cx="4032504" cy="44074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Insert Picture</a:t>
            </a:r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14FCBAA-562E-7C44-BB5B-DB6D86790C70}"/>
              </a:ext>
            </a:extLst>
          </p:cNvPr>
          <p:cNvSpPr txBox="1">
            <a:spLocks/>
          </p:cNvSpPr>
          <p:nvPr userDrawn="1"/>
        </p:nvSpPr>
        <p:spPr>
          <a:xfrm>
            <a:off x="8159496" y="4480560"/>
            <a:ext cx="4032504" cy="23774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Insert Picture</a:t>
            </a:r>
            <a:endParaRPr lang="en-US" dirty="0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FA95BD7-ECC8-3CF5-46CC-EAC4D493A8A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51857" y="0"/>
            <a:ext cx="4028391" cy="23774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0082CE22-636C-E06A-BA39-2197CF8208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51857" y="2450590"/>
            <a:ext cx="4028391" cy="440740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3E8AF0C2-C040-C234-81A2-F6B4F5E94C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63609" y="-1"/>
            <a:ext cx="4028391" cy="44074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7F8D38-51A9-0310-7EDA-82665351C6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59496" y="4480558"/>
            <a:ext cx="4028391" cy="23774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AF3B9AA-1EB9-B895-13DD-6E53D199B9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2637726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926DF91-CB93-BE75-6714-50E45D53D2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984" y="3185056"/>
            <a:ext cx="263409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678313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picture masonry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44407F55-9F8B-CFB8-1B4D-DFE77B68F3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51857" y="0"/>
            <a:ext cx="2656557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B8061204-7764-E2D1-7AAA-B10D9B6ECA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51857" y="3486148"/>
            <a:ext cx="2646971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0DBCDF1-021A-7BE3-B53A-887126B88D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26468" y="7748"/>
            <a:ext cx="2609407" cy="165223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B3E7A70-BD34-1297-5064-EBE5BB5009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26468" y="1750823"/>
            <a:ext cx="2609407" cy="33708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C618F24-A1FF-DEFE-48FC-DFADF3AB1D9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26468" y="5212481"/>
            <a:ext cx="2609407" cy="16377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52794C9F-4857-8416-D697-D8A5BD1DC5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47706" y="-6350"/>
            <a:ext cx="2656557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B71335A9-56CA-C44E-C210-7A39320CAFC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7706" y="3479798"/>
            <a:ext cx="2646971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BF1712F-3EDE-9144-C8B3-D9515E447D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2637726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9E771D9-2182-0886-CF5C-F9E6A91B8A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7984" y="3185056"/>
            <a:ext cx="3044002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6387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cture grid galler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CD52250D-592A-6A0E-2EC4-348B240C19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51857" y="0"/>
            <a:ext cx="4027215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C98FAF4C-C5F8-CD7C-AD17-DBEE12CD81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51857" y="3486148"/>
            <a:ext cx="4027215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1A4A5ECA-F9C5-C40F-CBDD-C2AAD668B0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66657" y="659"/>
            <a:ext cx="4027215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D35514F-BA11-3F45-D395-B82E2401388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6657" y="3486807"/>
            <a:ext cx="4027215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860381D-CFDD-5C2B-95C0-FDF866D49D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2637726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48BE400-0752-DB82-2E62-48BFF7662F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7984" y="3185056"/>
            <a:ext cx="263409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98113E-11D6-5C45-FA05-F78F2430D9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288" y="5805488"/>
            <a:ext cx="3135312" cy="6572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562893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cture grid galler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7A8331-D128-874B-B3ED-BD87C5E97539}"/>
              </a:ext>
            </a:extLst>
          </p:cNvPr>
          <p:cNvSpPr/>
          <p:nvPr userDrawn="1"/>
        </p:nvSpPr>
        <p:spPr>
          <a:xfrm>
            <a:off x="-123372" y="0"/>
            <a:ext cx="12438743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F0F530B-4EF3-F06D-7C39-8B4C027B7C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2637726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20A1CBE-9A9E-ECA7-49BE-FE318748B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263409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431044A-4E40-179C-2D74-8024D764A5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288" y="5805488"/>
            <a:ext cx="3135312" cy="6572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Caption here. Cras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non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 </a:t>
            </a:r>
            <a:r>
              <a:rPr lang="en-US" dirty="0" err="1"/>
              <a:t>velit</a:t>
            </a:r>
            <a:r>
              <a:rPr lang="en-US" dirty="0"/>
              <a:t>. Ut vitae </a:t>
            </a:r>
            <a:r>
              <a:rPr lang="en-US" dirty="0" err="1"/>
              <a:t>faucibus</a:t>
            </a:r>
            <a:r>
              <a:rPr lang="en-US" dirty="0"/>
              <a:t> sem. Donec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dui id </a:t>
            </a:r>
            <a:r>
              <a:rPr lang="en-US" dirty="0" err="1"/>
              <a:t>blandit</a:t>
            </a:r>
            <a:r>
              <a:rPr lang="en-US" dirty="0"/>
              <a:t>. Nunc id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, vel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.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EF666DE-CFCE-6517-DB0D-87B619E3A9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51857" y="0"/>
            <a:ext cx="4027215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16E47F64-FDB8-75A5-571A-DB61DF42A9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51857" y="3486148"/>
            <a:ext cx="4027215" cy="337820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6083478-C30F-4A21-5465-504D79F8D1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66657" y="659"/>
            <a:ext cx="4027215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4F0E9131-8E74-EEF0-F364-C7C5994FC9E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66657" y="3486807"/>
            <a:ext cx="4027215" cy="33782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745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0111290-CC74-3548-11A3-BC4FE157A7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2637726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5AF8CE4-00E5-F4D3-F0FB-8BBC9E95D9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263409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2B614F79-8C3E-9B7F-136C-46CBA04CA3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1051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B95CA1E-138F-AC2C-954E-572D8B3ED2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469" y="6003579"/>
            <a:ext cx="3035300" cy="4508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7066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with sub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27C2AB-62FC-D444-BDA2-B209A9D810D8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750BC7C-018E-2D04-5C75-24EE70C9F2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2637726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Gallery page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7C36B33-7438-E96F-1BC4-32AA585A0C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263409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50FE3F16-A821-B3A7-DC00-E9D27FF81F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1051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DE249EE8-08AE-FE5A-918B-0D489684FA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469" y="6003579"/>
            <a:ext cx="3035300" cy="4508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8948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 with sub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18184268-5606-D44B-BBA8-30AB93286F51}"/>
              </a:ext>
            </a:extLst>
          </p:cNvPr>
          <p:cNvSpPr txBox="1">
            <a:spLocks/>
          </p:cNvSpPr>
          <p:nvPr userDrawn="1"/>
        </p:nvSpPr>
        <p:spPr>
          <a:xfrm>
            <a:off x="4498848" y="877824"/>
            <a:ext cx="7289574" cy="4632735"/>
          </a:xfrm>
          <a:prstGeom prst="rect">
            <a:avLst/>
          </a:prstGeom>
        </p:spPr>
        <p:txBody>
          <a:bodyPr anchor="t" anchorCtr="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3660"/>
              </a:lnSpc>
            </a:pP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505AF5D-C9EB-1385-8ECB-1F6580D758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52198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BD08D64C-5295-E9C3-4851-5BB45DBB18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1CF9824-8975-E2D2-BA96-BE94AD2223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78313" y="712788"/>
            <a:ext cx="7251700" cy="545623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68378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6D7331-1A41-704A-B826-EDF4031A20D5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4AA95B1-1DE6-4557-AE9D-D95D364440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925644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E5C5303-4DAA-0E22-F5FD-F9E6D4B3B89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30712" y="984739"/>
            <a:ext cx="7251700" cy="507877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97564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F0AB2C-A2ED-E145-8078-D59ED5D19462}"/>
              </a:ext>
            </a:extLst>
          </p:cNvPr>
          <p:cNvSpPr/>
          <p:nvPr userDrawn="1"/>
        </p:nvSpPr>
        <p:spPr>
          <a:xfrm>
            <a:off x="-65315" y="0"/>
            <a:ext cx="12438743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A1E5718-7B62-CFA0-6BF2-E1C0B96059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925644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F3E70E3-26EC-6C80-2E56-4776406359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2497" y="984739"/>
            <a:ext cx="7251700" cy="50787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71053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A4445C-B3FB-124F-929E-2B7DA477FDD0}"/>
              </a:ext>
            </a:extLst>
          </p:cNvPr>
          <p:cNvSpPr/>
          <p:nvPr userDrawn="1"/>
        </p:nvSpPr>
        <p:spPr>
          <a:xfrm>
            <a:off x="-65315" y="0"/>
            <a:ext cx="12438743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4EA037-B19B-0E01-460A-8A873D5259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478952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Presentation section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6B25A33-D6AC-2644-7678-0677724F15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0E405D1-0296-1352-0B27-EB91D9A9EE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2497" y="984739"/>
            <a:ext cx="7251700" cy="50787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14440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left pictur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A4375E-E973-8F60-5CBC-E9EA62B2C461}"/>
              </a:ext>
            </a:extLst>
          </p:cNvPr>
          <p:cNvSpPr/>
          <p:nvPr userDrawn="1"/>
        </p:nvSpPr>
        <p:spPr>
          <a:xfrm>
            <a:off x="4043678" y="0"/>
            <a:ext cx="8148322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B8CFB99D-819D-633A-9F7C-E599C01C5F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2497" y="984739"/>
            <a:ext cx="7251700" cy="507877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8D8149A3-F59D-BE75-AB5C-D86EC6C32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494625"/>
            <a:ext cx="4043679" cy="4363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7619B55-6525-D80A-7008-E0C00F21DE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851504"/>
            <a:ext cx="3034570" cy="1261075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88548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648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left pict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3D7CC-30F1-554F-B990-08AAED526E21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4111BCE-BDA9-2B6D-9928-BE641176BD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851504"/>
            <a:ext cx="3034570" cy="1261075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D7F3FB8-60AA-403E-F103-7D674AC277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63053" y="972382"/>
            <a:ext cx="7251700" cy="5078779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B9CA651-4D6A-D64A-891D-DE26EF9669F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494625"/>
            <a:ext cx="4043679" cy="43633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1797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DB7183-A032-FB4E-90D2-92557AEC5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DDD2F4-5298-29C7-EDE0-1151A4AF90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273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on blue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ndoor, arch, colonnade&#10;&#10;Description automatically generated">
            <a:extLst>
              <a:ext uri="{FF2B5EF4-FFF2-40B4-BE49-F238E27FC236}">
                <a16:creationId xmlns:a16="http://schemas.microsoft.com/office/drawing/2014/main" id="{0D398ABC-CE4E-8B4C-B1EE-EC4257E995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2669" y="1135138"/>
            <a:ext cx="7850824" cy="4415270"/>
          </a:xfrm>
          <a:prstGeom prst="rect">
            <a:avLst/>
          </a:prstGeom>
        </p:spPr>
      </p:pic>
      <p:pic>
        <p:nvPicPr>
          <p:cNvPr id="6" name="Picture 5" descr="A person sitting on a ledge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9237F60B-15B0-3B4A-8ECB-58E5CFD4C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41665" y="1135138"/>
            <a:ext cx="2807208" cy="4419714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5DE1E-D4D3-4B08-4216-86AC36FC64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2775" y="1135063"/>
            <a:ext cx="7850188" cy="441483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DA54E1E-53AE-BE19-DEE3-14D0FB6718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42363" y="1135063"/>
            <a:ext cx="2806700" cy="441483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645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rectangle on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 classroom&#10;&#10;Description automatically generated with low confidence">
            <a:extLst>
              <a:ext uri="{FF2B5EF4-FFF2-40B4-BE49-F238E27FC236}">
                <a16:creationId xmlns:a16="http://schemas.microsoft.com/office/drawing/2014/main" id="{4BDB933F-3F67-634A-B239-7E149523FB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"/>
            <a:ext cx="12188932" cy="6857990"/>
          </a:xfrm>
          <a:prstGeom prst="rect">
            <a:avLst/>
          </a:prstGeom>
        </p:spPr>
      </p:pic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AAF9DD7-0F2C-6B3A-F6A3-CE56435067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2A1C5A-EAA4-F642-B1CA-508C2469F921}"/>
              </a:ext>
            </a:extLst>
          </p:cNvPr>
          <p:cNvSpPr/>
          <p:nvPr userDrawn="1"/>
        </p:nvSpPr>
        <p:spPr>
          <a:xfrm>
            <a:off x="3758184" y="4606927"/>
            <a:ext cx="8433816" cy="125272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22E79-1B97-56A7-B228-A90078FFB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67200" y="5005754"/>
            <a:ext cx="7608888" cy="53926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; </a:t>
            </a:r>
            <a:r>
              <a:rPr lang="en-US" dirty="0" err="1"/>
              <a:t>adipisting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70244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t lis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04CEBEF-039C-DC43-B83D-ED7E1BFAEDEC}"/>
              </a:ext>
            </a:extLst>
          </p:cNvPr>
          <p:cNvSpPr/>
          <p:nvPr userDrawn="1"/>
        </p:nvSpPr>
        <p:spPr>
          <a:xfrm>
            <a:off x="4447852" y="782375"/>
            <a:ext cx="608463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F85D7B-BBEB-4643-A97C-6FF4E2941595}"/>
              </a:ext>
            </a:extLst>
          </p:cNvPr>
          <p:cNvSpPr/>
          <p:nvPr userDrawn="1"/>
        </p:nvSpPr>
        <p:spPr>
          <a:xfrm>
            <a:off x="4447852" y="2602241"/>
            <a:ext cx="608463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66C9B41-C20D-8348-88FC-E3ECC4B45F77}"/>
              </a:ext>
            </a:extLst>
          </p:cNvPr>
          <p:cNvSpPr/>
          <p:nvPr userDrawn="1"/>
        </p:nvSpPr>
        <p:spPr>
          <a:xfrm>
            <a:off x="4447852" y="4421468"/>
            <a:ext cx="608463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24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5E4E5056-1071-EB43-961C-518C32BBC254}"/>
              </a:ext>
            </a:extLst>
          </p:cNvPr>
          <p:cNvSpPr txBox="1">
            <a:spLocks/>
          </p:cNvSpPr>
          <p:nvPr userDrawn="1"/>
        </p:nvSpPr>
        <p:spPr>
          <a:xfrm>
            <a:off x="4448302" y="798474"/>
            <a:ext cx="608013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4B3EC6FE-EE04-AC48-A709-6960ED5BDA40}"/>
              </a:ext>
            </a:extLst>
          </p:cNvPr>
          <p:cNvSpPr txBox="1">
            <a:spLocks/>
          </p:cNvSpPr>
          <p:nvPr userDrawn="1"/>
        </p:nvSpPr>
        <p:spPr>
          <a:xfrm>
            <a:off x="4448302" y="2612401"/>
            <a:ext cx="608013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246BD078-9144-A040-B00A-FB748C9F10BD}"/>
              </a:ext>
            </a:extLst>
          </p:cNvPr>
          <p:cNvSpPr txBox="1">
            <a:spLocks/>
          </p:cNvSpPr>
          <p:nvPr userDrawn="1"/>
        </p:nvSpPr>
        <p:spPr>
          <a:xfrm>
            <a:off x="4448302" y="4431041"/>
            <a:ext cx="608013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8E21DF-7D50-2F4A-8A85-D21AA332D89A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A7EFA3E-6CB9-5753-5E16-B3C57BE50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925644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61BB3FB-2216-3C55-2FAE-13D9854F26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5995" y="901734"/>
            <a:ext cx="6130559" cy="44517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DDFF6A9-52DA-58F2-BDA9-15907D59C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1011" y="2755057"/>
            <a:ext cx="6130559" cy="44517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136D2D5D-D5A2-A035-628C-DEAEE035DA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1011" y="4561078"/>
            <a:ext cx="6130559" cy="44517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9401A22-71B4-C0E8-05DD-D4D2833E6F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1010" y="1417092"/>
            <a:ext cx="6130559" cy="113196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E3F3E11-7AFE-6F0D-2621-C8BCE2923F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9286" y="3266055"/>
            <a:ext cx="6130559" cy="113196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EF10423C-A95D-971C-6FEA-62D3BCEE09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71008" y="5075521"/>
            <a:ext cx="6130559" cy="113196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</p:spTree>
    <p:extLst>
      <p:ext uri="{BB962C8B-B14F-4D97-AF65-F5344CB8AC3E}">
        <p14:creationId xmlns:p14="http://schemas.microsoft.com/office/powerpoint/2010/main" val="1070068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t lis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9417A6-92A5-4D45-A713-D3A7D495A3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919440-137F-FE47-AB91-79FF641736D6}"/>
              </a:ext>
            </a:extLst>
          </p:cNvPr>
          <p:cNvSpPr/>
          <p:nvPr userDrawn="1"/>
        </p:nvSpPr>
        <p:spPr>
          <a:xfrm>
            <a:off x="4447852" y="817544"/>
            <a:ext cx="608463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7EC7BF-FC77-6D4D-9E09-787CB4153722}"/>
              </a:ext>
            </a:extLst>
          </p:cNvPr>
          <p:cNvSpPr/>
          <p:nvPr userDrawn="1"/>
        </p:nvSpPr>
        <p:spPr>
          <a:xfrm>
            <a:off x="4447852" y="2602241"/>
            <a:ext cx="608463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C2C80C-913D-5A4C-A7EB-169A9DF95473}"/>
              </a:ext>
            </a:extLst>
          </p:cNvPr>
          <p:cNvSpPr/>
          <p:nvPr userDrawn="1"/>
        </p:nvSpPr>
        <p:spPr>
          <a:xfrm>
            <a:off x="4447852" y="4421468"/>
            <a:ext cx="608463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24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3F3EC6E-0076-CE4E-979D-D4023EB9EC35}"/>
              </a:ext>
            </a:extLst>
          </p:cNvPr>
          <p:cNvSpPr txBox="1">
            <a:spLocks/>
          </p:cNvSpPr>
          <p:nvPr userDrawn="1"/>
        </p:nvSpPr>
        <p:spPr>
          <a:xfrm>
            <a:off x="4448302" y="833643"/>
            <a:ext cx="608013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B787678-B3D8-A940-87B0-916EA194F204}"/>
              </a:ext>
            </a:extLst>
          </p:cNvPr>
          <p:cNvSpPr txBox="1">
            <a:spLocks/>
          </p:cNvSpPr>
          <p:nvPr userDrawn="1"/>
        </p:nvSpPr>
        <p:spPr>
          <a:xfrm>
            <a:off x="4448302" y="2612401"/>
            <a:ext cx="608013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124B348-B72B-E34E-8304-DA8C62912B18}"/>
              </a:ext>
            </a:extLst>
          </p:cNvPr>
          <p:cNvSpPr txBox="1">
            <a:spLocks/>
          </p:cNvSpPr>
          <p:nvPr userDrawn="1"/>
        </p:nvSpPr>
        <p:spPr>
          <a:xfrm>
            <a:off x="4448302" y="4431041"/>
            <a:ext cx="608013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56863DB-D6B5-6027-C789-E55DAECF10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925644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4FD09-345A-0112-EE14-4693BA170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5995" y="901734"/>
            <a:ext cx="6130559" cy="44517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FAB629F-588F-7BD7-6C08-58641F11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1011" y="2755057"/>
            <a:ext cx="6130559" cy="44517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5D2D0E31-664A-58C6-0EB6-3473D9CDD3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1011" y="4561078"/>
            <a:ext cx="6130559" cy="44517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E85EEEA-9629-3198-5B0E-0C3BE6285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1010" y="1417092"/>
            <a:ext cx="6130559" cy="113196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273ECD74-311B-4ACA-5B2C-202CF80184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9286" y="3266055"/>
            <a:ext cx="6130559" cy="113196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7952CC-C546-BC25-A4BA-C25A63458F1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71008" y="5075521"/>
            <a:ext cx="6130559" cy="113196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</p:spTree>
    <p:extLst>
      <p:ext uri="{BB962C8B-B14F-4D97-AF65-F5344CB8AC3E}">
        <p14:creationId xmlns:p14="http://schemas.microsoft.com/office/powerpoint/2010/main" val="19558515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t lis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BE2A17-657B-7544-A532-10FC95F7F7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F310644-A0DF-6D4B-B698-87D5FCCB927F}"/>
              </a:ext>
            </a:extLst>
          </p:cNvPr>
          <p:cNvSpPr/>
          <p:nvPr userDrawn="1"/>
        </p:nvSpPr>
        <p:spPr>
          <a:xfrm>
            <a:off x="4447852" y="817544"/>
            <a:ext cx="608463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780A813-5D49-5646-84B4-1A027C726D38}"/>
              </a:ext>
            </a:extLst>
          </p:cNvPr>
          <p:cNvSpPr/>
          <p:nvPr userDrawn="1"/>
        </p:nvSpPr>
        <p:spPr>
          <a:xfrm>
            <a:off x="4447852" y="2602241"/>
            <a:ext cx="608463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F6C249-561B-6C47-BB3C-C763F51DBE87}"/>
              </a:ext>
            </a:extLst>
          </p:cNvPr>
          <p:cNvSpPr/>
          <p:nvPr userDrawn="1"/>
        </p:nvSpPr>
        <p:spPr>
          <a:xfrm>
            <a:off x="4447852" y="4421468"/>
            <a:ext cx="608463" cy="60846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US" sz="2400" b="1" i="0" dirty="0">
              <a:latin typeface="Red Hat Text" panose="02010303040201060303" pitchFamily="2" charset="0"/>
              <a:ea typeface="Red Hat Text" panose="02010303040201060303" pitchFamily="2" charset="0"/>
              <a:cs typeface="Red Hat Text" panose="02010303040201060303" pitchFamily="2" charset="0"/>
            </a:endParaRP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E39A31C5-B1DF-9047-9D34-A36E09415607}"/>
              </a:ext>
            </a:extLst>
          </p:cNvPr>
          <p:cNvSpPr txBox="1">
            <a:spLocks/>
          </p:cNvSpPr>
          <p:nvPr userDrawn="1"/>
        </p:nvSpPr>
        <p:spPr>
          <a:xfrm>
            <a:off x="4448302" y="833643"/>
            <a:ext cx="608013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D8A6DE10-9EAE-4942-8DE1-286CE0BF74B6}"/>
              </a:ext>
            </a:extLst>
          </p:cNvPr>
          <p:cNvSpPr txBox="1">
            <a:spLocks/>
          </p:cNvSpPr>
          <p:nvPr userDrawn="1"/>
        </p:nvSpPr>
        <p:spPr>
          <a:xfrm>
            <a:off x="4448302" y="2612401"/>
            <a:ext cx="608013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E8262D16-47D1-4F4F-9102-671FBF8B49A6}"/>
              </a:ext>
            </a:extLst>
          </p:cNvPr>
          <p:cNvSpPr txBox="1">
            <a:spLocks/>
          </p:cNvSpPr>
          <p:nvPr userDrawn="1"/>
        </p:nvSpPr>
        <p:spPr>
          <a:xfrm>
            <a:off x="4448302" y="4431041"/>
            <a:ext cx="608013" cy="608462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BAD70C8-B2AD-4F94-082B-BD5000A9ED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925644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List title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24A859B-1914-22D1-6248-2C8A9A1417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5995" y="901734"/>
            <a:ext cx="6130559" cy="44517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A3912-7301-D2CB-C311-25AE797F8A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1011" y="2755057"/>
            <a:ext cx="6130559" cy="44517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7CBBC5-33A1-96A6-303E-7B37C06201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1011" y="4561078"/>
            <a:ext cx="6130559" cy="445171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255051D-DBB9-E309-3FE5-B19EB6540C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1010" y="1417092"/>
            <a:ext cx="6130559" cy="113196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6AE66E37-362E-DCE5-1A4B-C523B8955C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9286" y="3266055"/>
            <a:ext cx="6130559" cy="113196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A41F296-79B7-1E25-658A-074A5E76A3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71008" y="5075521"/>
            <a:ext cx="6130559" cy="1131967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. Nam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mi, in porta </a:t>
            </a:r>
            <a:r>
              <a:rPr lang="en-US" dirty="0" err="1"/>
              <a:t>nibh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magna,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ipsum dolor (20 words).</a:t>
            </a:r>
          </a:p>
        </p:txBody>
      </p:sp>
    </p:spTree>
    <p:extLst>
      <p:ext uri="{BB962C8B-B14F-4D97-AF65-F5344CB8AC3E}">
        <p14:creationId xmlns:p14="http://schemas.microsoft.com/office/powerpoint/2010/main" val="11788220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8DD85CD-E454-D844-B746-960822B4C1BB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4A8B79D-0B82-ACB3-7A34-3A7C177B24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166486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for chart/media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3E01035-AC16-5D9D-BB56-2DBB6548A6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030943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C541D16-07B5-CEFB-46AA-FE87B3F76EC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1051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C4DD95-2290-017A-2638-2B55946465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3469" y="6003579"/>
            <a:ext cx="3035300" cy="4508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Caption caption caption.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373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403BAF-8064-9D4D-B627-E575B23C39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BA9E666-5333-B228-F289-EB89438A32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6" y="704356"/>
            <a:ext cx="7844573" cy="753384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Content slide title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5F2A352D-7846-8FD4-DEB2-9F742C5B18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8505" y="1600199"/>
            <a:ext cx="10916056" cy="455344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862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rec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81BCBC-0367-4043-A17A-20E62CF65918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4F90568-D3B2-1F40-8DC9-262A48264FEF}"/>
              </a:ext>
            </a:extLst>
          </p:cNvPr>
          <p:cNvSpPr txBox="1">
            <a:spLocks/>
          </p:cNvSpPr>
          <p:nvPr userDrawn="1"/>
        </p:nvSpPr>
        <p:spPr>
          <a:xfrm>
            <a:off x="4824642" y="2819400"/>
            <a:ext cx="971142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9C07D354-C51C-B54D-8884-6560A6028AED}"/>
              </a:ext>
            </a:extLst>
          </p:cNvPr>
          <p:cNvSpPr txBox="1">
            <a:spLocks/>
          </p:cNvSpPr>
          <p:nvPr userDrawn="1"/>
        </p:nvSpPr>
        <p:spPr>
          <a:xfrm>
            <a:off x="6527397" y="2819400"/>
            <a:ext cx="971142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56D35143-93D3-0949-8861-03292FABE953}"/>
              </a:ext>
            </a:extLst>
          </p:cNvPr>
          <p:cNvSpPr txBox="1">
            <a:spLocks/>
          </p:cNvSpPr>
          <p:nvPr userDrawn="1"/>
        </p:nvSpPr>
        <p:spPr>
          <a:xfrm>
            <a:off x="8230152" y="2819400"/>
            <a:ext cx="971142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F524225-5BB0-124A-ABD9-A60478C10D3A}"/>
              </a:ext>
            </a:extLst>
          </p:cNvPr>
          <p:cNvSpPr txBox="1">
            <a:spLocks/>
          </p:cNvSpPr>
          <p:nvPr userDrawn="1"/>
        </p:nvSpPr>
        <p:spPr>
          <a:xfrm>
            <a:off x="9932907" y="2819400"/>
            <a:ext cx="971142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A2B5C3E6-BBA3-4D4F-A674-8F4373A8D93D}"/>
              </a:ext>
            </a:extLst>
          </p:cNvPr>
          <p:cNvSpPr txBox="1">
            <a:spLocks/>
          </p:cNvSpPr>
          <p:nvPr userDrawn="1"/>
        </p:nvSpPr>
        <p:spPr>
          <a:xfrm>
            <a:off x="4824642" y="4655075"/>
            <a:ext cx="971142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D3A80712-E69D-1B41-915C-FFBF05872D20}"/>
              </a:ext>
            </a:extLst>
          </p:cNvPr>
          <p:cNvSpPr txBox="1">
            <a:spLocks/>
          </p:cNvSpPr>
          <p:nvPr userDrawn="1"/>
        </p:nvSpPr>
        <p:spPr>
          <a:xfrm>
            <a:off x="6527397" y="4655075"/>
            <a:ext cx="971142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E0FF61B7-809A-8345-8821-F382ADDBCD07}"/>
              </a:ext>
            </a:extLst>
          </p:cNvPr>
          <p:cNvSpPr txBox="1">
            <a:spLocks/>
          </p:cNvSpPr>
          <p:nvPr userDrawn="1"/>
        </p:nvSpPr>
        <p:spPr>
          <a:xfrm>
            <a:off x="8230152" y="4655075"/>
            <a:ext cx="971142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2E08892-BAEB-A840-8C51-D08E5AEC92B8}"/>
              </a:ext>
            </a:extLst>
          </p:cNvPr>
          <p:cNvSpPr txBox="1">
            <a:spLocks/>
          </p:cNvSpPr>
          <p:nvPr userDrawn="1"/>
        </p:nvSpPr>
        <p:spPr>
          <a:xfrm>
            <a:off x="9932907" y="4655075"/>
            <a:ext cx="971142" cy="121633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 anchorCtr="0">
            <a:norm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400" b="0" i="0" kern="1200">
                <a:solidFill>
                  <a:schemeClr val="bg1">
                    <a:lumMod val="75000"/>
                  </a:schemeClr>
                </a:solidFill>
                <a:latin typeface="Red Hat Text Medium" panose="02010303040201060303" pitchFamily="2" charset="0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4129317-2D3C-BF1C-5B84-1A30CF6AD4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02701" y="1597736"/>
            <a:ext cx="3527450" cy="865766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Slide title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A0160E80-D3A3-7946-2067-4ACB35711C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322" y="4144944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 err="1"/>
              <a:t>Firstname</a:t>
            </a:r>
            <a:r>
              <a:rPr lang="en-US" sz="1200" dirty="0"/>
              <a:t>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59736B7-D5CA-9203-776E-1BDF6B0575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14322" y="4349711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Title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5E4F741A-2685-C01F-2CBC-07FC9155DC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4215" y="4144944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 err="1"/>
              <a:t>Firstname</a:t>
            </a:r>
            <a:r>
              <a:rPr lang="en-US" sz="1200" dirty="0"/>
              <a:t>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3BC247D1-0D90-C9CF-575B-71764C2AF6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4215" y="4349711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Title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76264121-3AC0-4A8F-DD2F-9CCB98076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33634" y="4144944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 err="1"/>
              <a:t>Firstname</a:t>
            </a:r>
            <a:r>
              <a:rPr lang="en-US" sz="1200" dirty="0"/>
              <a:t>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EF80DE8A-79A9-6D73-6983-B2363E8C6A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33634" y="4349711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Title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C858897D-89E1-E058-E99D-C716DAE8A1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25450" y="4144944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 err="1"/>
              <a:t>Firstname</a:t>
            </a:r>
            <a:r>
              <a:rPr lang="en-US" sz="1200" dirty="0"/>
              <a:t>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344AC905-828F-DB53-DF45-C0D99AC887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50" y="4349711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Title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934631C4-F0C0-4BA1-7F36-BC0B82A5EE8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26046" y="5995515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 err="1"/>
              <a:t>Firstname</a:t>
            </a:r>
            <a:r>
              <a:rPr lang="en-US" sz="1200" dirty="0"/>
              <a:t>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D21B8C51-D844-4AB2-88E8-60AAD54F8FF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26046" y="6200282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Title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A01C2E5-335D-9A94-4DF2-AA425FA4B8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35939" y="5995515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 err="1"/>
              <a:t>Firstname</a:t>
            </a:r>
            <a:r>
              <a:rPr lang="en-US" sz="1200" dirty="0"/>
              <a:t>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0496F0D6-3220-9B0A-A01A-BED4A76B55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35939" y="6200282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Title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916F8E2-7406-DA21-DAFE-F9CB3134D4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45358" y="5995515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 err="1"/>
              <a:t>Firstname</a:t>
            </a:r>
            <a:r>
              <a:rPr lang="en-US" sz="1200" dirty="0"/>
              <a:t>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4A4E4F4D-8295-37F0-A2BB-D69F44BBA5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5358" y="6200282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Title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21060C48-0BA8-22D6-03F5-194B3E9D73B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37174" y="5995515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 err="1"/>
              <a:t>Firstname</a:t>
            </a:r>
            <a:r>
              <a:rPr lang="en-US" sz="1200" dirty="0"/>
              <a:t> </a:t>
            </a:r>
            <a:r>
              <a:rPr lang="en-US" sz="1200" dirty="0" err="1"/>
              <a:t>Lastname</a:t>
            </a:r>
            <a:endParaRPr lang="en-US" sz="1200" dirty="0"/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79070A9F-679F-7178-AFFE-E98DA00D01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37174" y="6200282"/>
            <a:ext cx="1752104" cy="256737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z="1200" dirty="0"/>
              <a:t>Title</a:t>
            </a:r>
          </a:p>
        </p:txBody>
      </p:sp>
      <p:sp>
        <p:nvSpPr>
          <p:cNvPr id="39" name="Picture Placeholder 11">
            <a:extLst>
              <a:ext uri="{FF2B5EF4-FFF2-40B4-BE49-F238E27FC236}">
                <a16:creationId xmlns:a16="http://schemas.microsoft.com/office/drawing/2014/main" id="{6A722B91-97DA-E78C-123D-87754054A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24642" y="2819400"/>
            <a:ext cx="971142" cy="121633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0" name="Picture Placeholder 11">
            <a:extLst>
              <a:ext uri="{FF2B5EF4-FFF2-40B4-BE49-F238E27FC236}">
                <a16:creationId xmlns:a16="http://schemas.microsoft.com/office/drawing/2014/main" id="{80E93CF9-D6A1-4204-8192-F5A48DBDAD5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27397" y="2826225"/>
            <a:ext cx="971142" cy="121633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07F8EC24-5F6A-54DA-0970-CA0BCFF6CE6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30152" y="2819399"/>
            <a:ext cx="971142" cy="121633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ECAA0A1E-02D3-A80C-B6B5-9DFE99BF633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932907" y="2819398"/>
            <a:ext cx="971142" cy="121633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3" name="Picture Placeholder 11">
            <a:extLst>
              <a:ext uri="{FF2B5EF4-FFF2-40B4-BE49-F238E27FC236}">
                <a16:creationId xmlns:a16="http://schemas.microsoft.com/office/drawing/2014/main" id="{632C2437-1449-7B2C-922C-1C36C84EAF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824642" y="4666558"/>
            <a:ext cx="971142" cy="121633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4" name="Picture Placeholder 11">
            <a:extLst>
              <a:ext uri="{FF2B5EF4-FFF2-40B4-BE49-F238E27FC236}">
                <a16:creationId xmlns:a16="http://schemas.microsoft.com/office/drawing/2014/main" id="{4E432266-FED0-FD3A-CA21-BED41166E0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27397" y="4673383"/>
            <a:ext cx="971142" cy="121633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5" name="Picture Placeholder 11">
            <a:extLst>
              <a:ext uri="{FF2B5EF4-FFF2-40B4-BE49-F238E27FC236}">
                <a16:creationId xmlns:a16="http://schemas.microsoft.com/office/drawing/2014/main" id="{C6856CC4-C2E0-B109-BB63-7044E72F3A8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0152" y="4666557"/>
            <a:ext cx="971142" cy="121633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6" name="Picture Placeholder 11">
            <a:extLst>
              <a:ext uri="{FF2B5EF4-FFF2-40B4-BE49-F238E27FC236}">
                <a16:creationId xmlns:a16="http://schemas.microsoft.com/office/drawing/2014/main" id="{206515A9-0840-D221-B501-5117FAFFB67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932907" y="4666556"/>
            <a:ext cx="971142" cy="1216335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6360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ine 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290EC4-F404-3546-A207-BBA0505A4F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38600" y="0"/>
            <a:ext cx="8153400" cy="6858000"/>
          </a:xfrm>
          <a:prstGeom prst="rect">
            <a:avLst/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CD2269A2-4CB1-C947-B771-B354BBE1389F}"/>
              </a:ext>
            </a:extLst>
          </p:cNvPr>
          <p:cNvSpPr txBox="1">
            <a:spLocks/>
          </p:cNvSpPr>
          <p:nvPr userDrawn="1"/>
        </p:nvSpPr>
        <p:spPr>
          <a:xfrm>
            <a:off x="5232401" y="1357461"/>
            <a:ext cx="5627278" cy="3506770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aseline="0" dirty="0">
                <a:solidFill>
                  <a:schemeClr val="bg1">
                    <a:lumMod val="75000"/>
                  </a:schemeClr>
                </a:solidFill>
              </a:rPr>
              <a:t>Insert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E35F10-EC04-E41F-55B8-CC2C32B8B4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45788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Online project slide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5F65C0B-062C-22A5-F900-8CF70C48D3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3185056"/>
            <a:ext cx="312574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tx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Find us online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DB8010E5-E62D-77DA-FD6C-8AB9E8B9EF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32401" y="1357461"/>
            <a:ext cx="5627278" cy="350677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17ADC7F-F38C-D0D6-E631-DEF93D8A27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6448190"/>
            <a:ext cx="3684588" cy="379412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Website » http://</a:t>
            </a:r>
            <a:r>
              <a:rPr lang="en-US" dirty="0" err="1"/>
              <a:t>website.yale.edu</a:t>
            </a:r>
            <a:r>
              <a:rPr lang="en-US" dirty="0"/>
              <a:t>/your-website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B9D748A-A5E5-D8DC-3722-F92B763BE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13" y="4037013"/>
            <a:ext cx="3035300" cy="24114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r>
              <a:rPr lang="en-US" dirty="0"/>
              <a:t>Take a screenshot of your featured website and then click the icon to drop it in the image area (20 words).</a:t>
            </a:r>
          </a:p>
        </p:txBody>
      </p:sp>
    </p:spTree>
    <p:extLst>
      <p:ext uri="{BB962C8B-B14F-4D97-AF65-F5344CB8AC3E}">
        <p14:creationId xmlns:p14="http://schemas.microsoft.com/office/powerpoint/2010/main" val="9284641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 with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 userDrawn="1"/>
        </p:nvSpPr>
        <p:spPr>
          <a:xfrm>
            <a:off x="606479" y="4860167"/>
            <a:ext cx="1084262" cy="1084263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1051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13" y="3194533"/>
            <a:ext cx="3035300" cy="13766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6425" y="4860925"/>
            <a:ext cx="1084263" cy="108426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4690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edback with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3B4AD6-A9C7-215C-1D34-F104B430A7FC}"/>
              </a:ext>
            </a:extLst>
          </p:cNvPr>
          <p:cNvSpPr/>
          <p:nvPr userDrawn="1"/>
        </p:nvSpPr>
        <p:spPr>
          <a:xfrm>
            <a:off x="0" y="0"/>
            <a:ext cx="4038600" cy="68685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B16F178-7842-A54F-8D5F-D641A19890FC}"/>
              </a:ext>
            </a:extLst>
          </p:cNvPr>
          <p:cNvSpPr txBox="1">
            <a:spLocks/>
          </p:cNvSpPr>
          <p:nvPr userDrawn="1"/>
        </p:nvSpPr>
        <p:spPr>
          <a:xfrm>
            <a:off x="606479" y="4860167"/>
            <a:ext cx="1084262" cy="1084263"/>
          </a:xfrm>
          <a:prstGeom prst="rect">
            <a:avLst/>
          </a:prstGeom>
          <a:solidFill>
            <a:schemeClr val="bg2"/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QR Code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CC1B182-D4DD-F8BD-8CC1-66B245D8F4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Tell us what you think!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6A6B2AE9-6CDF-969F-D399-60D84B7CD4E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1051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A306310C-0D07-9073-11FD-B79CC84D5E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13" y="3194533"/>
            <a:ext cx="3035300" cy="137669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Place a QR code to your website or feedback form below.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53AE5A-06F1-92A0-DDB0-E05BD3CBEE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6425" y="4860925"/>
            <a:ext cx="1084263" cy="108426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328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for attending imag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3CA56EC-4292-577E-D329-79DD64C8F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0B4BF0-204D-321A-FBA5-310355971E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13" y="3194533"/>
            <a:ext cx="3035300" cy="196309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800"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799EB829-A664-9007-D311-844C563B04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1051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EB7F77A1-F63C-BF9D-709B-F95DA01FCA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713" y="5864603"/>
            <a:ext cx="3074987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0024995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for attending imag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29C8F3-B994-8C40-9644-41B2B7B3C997}"/>
              </a:ext>
            </a:extLst>
          </p:cNvPr>
          <p:cNvSpPr/>
          <p:nvPr userDrawn="1"/>
        </p:nvSpPr>
        <p:spPr>
          <a:xfrm>
            <a:off x="0" y="7495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F795522-318F-2C2D-E4C4-41C333A205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1597735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attending!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9C5B077-2DE3-9F51-528C-1098C21EB0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43680" y="10510"/>
            <a:ext cx="814832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E3E38D5-B522-1C34-CAAC-BD89458F63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3713" y="3194533"/>
            <a:ext cx="3035300" cy="196309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Lorem ipsum contact info:</a:t>
            </a:r>
          </a:p>
          <a:p>
            <a:r>
              <a:rPr lang="en-US" dirty="0"/>
              <a:t>Your name</a:t>
            </a:r>
          </a:p>
          <a:p>
            <a:r>
              <a:rPr lang="en-US" dirty="0" err="1"/>
              <a:t>your.name@yale.edu</a:t>
            </a:r>
            <a:endParaRPr lang="en-US" dirty="0"/>
          </a:p>
          <a:p>
            <a:r>
              <a:rPr lang="en-US" dirty="0" err="1"/>
              <a:t>Website.com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5CF980-AE0C-CB1D-D1AF-A8F3EF23A6E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713" y="5864603"/>
            <a:ext cx="3074987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1616765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for joining us QR co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C57557-3B24-7341-A015-CE2B7B52EF3F}"/>
              </a:ext>
            </a:extLst>
          </p:cNvPr>
          <p:cNvSpPr/>
          <p:nvPr userDrawn="1"/>
        </p:nvSpPr>
        <p:spPr>
          <a:xfrm>
            <a:off x="0" y="0"/>
            <a:ext cx="404368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5F96183-6FC5-A845-A804-4F9485D1E634}"/>
              </a:ext>
            </a:extLst>
          </p:cNvPr>
          <p:cNvSpPr txBox="1">
            <a:spLocks/>
          </p:cNvSpPr>
          <p:nvPr userDrawn="1"/>
        </p:nvSpPr>
        <p:spPr>
          <a:xfrm>
            <a:off x="4594067" y="876009"/>
            <a:ext cx="6659666" cy="23653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3660"/>
              </a:lnSpc>
              <a:spcBef>
                <a:spcPts val="16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Questions? Contact us at </a:t>
            </a:r>
            <a:r>
              <a:rPr lang="en-US" dirty="0" err="1"/>
              <a:t>email@yale.edu</a:t>
            </a:r>
            <a:r>
              <a:rPr lang="en-US" dirty="0"/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D7AE857-34B2-5E4B-B7DD-576EC9EAA908}"/>
              </a:ext>
            </a:extLst>
          </p:cNvPr>
          <p:cNvSpPr txBox="1">
            <a:spLocks/>
          </p:cNvSpPr>
          <p:nvPr userDrawn="1"/>
        </p:nvSpPr>
        <p:spPr>
          <a:xfrm>
            <a:off x="4700808" y="3700107"/>
            <a:ext cx="1084262" cy="1084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QR Code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D7F02C3-B97A-6230-F2CE-27B886CA4E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2436834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3DF65F4-A05E-8FF1-7B62-1A84FF6A11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4088943"/>
            <a:ext cx="312574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661D8DA-67F9-F0F4-B521-2C1E9F37CF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00807" y="3700107"/>
            <a:ext cx="1084263" cy="108426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585A3E02-5CBF-0403-96FD-0BFBD0DA99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3713" y="5864603"/>
            <a:ext cx="3074987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74398339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for joining us QR co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FA384B-A88D-2C4E-84FA-12DF118487CD}"/>
              </a:ext>
            </a:extLst>
          </p:cNvPr>
          <p:cNvSpPr txBox="1">
            <a:spLocks/>
          </p:cNvSpPr>
          <p:nvPr userDrawn="1"/>
        </p:nvSpPr>
        <p:spPr>
          <a:xfrm>
            <a:off x="4594067" y="876009"/>
            <a:ext cx="6659666" cy="236533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3660"/>
              </a:lnSpc>
              <a:spcBef>
                <a:spcPts val="1600"/>
              </a:spcBef>
              <a:spcAft>
                <a:spcPts val="0"/>
              </a:spcAft>
              <a:buClr>
                <a:srgbClr val="00356B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Click to edit Master text styles. </a:t>
            </a:r>
            <a:r>
              <a:rPr lang="en-US" dirty="0" err="1">
                <a:solidFill>
                  <a:schemeClr val="bg1"/>
                </a:solidFill>
              </a:rPr>
              <a:t>Etiam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orci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lobortis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elementum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nibh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tellus</a:t>
            </a:r>
            <a:r>
              <a:rPr lang="en-US" dirty="0">
                <a:solidFill>
                  <a:schemeClr val="bg1"/>
                </a:solidFill>
              </a:rPr>
              <a:t>. Questions? Contact us at </a:t>
            </a:r>
            <a:r>
              <a:rPr lang="en-US" dirty="0" err="1">
                <a:solidFill>
                  <a:schemeClr val="bg1"/>
                </a:solidFill>
              </a:rPr>
              <a:t>email@yale.edu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7404DFFA-5540-4B49-91B9-A4604B9CE6D6}"/>
              </a:ext>
            </a:extLst>
          </p:cNvPr>
          <p:cNvSpPr txBox="1">
            <a:spLocks/>
          </p:cNvSpPr>
          <p:nvPr userDrawn="1"/>
        </p:nvSpPr>
        <p:spPr>
          <a:xfrm>
            <a:off x="4700808" y="3700107"/>
            <a:ext cx="1084262" cy="10842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QR Code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6172911-28C1-8B7C-4188-0D0C735604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4357" y="2436834"/>
            <a:ext cx="3034570" cy="1376693"/>
          </a:xfrm>
        </p:spPr>
        <p:txBody>
          <a:bodyPr>
            <a:no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800">
                <a:solidFill>
                  <a:schemeClr val="tx1"/>
                </a:solidFill>
              </a:defRPr>
            </a:lvl3pPr>
            <a:lvl4pPr>
              <a:defRPr sz="2800">
                <a:solidFill>
                  <a:schemeClr val="tx1"/>
                </a:solidFill>
              </a:defRPr>
            </a:lvl4pPr>
            <a:lvl5pPr>
              <a:defRPr sz="2800">
                <a:solidFill>
                  <a:schemeClr val="tx1"/>
                </a:solidFill>
              </a:defRPr>
            </a:lvl5pPr>
          </a:lstStyle>
          <a:p>
            <a:pPr algn="l"/>
            <a:r>
              <a:rPr lang="en-US" dirty="0"/>
              <a:t>Thank you for joining us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0CAEC08-056C-96D8-F30C-F31D9680BA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7984" y="4088943"/>
            <a:ext cx="3125749" cy="266700"/>
          </a:xfrm>
        </p:spPr>
        <p:txBody>
          <a:bodyPr>
            <a:noAutofit/>
          </a:bodyPr>
          <a:lstStyle>
            <a:lvl1pPr marL="0" indent="0">
              <a:buNone/>
              <a:defRPr sz="1800" b="0" i="1" spc="0">
                <a:solidFill>
                  <a:schemeClr val="bg1"/>
                </a:solidFill>
                <a:latin typeface="YaleNew" panose="02000602050000020003" pitchFamily="2" charset="77"/>
                <a:cs typeface="Calibri" panose="020F0502020204030204" pitchFamily="34" charset="0"/>
              </a:defRPr>
            </a:lvl1pPr>
            <a:lvl6pPr marL="2286000" indent="0">
              <a:buNone/>
              <a:defRPr>
                <a:solidFill>
                  <a:schemeClr val="bg1"/>
                </a:solidFill>
              </a:defRPr>
            </a:lvl6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Keep in touch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5E0F624-FEEF-D4A2-26AA-1941DC5230D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700808" y="3700107"/>
            <a:ext cx="1084263" cy="108426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DCD3D-746B-52D9-8BA5-96CA50965DB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93713" y="5864603"/>
            <a:ext cx="3074987" cy="593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Wordmark</a:t>
            </a:r>
          </a:p>
        </p:txBody>
      </p:sp>
    </p:spTree>
    <p:extLst>
      <p:ext uri="{BB962C8B-B14F-4D97-AF65-F5344CB8AC3E}">
        <p14:creationId xmlns:p14="http://schemas.microsoft.com/office/powerpoint/2010/main" val="29505062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56B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766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7671C8-3674-9D4C-AC74-E0FA42E2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0467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E6FCF-2418-F25E-D393-A14D24CE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B8A5D-CF03-43EA-641F-FDFDDBE6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BF68F-BDCD-13B8-9A69-5C7A1E67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4E05D-C66F-45DA-ABA9-0476E50FF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68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AEC2072-FB31-3F4B-87F4-F9EBF72960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56350"/>
            <a:ext cx="3236974" cy="365125"/>
          </a:xfrm>
          <a:prstGeom prst="rect">
            <a:avLst/>
          </a:prstGeom>
        </p:spPr>
        <p:txBody>
          <a:bodyPr/>
          <a:lstStyle>
            <a:lvl1pPr>
              <a:defRPr sz="1600" baseline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DCC65-D918-83EE-46FF-855AA9DE5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4E05D-C66F-45DA-ABA9-0476E50FF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02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711" r:id="rId4"/>
    <p:sldLayoutId id="2147483665" r:id="rId5"/>
    <p:sldLayoutId id="2147483710" r:id="rId6"/>
    <p:sldLayoutId id="2147483713" r:id="rId7"/>
    <p:sldLayoutId id="2147483714" r:id="rId8"/>
    <p:sldLayoutId id="2147483666" r:id="rId9"/>
    <p:sldLayoutId id="2147483667" r:id="rId10"/>
    <p:sldLayoutId id="2147483668" r:id="rId11"/>
    <p:sldLayoutId id="2147483669" r:id="rId12"/>
    <p:sldLayoutId id="2147483671" r:id="rId13"/>
    <p:sldLayoutId id="2147483712" r:id="rId14"/>
    <p:sldLayoutId id="2147483670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8" r:id="rId30"/>
    <p:sldLayoutId id="2147483689" r:id="rId31"/>
    <p:sldLayoutId id="2147483687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9" r:id="rId46"/>
    <p:sldLayoutId id="2147483705" r:id="rId47"/>
    <p:sldLayoutId id="2147483706" r:id="rId48"/>
    <p:sldLayoutId id="2147483707" r:id="rId49"/>
    <p:sldLayoutId id="2147483708" r:id="rId50"/>
    <p:sldLayoutId id="2147483715" r:id="rId51"/>
    <p:sldLayoutId id="2147483717" r:id="rId52"/>
    <p:sldLayoutId id="2147483716" r:id="rId5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YaleNew" panose="02000602050000020003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0">
          <a:solidFill>
            <a:schemeClr val="tx1"/>
          </a:solidFill>
          <a:latin typeface="YaleNew" panose="02000602050000020003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0" userDrawn="1">
          <p15:clr>
            <a:srgbClr val="F26B43"/>
          </p15:clr>
        </p15:guide>
        <p15:guide id="4" orient="horz" pos="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3.xml"/><Relationship Id="rId5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9.png"/><Relationship Id="rId11" Type="http://schemas.openxmlformats.org/officeDocument/2006/relationships/image" Target="../media/image35.png"/><Relationship Id="rId5" Type="http://schemas.openxmlformats.org/officeDocument/2006/relationships/image" Target="../media/image28.png"/><Relationship Id="rId10" Type="http://schemas.openxmlformats.org/officeDocument/2006/relationships/image" Target="../media/image34.jpeg"/><Relationship Id="rId4" Type="http://schemas.openxmlformats.org/officeDocument/2006/relationships/image" Target="../media/image27.png"/><Relationship Id="rId9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17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6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E9D32-155A-42C2-3E4E-CF95336F72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91582" y="561180"/>
            <a:ext cx="6989448" cy="1500187"/>
          </a:xfrm>
        </p:spPr>
        <p:txBody>
          <a:bodyPr/>
          <a:lstStyle/>
          <a:p>
            <a:r>
              <a:rPr lang="en-US" noProof="0"/>
              <a:t>What is the signature of a trion in ARPES?</a:t>
            </a:r>
            <a:endParaRPr lang="en-US" noProof="0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E06FC90-36AC-1DB7-684B-845A31968332}"/>
              </a:ext>
            </a:extLst>
          </p:cNvPr>
          <p:cNvSpPr txBox="1">
            <a:spLocks/>
          </p:cNvSpPr>
          <p:nvPr/>
        </p:nvSpPr>
        <p:spPr>
          <a:xfrm>
            <a:off x="4291169" y="2676834"/>
            <a:ext cx="7469281" cy="879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1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0" u="sng" noProof="0" dirty="0"/>
              <a:t>Jinyuan Wu</a:t>
            </a:r>
            <a:r>
              <a:rPr lang="en-US" i="0" noProof="0" dirty="0"/>
              <a:t>, Zachary H. Withers, Thomas K. Allison, Diana Y. Qiu</a:t>
            </a:r>
          </a:p>
          <a:p>
            <a:endParaRPr lang="en-US" i="0" noProof="0" dirty="0"/>
          </a:p>
        </p:txBody>
      </p:sp>
      <p:pic>
        <p:nvPicPr>
          <p:cNvPr id="10" name="Graphic 68">
            <a:extLst>
              <a:ext uri="{FF2B5EF4-FFF2-40B4-BE49-F238E27FC236}">
                <a16:creationId xmlns:a16="http://schemas.microsoft.com/office/drawing/2014/main" id="{3D20666B-DDF7-CF03-F8D8-3DB11D64A0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1631" y="6193269"/>
            <a:ext cx="3661587" cy="519550"/>
          </a:xfrm>
          <a:prstGeom prst="rect">
            <a:avLst/>
          </a:prstGeom>
        </p:spPr>
      </p:pic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B03268C9-D36E-4C9F-5CC7-64E2B6AB729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27882" r="27882"/>
          <a:stretch/>
        </p:blipFill>
        <p:spPr>
          <a:xfrm>
            <a:off x="0" y="0"/>
            <a:ext cx="4044950" cy="68580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C485B-8102-2BC4-E1F4-2A6097535877}"/>
              </a:ext>
            </a:extLst>
          </p:cNvPr>
          <p:cNvSpPr txBox="1">
            <a:spLocks/>
          </p:cNvSpPr>
          <p:nvPr/>
        </p:nvSpPr>
        <p:spPr>
          <a:xfrm>
            <a:off x="3287869" y="3148856"/>
            <a:ext cx="7469281" cy="879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1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0">
                <a:solidFill>
                  <a:schemeClr val="tx1"/>
                </a:solidFill>
                <a:latin typeface="YaleNew" panose="02000602050000020003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i="0" noProof="0" dirty="0"/>
              <a:t>03/17/2026 </a:t>
            </a:r>
          </a:p>
          <a:p>
            <a:pPr algn="ctr"/>
            <a:r>
              <a:rPr lang="en-US" i="0" noProof="0" dirty="0"/>
              <a:t>Denver, APS March Meeting</a:t>
            </a:r>
            <a:r>
              <a:rPr lang="en-US" i="0" dirty="0"/>
              <a:t>, MAR-G45</a:t>
            </a:r>
            <a:endParaRPr lang="en-US" i="0" noProof="0" dirty="0"/>
          </a:p>
          <a:p>
            <a:endParaRPr lang="en-US" i="0" noProof="0" dirty="0"/>
          </a:p>
        </p:txBody>
      </p:sp>
    </p:spTree>
    <p:extLst>
      <p:ext uri="{BB962C8B-B14F-4D97-AF65-F5344CB8AC3E}">
        <p14:creationId xmlns:p14="http://schemas.microsoft.com/office/powerpoint/2010/main" val="3091722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276BD-C240-D7D2-EC8B-B028AEA93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B5780E-BD03-29D3-BA00-F82D6D859884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 err="1">
                <a:latin typeface="YaleNew" panose="02000602050000020003" pitchFamily="2" charset="77"/>
              </a:rPr>
              <a:t>Trions</a:t>
            </a:r>
            <a:r>
              <a:rPr lang="en-US" sz="3600" noProof="0" dirty="0">
                <a:latin typeface="YaleNew" panose="02000602050000020003" pitchFamily="2" charset="77"/>
              </a:rPr>
              <a:t>, and where to find them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2596B-BF3C-6394-43C4-54E6887BB512}"/>
              </a:ext>
            </a:extLst>
          </p:cNvPr>
          <p:cNvSpPr txBox="1"/>
          <p:nvPr/>
        </p:nvSpPr>
        <p:spPr>
          <a:xfrm>
            <a:off x="487891" y="2036932"/>
            <a:ext cx="60991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Doping</a:t>
            </a:r>
            <a:r>
              <a:rPr lang="en-US" altLang="zh-CN" dirty="0">
                <a:latin typeface="YaleNew" panose="02000602050000020003" pitchFamily="2" charset="77"/>
              </a:rPr>
              <a:t> ⇒ </a:t>
            </a:r>
            <a:r>
              <a:rPr lang="en-US" altLang="zh-CN" dirty="0" err="1">
                <a:latin typeface="YaleNew" panose="02000602050000020003" pitchFamily="2" charset="77"/>
              </a:rPr>
              <a:t>trion</a:t>
            </a:r>
            <a:r>
              <a:rPr lang="en-US" altLang="zh-CN" dirty="0">
                <a:latin typeface="YaleNew" panose="02000602050000020003" pitchFamily="2" charset="77"/>
              </a:rPr>
              <a:t> formation, splitting of PL peak</a:t>
            </a:r>
            <a:endParaRPr lang="en-US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Electron left behind steals energy </a:t>
            </a:r>
            <a:r>
              <a:rPr lang="en-US" noProof="0" dirty="0">
                <a:latin typeface="YaleNew" panose="02000602050000020003" pitchFamily="2" charset="77"/>
              </a:rPr>
              <a:t>⇒ asymmetric </a:t>
            </a:r>
            <a:r>
              <a:rPr lang="en-US" noProof="0" dirty="0" err="1">
                <a:latin typeface="YaleNew" panose="02000602050000020003" pitchFamily="2" charset="77"/>
              </a:rPr>
              <a:t>lineshape</a:t>
            </a: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noProof="0" dirty="0">
                <a:latin typeface="YaleNew" panose="02000602050000020003" pitchFamily="2" charset="77"/>
              </a:rPr>
              <a:t>Not</a:t>
            </a:r>
            <a:r>
              <a:rPr lang="en-US" noProof="0" dirty="0">
                <a:latin typeface="YaleNew" panose="02000602050000020003" pitchFamily="2" charset="77"/>
              </a:rPr>
              <a:t> unique for </a:t>
            </a:r>
            <a:r>
              <a:rPr lang="en-US" noProof="0" dirty="0" err="1">
                <a:latin typeface="YaleNew" panose="02000602050000020003" pitchFamily="2" charset="77"/>
              </a:rPr>
              <a:t>trions</a:t>
            </a: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pic>
        <p:nvPicPr>
          <p:cNvPr id="4" name="Picture 6" descr="Figure 1">
            <a:extLst>
              <a:ext uri="{FF2B5EF4-FFF2-40B4-BE49-F238E27FC236}">
                <a16:creationId xmlns:a16="http://schemas.microsoft.com/office/drawing/2014/main" id="{6CB14FE2-057B-85F8-ECD9-63DA4B767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733" y="2726842"/>
            <a:ext cx="5215471" cy="379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C3387B-70BE-3763-56F3-F76C9426ED16}"/>
              </a:ext>
            </a:extLst>
          </p:cNvPr>
          <p:cNvSpPr txBox="1"/>
          <p:nvPr/>
        </p:nvSpPr>
        <p:spPr>
          <a:xfrm>
            <a:off x="7014047" y="2081844"/>
            <a:ext cx="4573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YaleNew" panose="02000602050000020003" pitchFamily="2" charset="77"/>
              </a:rPr>
              <a:t>Christopher et al. Sci Rep 7, 14062 (2017), among others</a:t>
            </a:r>
          </a:p>
          <a:p>
            <a:r>
              <a:rPr lang="en-US" altLang="zh-CN" sz="1400" dirty="0">
                <a:latin typeface="YaleNew" panose="02000602050000020003" pitchFamily="2" charset="77"/>
              </a:rPr>
              <a:t>photoluminescence (PL) spectroscopy in monolayer MoS</a:t>
            </a:r>
            <a:r>
              <a:rPr lang="en-US" altLang="zh-CN" sz="1400" baseline="-25000" dirty="0">
                <a:latin typeface="YaleNew" panose="02000602050000020003" pitchFamily="2" charset="77"/>
              </a:rPr>
              <a:t>2</a:t>
            </a:r>
            <a:endParaRPr lang="en-US" altLang="zh-CN" sz="1400" noProof="0" dirty="0">
              <a:latin typeface="YaleNew" panose="02000602050000020003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A9C43B-2F4C-1ADD-E9CE-73572BF6F074}"/>
              </a:ext>
            </a:extLst>
          </p:cNvPr>
          <p:cNvSpPr txBox="1"/>
          <p:nvPr/>
        </p:nvSpPr>
        <p:spPr>
          <a:xfrm>
            <a:off x="8088142" y="1795002"/>
            <a:ext cx="224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0" dirty="0">
                <a:latin typeface="YaleNew" panose="02000602050000020003" pitchFamily="2" charset="77"/>
              </a:rPr>
              <a:t>Experiment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1223803-9FD7-E50F-72B5-2A66B30D9305}"/>
              </a:ext>
            </a:extLst>
          </p:cNvPr>
          <p:cNvCxnSpPr>
            <a:cxnSpLocks/>
          </p:cNvCxnSpPr>
          <p:nvPr/>
        </p:nvCxnSpPr>
        <p:spPr>
          <a:xfrm>
            <a:off x="3274820" y="5281449"/>
            <a:ext cx="6163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66D0A8C-09B4-37BF-681A-F6957D063EF5}"/>
              </a:ext>
            </a:extLst>
          </p:cNvPr>
          <p:cNvGrpSpPr/>
          <p:nvPr/>
        </p:nvGrpSpPr>
        <p:grpSpPr>
          <a:xfrm>
            <a:off x="402336" y="4156527"/>
            <a:ext cx="2971485" cy="2100920"/>
            <a:chOff x="402336" y="3343728"/>
            <a:chExt cx="2971485" cy="2100920"/>
          </a:xfrm>
        </p:grpSpPr>
        <p:pic>
          <p:nvPicPr>
            <p:cNvPr id="6" name="Picture 4" descr="Figure 2">
              <a:extLst>
                <a:ext uri="{FF2B5EF4-FFF2-40B4-BE49-F238E27FC236}">
                  <a16:creationId xmlns:a16="http://schemas.microsoft.com/office/drawing/2014/main" id="{B7F390C5-A95F-D2B6-1C38-A43FC1BE36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79" r="36211"/>
            <a:stretch/>
          </p:blipFill>
          <p:spPr bwMode="auto">
            <a:xfrm>
              <a:off x="1507221" y="3343728"/>
              <a:ext cx="1866600" cy="2100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3F3F33A-D995-FE78-D03F-E12650CC5B0E}"/>
                </a:ext>
              </a:extLst>
            </p:cNvPr>
            <p:cNvSpPr txBox="1"/>
            <p:nvPr/>
          </p:nvSpPr>
          <p:spPr>
            <a:xfrm>
              <a:off x="402336" y="5079559"/>
              <a:ext cx="16673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Energy conservation</a:t>
              </a:r>
              <a:endParaRPr lang="zh-CN" altLang="en-US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BCE2CC7-91EF-934E-90B3-34EBAB2EF655}"/>
                </a:ext>
              </a:extLst>
            </p:cNvPr>
            <p:cNvSpPr txBox="1"/>
            <p:nvPr/>
          </p:nvSpPr>
          <p:spPr>
            <a:xfrm>
              <a:off x="2617833" y="5062191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+</a:t>
              </a:r>
              <a:endParaRPr lang="zh-CN" altLang="en-US" sz="14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B23BBB3-6A59-D165-D064-C37D1FFDACB6}"/>
              </a:ext>
            </a:extLst>
          </p:cNvPr>
          <p:cNvSpPr txBox="1"/>
          <p:nvPr/>
        </p:nvSpPr>
        <p:spPr>
          <a:xfrm>
            <a:off x="492391" y="1143125"/>
            <a:ext cx="6520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Trion: “charged exciton”, i.e. an exciton plus an electron/hole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Expected to exist in weakly dope</a:t>
            </a:r>
            <a:r>
              <a:rPr lang="en-US" altLang="zh-CN" dirty="0">
                <a:latin typeface="YaleNew" panose="02000602050000020003" pitchFamily="2" charset="77"/>
              </a:rPr>
              <a:t>d</a:t>
            </a:r>
            <a:r>
              <a:rPr lang="en-US" dirty="0">
                <a:latin typeface="YaleNew" panose="02000602050000020003" pitchFamily="2" charset="77"/>
              </a:rPr>
              <a:t> excitonic materials (e.g. TMDs)</a:t>
            </a: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5226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0824-44AA-A81D-D598-C678C271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77BF1A-C42F-E527-B455-792AC5FCB352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 err="1">
                <a:latin typeface="YaleNew" panose="02000602050000020003" pitchFamily="2" charset="77"/>
              </a:rPr>
              <a:t>Trions</a:t>
            </a:r>
            <a:r>
              <a:rPr lang="en-US" sz="3600" noProof="0" dirty="0">
                <a:latin typeface="YaleNew" panose="02000602050000020003" pitchFamily="2" charset="77"/>
              </a:rPr>
              <a:t>, and where to find them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DD552-C127-1FAD-CF32-6AAA4030845E}"/>
              </a:ext>
            </a:extLst>
          </p:cNvPr>
          <p:cNvSpPr txBox="1"/>
          <p:nvPr/>
        </p:nvSpPr>
        <p:spPr>
          <a:xfrm>
            <a:off x="764181" y="837400"/>
            <a:ext cx="6520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We do see redshifted peaks in </a:t>
            </a:r>
            <a:r>
              <a:rPr lang="en-US" noProof="0" dirty="0" err="1">
                <a:latin typeface="YaleNew" panose="02000602050000020003" pitchFamily="2" charset="77"/>
              </a:rPr>
              <a:t>trion</a:t>
            </a:r>
            <a:r>
              <a:rPr lang="en-US" noProof="0" dirty="0">
                <a:latin typeface="YaleNew" panose="02000602050000020003" pitchFamily="2" charset="77"/>
              </a:rPr>
              <a:t> BSE…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But other excitations have this trait too!</a:t>
            </a:r>
            <a:endParaRPr lang="en-US" noProof="0" dirty="0">
              <a:latin typeface="YaleNew" panose="02000602050000020003" pitchFamily="2" charset="77"/>
            </a:endParaRPr>
          </a:p>
        </p:txBody>
      </p:sp>
      <p:pic>
        <p:nvPicPr>
          <p:cNvPr id="2050" name="Picture 2" descr="Fig. 1">
            <a:extLst>
              <a:ext uri="{FF2B5EF4-FFF2-40B4-BE49-F238E27FC236}">
                <a16:creationId xmlns:a16="http://schemas.microsoft.com/office/drawing/2014/main" id="{DB6773C2-6040-5CA4-A45A-4D643A445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110" y="2582902"/>
            <a:ext cx="4258794" cy="408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Figure 1">
            <a:extLst>
              <a:ext uri="{FF2B5EF4-FFF2-40B4-BE49-F238E27FC236}">
                <a16:creationId xmlns:a16="http://schemas.microsoft.com/office/drawing/2014/main" id="{A10179EE-493D-4381-95A7-AD518D307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733" y="2726842"/>
            <a:ext cx="5215471" cy="379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7CAEA2-0F06-8DA3-F669-1618185A2AF2}"/>
              </a:ext>
            </a:extLst>
          </p:cNvPr>
          <p:cNvSpPr txBox="1"/>
          <p:nvPr/>
        </p:nvSpPr>
        <p:spPr>
          <a:xfrm>
            <a:off x="1227616" y="2037729"/>
            <a:ext cx="37482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YaleNew" panose="02000602050000020003" pitchFamily="2" charset="77"/>
              </a:rPr>
              <a:t>Drüppel</a:t>
            </a:r>
            <a:r>
              <a:rPr lang="en-US" altLang="zh-CN" sz="1400" dirty="0">
                <a:latin typeface="YaleNew" panose="02000602050000020003" pitchFamily="2" charset="77"/>
              </a:rPr>
              <a:t> et al. </a:t>
            </a:r>
            <a:r>
              <a:rPr lang="en-US" altLang="zh-CN" sz="1400" noProof="0" dirty="0">
                <a:latin typeface="YaleNew" panose="02000602050000020003" pitchFamily="2" charset="77"/>
              </a:rPr>
              <a:t>Nat. Comm. 8 2117 (2017)</a:t>
            </a:r>
            <a:endParaRPr lang="en-US" altLang="zh-CN" sz="1400" dirty="0">
              <a:latin typeface="YaleNew" panose="02000602050000020003" pitchFamily="2" charset="77"/>
            </a:endParaRPr>
          </a:p>
          <a:p>
            <a:r>
              <a:rPr lang="en-US" altLang="zh-CN" sz="1400" dirty="0">
                <a:latin typeface="YaleNew" panose="02000602050000020003" pitchFamily="2" charset="77"/>
              </a:rPr>
              <a:t>absorption spectroscopy in monolayer MoS</a:t>
            </a:r>
            <a:r>
              <a:rPr lang="en-US" altLang="zh-CN" sz="1400" baseline="-25000" dirty="0">
                <a:latin typeface="YaleNew" panose="02000602050000020003" pitchFamily="2" charset="77"/>
              </a:rPr>
              <a:t>2</a:t>
            </a:r>
            <a:endParaRPr lang="en-US" altLang="zh-CN" sz="1400" noProof="0" dirty="0">
              <a:latin typeface="YaleNew" panose="02000602050000020003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6D521F-4D11-E929-111A-1745D96D8BF1}"/>
              </a:ext>
            </a:extLst>
          </p:cNvPr>
          <p:cNvSpPr txBox="1"/>
          <p:nvPr/>
        </p:nvSpPr>
        <p:spPr>
          <a:xfrm>
            <a:off x="1776551" y="1714249"/>
            <a:ext cx="224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0" dirty="0">
                <a:latin typeface="YaleNew" panose="02000602050000020003" pitchFamily="2" charset="77"/>
              </a:rPr>
              <a:t>Theory: </a:t>
            </a:r>
            <a:r>
              <a:rPr lang="en-US" altLang="zh-CN" b="1" noProof="0" dirty="0" err="1">
                <a:latin typeface="YaleNew" panose="02000602050000020003" pitchFamily="2" charset="77"/>
              </a:rPr>
              <a:t>trion</a:t>
            </a:r>
            <a:r>
              <a:rPr lang="en-US" altLang="zh-CN" b="1" noProof="0" dirty="0">
                <a:latin typeface="YaleNew" panose="02000602050000020003" pitchFamily="2" charset="77"/>
              </a:rPr>
              <a:t> BSE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5E38F4-41B8-9897-4566-AF97DBC2B0A5}"/>
              </a:ext>
            </a:extLst>
          </p:cNvPr>
          <p:cNvCxnSpPr/>
          <p:nvPr/>
        </p:nvCxnSpPr>
        <p:spPr>
          <a:xfrm flipV="1">
            <a:off x="1686911" y="6282558"/>
            <a:ext cx="0" cy="449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3223FEC-72A9-83FD-F80E-0BCF20DF54A1}"/>
              </a:ext>
            </a:extLst>
          </p:cNvPr>
          <p:cNvSpPr txBox="1"/>
          <p:nvPr/>
        </p:nvSpPr>
        <p:spPr>
          <a:xfrm>
            <a:off x="7014047" y="2081844"/>
            <a:ext cx="4573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YaleNew" panose="02000602050000020003" pitchFamily="2" charset="77"/>
              </a:rPr>
              <a:t>Christopher et al. Sci Rep 7, 14062 (2017), among others</a:t>
            </a:r>
          </a:p>
          <a:p>
            <a:r>
              <a:rPr lang="en-US" altLang="zh-CN" sz="1400" dirty="0">
                <a:latin typeface="YaleNew" panose="02000602050000020003" pitchFamily="2" charset="77"/>
              </a:rPr>
              <a:t>photoluminescence (PL) spectroscopy in monolayer MoS</a:t>
            </a:r>
            <a:r>
              <a:rPr lang="en-US" altLang="zh-CN" sz="1400" baseline="-25000" dirty="0">
                <a:latin typeface="YaleNew" panose="02000602050000020003" pitchFamily="2" charset="77"/>
              </a:rPr>
              <a:t>2</a:t>
            </a:r>
            <a:endParaRPr lang="en-US" altLang="zh-CN" sz="1400" noProof="0" dirty="0">
              <a:latin typeface="YaleNew" panose="02000602050000020003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506004-A327-DDC7-967F-6BD2ACB557FD}"/>
              </a:ext>
            </a:extLst>
          </p:cNvPr>
          <p:cNvSpPr txBox="1"/>
          <p:nvPr/>
        </p:nvSpPr>
        <p:spPr>
          <a:xfrm>
            <a:off x="8088142" y="1795002"/>
            <a:ext cx="2247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noProof="0" dirty="0">
                <a:latin typeface="YaleNew" panose="02000602050000020003" pitchFamily="2" charset="77"/>
              </a:rPr>
              <a:t>Experiment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FAC4D1-520C-2455-AC1B-F8A3554A9B82}"/>
              </a:ext>
            </a:extLst>
          </p:cNvPr>
          <p:cNvCxnSpPr>
            <a:cxnSpLocks/>
          </p:cNvCxnSpPr>
          <p:nvPr/>
        </p:nvCxnSpPr>
        <p:spPr>
          <a:xfrm flipV="1">
            <a:off x="9903373" y="5612524"/>
            <a:ext cx="0" cy="8881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F867BD-D61A-0A52-CE57-5114E6B5F36F}"/>
              </a:ext>
            </a:extLst>
          </p:cNvPr>
          <p:cNvSpPr txBox="1"/>
          <p:nvPr/>
        </p:nvSpPr>
        <p:spPr>
          <a:xfrm>
            <a:off x="8338792" y="545172"/>
            <a:ext cx="22479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noProof="0" dirty="0">
                <a:latin typeface="YaleNew" panose="02000602050000020003" pitchFamily="2" charset="77"/>
              </a:rPr>
              <a:t>Question: do we have more solid indication of </a:t>
            </a:r>
            <a:r>
              <a:rPr lang="en-US" altLang="zh-CN" noProof="0" dirty="0" err="1">
                <a:latin typeface="YaleNew" panose="02000602050000020003" pitchFamily="2" charset="77"/>
              </a:rPr>
              <a:t>trion</a:t>
            </a:r>
            <a:r>
              <a:rPr lang="en-US" altLang="zh-CN" noProof="0" dirty="0">
                <a:latin typeface="YaleNew" panose="02000602050000020003" pitchFamily="2" charset="77"/>
              </a:rPr>
              <a:t> formation?</a:t>
            </a:r>
          </a:p>
        </p:txBody>
      </p:sp>
    </p:spTree>
    <p:extLst>
      <p:ext uri="{BB962C8B-B14F-4D97-AF65-F5344CB8AC3E}">
        <p14:creationId xmlns:p14="http://schemas.microsoft.com/office/powerpoint/2010/main" val="262475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9EC91-FF9B-13AD-4325-17572B782F06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ARPES observation of excitons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35A7C-AE25-E966-1327-A914093E0FAE}"/>
              </a:ext>
            </a:extLst>
          </p:cNvPr>
          <p:cNvSpPr txBox="1"/>
          <p:nvPr/>
        </p:nvSpPr>
        <p:spPr>
          <a:xfrm>
            <a:off x="686747" y="803007"/>
            <a:ext cx="96780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Already done in experiments (</a:t>
            </a:r>
            <a:r>
              <a:rPr lang="en-US" noProof="0" dirty="0" err="1">
                <a:latin typeface="YaleNew" panose="02000602050000020003" pitchFamily="2" charset="77"/>
              </a:rPr>
              <a:t>Madéo</a:t>
            </a:r>
            <a:r>
              <a:rPr lang="en-US" noProof="0" dirty="0">
                <a:latin typeface="YaleNew" panose="02000602050000020003" pitchFamily="2" charset="77"/>
              </a:rPr>
              <a:t> et al., Science, 370(6521), pp.1199-1204)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noProof="0" dirty="0">
                <a:latin typeface="YaleNew" panose="02000602050000020003" pitchFamily="2" charset="77"/>
              </a:rPr>
              <a:t>Exciton Boltzmann transport observed</a:t>
            </a:r>
            <a:r>
              <a:rPr lang="en-US" noProof="0" dirty="0">
                <a:latin typeface="YaleNew" panose="02000602050000020003" pitchFamily="2" charset="77"/>
              </a:rPr>
              <a:t> (cf. theory in e.g. Chen et al. PR Research 2022 4(4):043203)</a:t>
            </a:r>
            <a:endParaRPr lang="en-US" sz="1800" noProof="0" dirty="0"/>
          </a:p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pic>
        <p:nvPicPr>
          <p:cNvPr id="4" name="图片 4" descr="图片包含 图形用户界面&#10;&#10;描述已自动生成">
            <a:extLst>
              <a:ext uri="{FF2B5EF4-FFF2-40B4-BE49-F238E27FC236}">
                <a16:creationId xmlns:a16="http://schemas.microsoft.com/office/drawing/2014/main" id="{72F021E8-8400-3B1C-5C15-AAE772F02C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0292"/>
          <a:stretch/>
        </p:blipFill>
        <p:spPr>
          <a:xfrm>
            <a:off x="609600" y="2164882"/>
            <a:ext cx="7036308" cy="4607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154B4D-1E66-7FAE-E01C-F1229FA92ED3}"/>
              </a:ext>
            </a:extLst>
          </p:cNvPr>
          <p:cNvSpPr txBox="1"/>
          <p:nvPr/>
        </p:nvSpPr>
        <p:spPr>
          <a:xfrm>
            <a:off x="8142803" y="5966237"/>
            <a:ext cx="357068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Question: what does a </a:t>
            </a:r>
            <a:r>
              <a:rPr lang="en-US" altLang="zh-CN" dirty="0" err="1"/>
              <a:t>trion</a:t>
            </a:r>
            <a:r>
              <a:rPr lang="en-US" altLang="zh-CN" dirty="0"/>
              <a:t> look in in this experimental setup?</a:t>
            </a:r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0D4351-C3AA-81A1-27D7-35D52758A8D9}"/>
              </a:ext>
            </a:extLst>
          </p:cNvPr>
          <p:cNvSpPr txBox="1"/>
          <p:nvPr/>
        </p:nvSpPr>
        <p:spPr>
          <a:xfrm>
            <a:off x="7506326" y="1680895"/>
            <a:ext cx="48436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YaleNew" panose="02000602050000020003" pitchFamily="2" charset="77"/>
              </a:rPr>
              <a:t>Here is a what a</a:t>
            </a:r>
            <a:r>
              <a:rPr lang="en-US" dirty="0">
                <a:latin typeface="YaleNew" panose="02000602050000020003" pitchFamily="2" charset="77"/>
              </a:rPr>
              <a:t>n exciton look like in ARPES…</a:t>
            </a:r>
            <a:endParaRPr lang="en-US" sz="1800" noProof="0" dirty="0"/>
          </a:p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EE57D5-74FD-D2D6-4D27-13183DB34A8F}"/>
              </a:ext>
            </a:extLst>
          </p:cNvPr>
          <p:cNvSpPr txBox="1"/>
          <p:nvPr/>
        </p:nvSpPr>
        <p:spPr>
          <a:xfrm>
            <a:off x="8333341" y="53247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Cf.</a:t>
            </a:r>
            <a:r>
              <a:rPr lang="zh-CN" altLang="en-US" sz="1400" dirty="0"/>
              <a:t> Rustagi and Kemper PRB 97, 235310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AF2864-D2C9-5F8D-FC18-F1C711B37B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6" t="12165" r="54933"/>
          <a:stretch>
            <a:fillRect/>
          </a:stretch>
        </p:blipFill>
        <p:spPr>
          <a:xfrm>
            <a:off x="8333341" y="2558058"/>
            <a:ext cx="2704773" cy="27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09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5D9F9-ED4B-BF26-778F-1E47CA3E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5AD7F0-BE3F-6320-978E-977A5DC46C04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O</a:t>
            </a:r>
            <a:r>
              <a:rPr lang="en-US" altLang="zh-CN" sz="3600" noProof="0" dirty="0">
                <a:latin typeface="YaleNew" panose="02000602050000020003" pitchFamily="2" charset="77"/>
              </a:rPr>
              <a:t>utline of this project</a:t>
            </a:r>
            <a:endParaRPr lang="en-US" sz="3600" noProof="0" dirty="0">
              <a:latin typeface="YaleNew" panose="02000602050000020003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30F40-1CE5-70D3-D3A6-1C3422AE1112}"/>
              </a:ext>
            </a:extLst>
          </p:cNvPr>
          <p:cNvSpPr txBox="1"/>
          <p:nvPr/>
        </p:nvSpPr>
        <p:spPr>
          <a:xfrm>
            <a:off x="1341046" y="1203633"/>
            <a:ext cx="2426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Trion initial state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242D47-1AC8-6686-9893-88AD31C3477B}"/>
              </a:ext>
            </a:extLst>
          </p:cNvPr>
          <p:cNvSpPr txBox="1"/>
          <p:nvPr/>
        </p:nvSpPr>
        <p:spPr>
          <a:xfrm>
            <a:off x="4810456" y="1203632"/>
            <a:ext cx="242662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Fermi golden rule for (incoherent) ARPES</a:t>
            </a:r>
            <a:endParaRPr lang="zh-CN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D6783C-BE8B-AFEB-B416-A9AEABFAFBAA}"/>
              </a:ext>
            </a:extLst>
          </p:cNvPr>
          <p:cNvSpPr txBox="1"/>
          <p:nvPr/>
        </p:nvSpPr>
        <p:spPr>
          <a:xfrm>
            <a:off x="8921022" y="1203631"/>
            <a:ext cx="242662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Residue calculation</a:t>
            </a:r>
          </a:p>
          <a:p>
            <a:endParaRPr lang="zh-CN" altLang="en-US" dirty="0"/>
          </a:p>
        </p:txBody>
      </p:sp>
      <p:pic>
        <p:nvPicPr>
          <p:cNvPr id="53" name="Picture 2" descr="Fig. 1">
            <a:extLst>
              <a:ext uri="{FF2B5EF4-FFF2-40B4-BE49-F238E27FC236}">
                <a16:creationId xmlns:a16="http://schemas.microsoft.com/office/drawing/2014/main" id="{A1D551D3-C35C-7DA4-CBC1-777AEBBB94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1" t="2264" r="57864" b="83074"/>
          <a:stretch>
            <a:fillRect/>
          </a:stretch>
        </p:blipFill>
        <p:spPr bwMode="auto">
          <a:xfrm>
            <a:off x="9584010" y="4454295"/>
            <a:ext cx="726745" cy="85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91" name="Group 3090">
            <a:extLst>
              <a:ext uri="{FF2B5EF4-FFF2-40B4-BE49-F238E27FC236}">
                <a16:creationId xmlns:a16="http://schemas.microsoft.com/office/drawing/2014/main" id="{D0629311-3B53-20D8-375A-8E16C84FAA27}"/>
              </a:ext>
            </a:extLst>
          </p:cNvPr>
          <p:cNvGrpSpPr/>
          <p:nvPr/>
        </p:nvGrpSpPr>
        <p:grpSpPr>
          <a:xfrm>
            <a:off x="4556170" y="3610220"/>
            <a:ext cx="4271161" cy="1427620"/>
            <a:chOff x="4554286" y="3833810"/>
            <a:chExt cx="4271161" cy="1427620"/>
          </a:xfrm>
        </p:grpSpPr>
        <p:grpSp>
          <p:nvGrpSpPr>
            <p:cNvPr id="3090" name="Group 3089">
              <a:extLst>
                <a:ext uri="{FF2B5EF4-FFF2-40B4-BE49-F238E27FC236}">
                  <a16:creationId xmlns:a16="http://schemas.microsoft.com/office/drawing/2014/main" id="{B6B648E1-DEF9-29D5-F1B6-CA8906784AEE}"/>
                </a:ext>
              </a:extLst>
            </p:cNvPr>
            <p:cNvGrpSpPr/>
            <p:nvPr/>
          </p:nvGrpSpPr>
          <p:grpSpPr>
            <a:xfrm>
              <a:off x="4554286" y="3833810"/>
              <a:ext cx="2847441" cy="1218510"/>
              <a:chOff x="4704635" y="2981508"/>
              <a:chExt cx="2847441" cy="1218510"/>
            </a:xfrm>
          </p:grpSpPr>
          <p:pic>
            <p:nvPicPr>
              <p:cNvPr id="52" name="Picture 2" descr="Fig. 1">
                <a:extLst>
                  <a:ext uri="{FF2B5EF4-FFF2-40B4-BE49-F238E27FC236}">
                    <a16:creationId xmlns:a16="http://schemas.microsoft.com/office/drawing/2014/main" id="{83E04266-7CDE-E236-208B-A120879A41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244" t="10036" r="76342" b="74613"/>
              <a:stretch>
                <a:fillRect/>
              </a:stretch>
            </p:blipFill>
            <p:spPr bwMode="auto">
              <a:xfrm>
                <a:off x="6036381" y="3245668"/>
                <a:ext cx="934104" cy="9543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5C62ABE-09D3-69CD-27A1-7658A315EA61}"/>
                  </a:ext>
                </a:extLst>
              </p:cNvPr>
              <p:cNvCxnSpPr/>
              <p:nvPr/>
            </p:nvCxnSpPr>
            <p:spPr>
              <a:xfrm flipV="1">
                <a:off x="6503433" y="2981508"/>
                <a:ext cx="338667" cy="359833"/>
              </a:xfrm>
              <a:prstGeom prst="straightConnector1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1751D7-C651-BE2A-BE6C-943F1B3D0298}"/>
                  </a:ext>
                </a:extLst>
              </p:cNvPr>
              <p:cNvSpPr txBox="1"/>
              <p:nvPr/>
            </p:nvSpPr>
            <p:spPr>
              <a:xfrm>
                <a:off x="4704635" y="2994373"/>
                <a:ext cx="284744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Become photoelectron</a:t>
                </a:r>
                <a:endParaRPr lang="zh-CN" altLang="en-US" sz="1400" dirty="0"/>
              </a:p>
            </p:txBody>
          </p:sp>
          <p:sp>
            <p:nvSpPr>
              <p:cNvPr id="3087" name="Oval 3086">
                <a:extLst>
                  <a:ext uri="{FF2B5EF4-FFF2-40B4-BE49-F238E27FC236}">
                    <a16:creationId xmlns:a16="http://schemas.microsoft.com/office/drawing/2014/main" id="{4DF6B7C6-2663-C204-D346-91D40BE768D7}"/>
                  </a:ext>
                </a:extLst>
              </p:cNvPr>
              <p:cNvSpPr/>
              <p:nvPr/>
            </p:nvSpPr>
            <p:spPr>
              <a:xfrm rot="20700000">
                <a:off x="5910869" y="3632944"/>
                <a:ext cx="1119822" cy="4608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88" name="TextBox 3087">
              <a:extLst>
                <a:ext uri="{FF2B5EF4-FFF2-40B4-BE49-F238E27FC236}">
                  <a16:creationId xmlns:a16="http://schemas.microsoft.com/office/drawing/2014/main" id="{B7A6E3C7-CF64-839B-5A51-B2DFBD636AFE}"/>
                </a:ext>
              </a:extLst>
            </p:cNvPr>
            <p:cNvSpPr txBox="1"/>
            <p:nvPr/>
          </p:nvSpPr>
          <p:spPr>
            <a:xfrm>
              <a:off x="5978006" y="4953653"/>
              <a:ext cx="28474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residue state</a:t>
              </a:r>
              <a:endParaRPr lang="zh-CN" altLang="en-US" sz="1400" dirty="0"/>
            </a:p>
          </p:txBody>
        </p:sp>
      </p:grpSp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958107CD-FAC4-17AE-3BAB-452DF11BFE75}"/>
              </a:ext>
            </a:extLst>
          </p:cNvPr>
          <p:cNvGrpSpPr/>
          <p:nvPr/>
        </p:nvGrpSpPr>
        <p:grpSpPr>
          <a:xfrm>
            <a:off x="3893022" y="2298707"/>
            <a:ext cx="4287189" cy="924541"/>
            <a:chOff x="7464181" y="5474656"/>
            <a:chExt cx="4287189" cy="924541"/>
          </a:xfrm>
        </p:grpSpPr>
        <p:pic>
          <p:nvPicPr>
            <p:cNvPr id="3093" name="Picture 3092">
              <a:extLst>
                <a:ext uri="{FF2B5EF4-FFF2-40B4-BE49-F238E27FC236}">
                  <a16:creationId xmlns:a16="http://schemas.microsoft.com/office/drawing/2014/main" id="{D9FD6940-0087-7324-64A4-0734CC0D26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4181" y="5474656"/>
              <a:ext cx="4287189" cy="899999"/>
            </a:xfrm>
            <a:prstGeom prst="rect">
              <a:avLst/>
            </a:prstGeom>
          </p:spPr>
        </p:pic>
        <p:sp>
          <p:nvSpPr>
            <p:cNvPr id="3094" name="Rectangle 3093">
              <a:extLst>
                <a:ext uri="{FF2B5EF4-FFF2-40B4-BE49-F238E27FC236}">
                  <a16:creationId xmlns:a16="http://schemas.microsoft.com/office/drawing/2014/main" id="{253F2BBD-43E8-F145-B0AE-F4B8E1FC62DC}"/>
                </a:ext>
              </a:extLst>
            </p:cNvPr>
            <p:cNvSpPr/>
            <p:nvPr/>
          </p:nvSpPr>
          <p:spPr>
            <a:xfrm>
              <a:off x="10937966" y="5474656"/>
              <a:ext cx="470263" cy="45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5" name="Rectangle 3094">
              <a:extLst>
                <a:ext uri="{FF2B5EF4-FFF2-40B4-BE49-F238E27FC236}">
                  <a16:creationId xmlns:a16="http://schemas.microsoft.com/office/drawing/2014/main" id="{C4945F84-8EAD-C30C-DE43-0F3DF1294ACA}"/>
                </a:ext>
              </a:extLst>
            </p:cNvPr>
            <p:cNvSpPr/>
            <p:nvPr/>
          </p:nvSpPr>
          <p:spPr>
            <a:xfrm>
              <a:off x="9712077" y="5949197"/>
              <a:ext cx="470263" cy="45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96" name="Group 3095">
            <a:extLst>
              <a:ext uri="{FF2B5EF4-FFF2-40B4-BE49-F238E27FC236}">
                <a16:creationId xmlns:a16="http://schemas.microsoft.com/office/drawing/2014/main" id="{1F7C1B37-8783-2293-EB49-18604C02EC43}"/>
              </a:ext>
            </a:extLst>
          </p:cNvPr>
          <p:cNvGrpSpPr/>
          <p:nvPr/>
        </p:nvGrpSpPr>
        <p:grpSpPr>
          <a:xfrm>
            <a:off x="260515" y="1757653"/>
            <a:ext cx="3214987" cy="2481190"/>
            <a:chOff x="1952782" y="2624545"/>
            <a:chExt cx="3562477" cy="2749368"/>
          </a:xfrm>
        </p:grpSpPr>
        <p:pic>
          <p:nvPicPr>
            <p:cNvPr id="3097" name="Picture 2" descr="Fig. 2">
              <a:extLst>
                <a:ext uri="{FF2B5EF4-FFF2-40B4-BE49-F238E27FC236}">
                  <a16:creationId xmlns:a16="http://schemas.microsoft.com/office/drawing/2014/main" id="{CB8A1A86-F8FE-3D96-B0F5-EC123AD953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26" r="44228" b="48538"/>
            <a:stretch/>
          </p:blipFill>
          <p:spPr bwMode="auto">
            <a:xfrm>
              <a:off x="1952782" y="2624545"/>
              <a:ext cx="3562477" cy="2749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98" name="TextBox 3097">
              <a:extLst>
                <a:ext uri="{FF2B5EF4-FFF2-40B4-BE49-F238E27FC236}">
                  <a16:creationId xmlns:a16="http://schemas.microsoft.com/office/drawing/2014/main" id="{9E5BD0E5-FBBC-A129-7031-AB62A8E410E6}"/>
                </a:ext>
              </a:extLst>
            </p:cNvPr>
            <p:cNvSpPr txBox="1"/>
            <p:nvPr/>
          </p:nvSpPr>
          <p:spPr>
            <a:xfrm>
              <a:off x="4140347" y="3645358"/>
              <a:ext cx="3658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e1</a:t>
              </a:r>
              <a:endParaRPr lang="zh-CN" altLang="en-US" sz="1400" dirty="0"/>
            </a:p>
          </p:txBody>
        </p:sp>
        <p:sp>
          <p:nvSpPr>
            <p:cNvPr id="3099" name="TextBox 3098">
              <a:extLst>
                <a:ext uri="{FF2B5EF4-FFF2-40B4-BE49-F238E27FC236}">
                  <a16:creationId xmlns:a16="http://schemas.microsoft.com/office/drawing/2014/main" id="{E999081F-BFF2-6CC9-F0CE-C2A66F78C620}"/>
                </a:ext>
              </a:extLst>
            </p:cNvPr>
            <p:cNvSpPr txBox="1"/>
            <p:nvPr/>
          </p:nvSpPr>
          <p:spPr>
            <a:xfrm>
              <a:off x="3689192" y="3645358"/>
              <a:ext cx="3658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e2</a:t>
              </a:r>
              <a:endParaRPr lang="zh-CN" altLang="en-US" sz="1400" dirty="0"/>
            </a:p>
          </p:txBody>
        </p:sp>
        <p:sp>
          <p:nvSpPr>
            <p:cNvPr id="3100" name="TextBox 3099">
              <a:extLst>
                <a:ext uri="{FF2B5EF4-FFF2-40B4-BE49-F238E27FC236}">
                  <a16:creationId xmlns:a16="http://schemas.microsoft.com/office/drawing/2014/main" id="{DA3E2A60-CF8B-0DD1-B74E-E4AD247E40BA}"/>
                </a:ext>
              </a:extLst>
            </p:cNvPr>
            <p:cNvSpPr txBox="1"/>
            <p:nvPr/>
          </p:nvSpPr>
          <p:spPr>
            <a:xfrm>
              <a:off x="3973047" y="4008252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h</a:t>
              </a:r>
              <a:endParaRPr lang="zh-CN" altLang="en-US" sz="1400" dirty="0"/>
            </a:p>
          </p:txBody>
        </p:sp>
      </p:grpSp>
      <p:grpSp>
        <p:nvGrpSpPr>
          <p:cNvPr id="3117" name="Group 3116">
            <a:extLst>
              <a:ext uri="{FF2B5EF4-FFF2-40B4-BE49-F238E27FC236}">
                <a16:creationId xmlns:a16="http://schemas.microsoft.com/office/drawing/2014/main" id="{2251D15C-49DE-ACC1-32C3-8C9415BF6848}"/>
              </a:ext>
            </a:extLst>
          </p:cNvPr>
          <p:cNvGrpSpPr/>
          <p:nvPr/>
        </p:nvGrpSpPr>
        <p:grpSpPr>
          <a:xfrm>
            <a:off x="8859077" y="2186170"/>
            <a:ext cx="2097220" cy="2025072"/>
            <a:chOff x="8492433" y="2353369"/>
            <a:chExt cx="2662528" cy="2570932"/>
          </a:xfrm>
        </p:grpSpPr>
        <p:grpSp>
          <p:nvGrpSpPr>
            <p:cNvPr id="3105" name="Group 3104">
              <a:extLst>
                <a:ext uri="{FF2B5EF4-FFF2-40B4-BE49-F238E27FC236}">
                  <a16:creationId xmlns:a16="http://schemas.microsoft.com/office/drawing/2014/main" id="{9778215B-4B06-1DD7-9DA2-EAD1EC416FED}"/>
                </a:ext>
              </a:extLst>
            </p:cNvPr>
            <p:cNvGrpSpPr/>
            <p:nvPr/>
          </p:nvGrpSpPr>
          <p:grpSpPr>
            <a:xfrm>
              <a:off x="8492433" y="2358436"/>
              <a:ext cx="1332828" cy="1263299"/>
              <a:chOff x="1094710" y="4510544"/>
              <a:chExt cx="1332828" cy="1263299"/>
            </a:xfrm>
          </p:grpSpPr>
          <p:pic>
            <p:nvPicPr>
              <p:cNvPr id="3106" name="Picture 3105">
                <a:extLst>
                  <a:ext uri="{FF2B5EF4-FFF2-40B4-BE49-F238E27FC236}">
                    <a16:creationId xmlns:a16="http://schemas.microsoft.com/office/drawing/2014/main" id="{3EA8587B-FCAF-F03E-0C65-83DC530D34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0954" y="4557004"/>
                <a:ext cx="1266584" cy="1216839"/>
              </a:xfrm>
              <a:prstGeom prst="rect">
                <a:avLst/>
              </a:prstGeom>
            </p:spPr>
          </p:pic>
          <p:sp>
            <p:nvSpPr>
              <p:cNvPr id="3107" name="TextBox 3106">
                <a:extLst>
                  <a:ext uri="{FF2B5EF4-FFF2-40B4-BE49-F238E27FC236}">
                    <a16:creationId xmlns:a16="http://schemas.microsoft.com/office/drawing/2014/main" id="{3A1E52ED-2C56-E7F2-6B4C-98424550BD0F}"/>
                  </a:ext>
                </a:extLst>
              </p:cNvPr>
              <p:cNvSpPr txBox="1"/>
              <p:nvPr/>
            </p:nvSpPr>
            <p:spPr>
              <a:xfrm>
                <a:off x="1094710" y="4510544"/>
                <a:ext cx="3465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1s</a:t>
                </a:r>
                <a:endParaRPr lang="zh-CN" altLang="en-US" sz="1400" dirty="0"/>
              </a:p>
            </p:txBody>
          </p:sp>
        </p:grpSp>
        <p:grpSp>
          <p:nvGrpSpPr>
            <p:cNvPr id="3108" name="Group 3107">
              <a:extLst>
                <a:ext uri="{FF2B5EF4-FFF2-40B4-BE49-F238E27FC236}">
                  <a16:creationId xmlns:a16="http://schemas.microsoft.com/office/drawing/2014/main" id="{B3289B84-923D-487B-8574-814E8F02B0F2}"/>
                </a:ext>
              </a:extLst>
            </p:cNvPr>
            <p:cNvGrpSpPr/>
            <p:nvPr/>
          </p:nvGrpSpPr>
          <p:grpSpPr>
            <a:xfrm>
              <a:off x="9818935" y="2353369"/>
              <a:ext cx="1336026" cy="1263301"/>
              <a:chOff x="2905536" y="4510542"/>
              <a:chExt cx="1336026" cy="1263301"/>
            </a:xfrm>
          </p:grpSpPr>
          <p:pic>
            <p:nvPicPr>
              <p:cNvPr id="3109" name="Picture 3108">
                <a:extLst>
                  <a:ext uri="{FF2B5EF4-FFF2-40B4-BE49-F238E27FC236}">
                    <a16:creationId xmlns:a16="http://schemas.microsoft.com/office/drawing/2014/main" id="{EFFD28E1-8D30-82A5-3F51-8667C0C955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4483" y="4557004"/>
                <a:ext cx="1277079" cy="1216839"/>
              </a:xfrm>
              <a:prstGeom prst="rect">
                <a:avLst/>
              </a:prstGeom>
            </p:spPr>
          </p:pic>
          <p:sp>
            <p:nvSpPr>
              <p:cNvPr id="3110" name="TextBox 3109">
                <a:extLst>
                  <a:ext uri="{FF2B5EF4-FFF2-40B4-BE49-F238E27FC236}">
                    <a16:creationId xmlns:a16="http://schemas.microsoft.com/office/drawing/2014/main" id="{85EBBC84-FD57-9D5F-1EA4-786756792179}"/>
                  </a:ext>
                </a:extLst>
              </p:cNvPr>
              <p:cNvSpPr txBox="1"/>
              <p:nvPr/>
            </p:nvSpPr>
            <p:spPr>
              <a:xfrm>
                <a:off x="2905536" y="4510542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2p</a:t>
                </a:r>
                <a:endParaRPr lang="zh-CN" altLang="en-US" sz="1400" dirty="0"/>
              </a:p>
            </p:txBody>
          </p:sp>
        </p:grpSp>
        <p:grpSp>
          <p:nvGrpSpPr>
            <p:cNvPr id="3111" name="Group 3110">
              <a:extLst>
                <a:ext uri="{FF2B5EF4-FFF2-40B4-BE49-F238E27FC236}">
                  <a16:creationId xmlns:a16="http://schemas.microsoft.com/office/drawing/2014/main" id="{109457B5-D140-2492-D21D-DEB6519690EC}"/>
                </a:ext>
              </a:extLst>
            </p:cNvPr>
            <p:cNvGrpSpPr/>
            <p:nvPr/>
          </p:nvGrpSpPr>
          <p:grpSpPr>
            <a:xfrm>
              <a:off x="8548589" y="3640550"/>
              <a:ext cx="1260708" cy="1263299"/>
              <a:chOff x="4740407" y="4510543"/>
              <a:chExt cx="1260708" cy="1263299"/>
            </a:xfrm>
          </p:grpSpPr>
          <p:pic>
            <p:nvPicPr>
              <p:cNvPr id="3112" name="Picture 3111">
                <a:extLst>
                  <a:ext uri="{FF2B5EF4-FFF2-40B4-BE49-F238E27FC236}">
                    <a16:creationId xmlns:a16="http://schemas.microsoft.com/office/drawing/2014/main" id="{168392C5-1958-08F7-C915-4EC8A8CE8D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84276" y="4557003"/>
                <a:ext cx="1216839" cy="1216839"/>
              </a:xfrm>
              <a:prstGeom prst="rect">
                <a:avLst/>
              </a:prstGeom>
            </p:spPr>
          </p:pic>
          <p:sp>
            <p:nvSpPr>
              <p:cNvPr id="3113" name="TextBox 3112">
                <a:extLst>
                  <a:ext uri="{FF2B5EF4-FFF2-40B4-BE49-F238E27FC236}">
                    <a16:creationId xmlns:a16="http://schemas.microsoft.com/office/drawing/2014/main" id="{68EC4F0B-B4A3-781D-68A4-3FAC36D58D17}"/>
                  </a:ext>
                </a:extLst>
              </p:cNvPr>
              <p:cNvSpPr txBox="1"/>
              <p:nvPr/>
            </p:nvSpPr>
            <p:spPr>
              <a:xfrm>
                <a:off x="4740407" y="4510543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2p</a:t>
                </a:r>
                <a:endParaRPr lang="zh-CN" altLang="en-US" sz="1400" dirty="0"/>
              </a:p>
            </p:txBody>
          </p:sp>
        </p:grpSp>
        <p:grpSp>
          <p:nvGrpSpPr>
            <p:cNvPr id="3114" name="Group 3113">
              <a:extLst>
                <a:ext uri="{FF2B5EF4-FFF2-40B4-BE49-F238E27FC236}">
                  <a16:creationId xmlns:a16="http://schemas.microsoft.com/office/drawing/2014/main" id="{A97CC820-2ED4-426E-FBD8-B107F699CA86}"/>
                </a:ext>
              </a:extLst>
            </p:cNvPr>
            <p:cNvGrpSpPr/>
            <p:nvPr/>
          </p:nvGrpSpPr>
          <p:grpSpPr>
            <a:xfrm>
              <a:off x="9811678" y="3652042"/>
              <a:ext cx="1300838" cy="1272259"/>
              <a:chOff x="6481414" y="4512376"/>
              <a:chExt cx="1300838" cy="1272259"/>
            </a:xfrm>
          </p:grpSpPr>
          <p:pic>
            <p:nvPicPr>
              <p:cNvPr id="3115" name="Picture 3114">
                <a:extLst>
                  <a:ext uri="{FF2B5EF4-FFF2-40B4-BE49-F238E27FC236}">
                    <a16:creationId xmlns:a16="http://schemas.microsoft.com/office/drawing/2014/main" id="{88936688-657E-627F-8868-8963EDD958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43829" y="4546212"/>
                <a:ext cx="1238423" cy="1238423"/>
              </a:xfrm>
              <a:prstGeom prst="rect">
                <a:avLst/>
              </a:prstGeom>
            </p:spPr>
          </p:pic>
          <p:sp>
            <p:nvSpPr>
              <p:cNvPr id="3116" name="TextBox 3115">
                <a:extLst>
                  <a:ext uri="{FF2B5EF4-FFF2-40B4-BE49-F238E27FC236}">
                    <a16:creationId xmlns:a16="http://schemas.microsoft.com/office/drawing/2014/main" id="{E33D23B0-C5BE-08ED-8981-82C6954DA9D6}"/>
                  </a:ext>
                </a:extLst>
              </p:cNvPr>
              <p:cNvSpPr txBox="1"/>
              <p:nvPr/>
            </p:nvSpPr>
            <p:spPr>
              <a:xfrm>
                <a:off x="6481414" y="4512376"/>
                <a:ext cx="3465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2s</a:t>
                </a:r>
                <a:endParaRPr lang="zh-CN" altLang="en-US" sz="1400" dirty="0"/>
              </a:p>
            </p:txBody>
          </p:sp>
        </p:grpSp>
      </p:grpSp>
      <p:sp>
        <p:nvSpPr>
          <p:cNvPr id="3119" name="TextBox 3118">
            <a:extLst>
              <a:ext uri="{FF2B5EF4-FFF2-40B4-BE49-F238E27FC236}">
                <a16:creationId xmlns:a16="http://schemas.microsoft.com/office/drawing/2014/main" id="{7D0AADEC-070F-2F5B-40E2-028EC2EF8B1D}"/>
              </a:ext>
            </a:extLst>
          </p:cNvPr>
          <p:cNvSpPr txBox="1"/>
          <p:nvPr/>
        </p:nvSpPr>
        <p:spPr>
          <a:xfrm>
            <a:off x="8812858" y="54894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YaleNew" panose="02000602050000020003" pitchFamily="2" charset="77"/>
              </a:rPr>
              <a:t>Qiu et al. PRL 115, 176801 (2015)</a:t>
            </a:r>
            <a:endParaRPr lang="zh-CN" altLang="en-US" sz="1400" dirty="0"/>
          </a:p>
        </p:txBody>
      </p:sp>
      <p:pic>
        <p:nvPicPr>
          <p:cNvPr id="3120" name="Picture 2" descr="Fig. 1">
            <a:extLst>
              <a:ext uri="{FF2B5EF4-FFF2-40B4-BE49-F238E27FC236}">
                <a16:creationId xmlns:a16="http://schemas.microsoft.com/office/drawing/2014/main" id="{380EACED-E734-93CE-C4E0-D3ED6269DC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4" t="10036" r="76342" b="74613"/>
          <a:stretch>
            <a:fillRect/>
          </a:stretch>
        </p:blipFill>
        <p:spPr bwMode="auto">
          <a:xfrm>
            <a:off x="1763125" y="4344228"/>
            <a:ext cx="934104" cy="95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22" name="TextBox 3121">
            <a:extLst>
              <a:ext uri="{FF2B5EF4-FFF2-40B4-BE49-F238E27FC236}">
                <a16:creationId xmlns:a16="http://schemas.microsoft.com/office/drawing/2014/main" id="{D360DE52-D11F-D639-C170-91F1DAFA8D61}"/>
              </a:ext>
            </a:extLst>
          </p:cNvPr>
          <p:cNvSpPr txBox="1"/>
          <p:nvPr/>
        </p:nvSpPr>
        <p:spPr>
          <a:xfrm>
            <a:off x="829628" y="5483533"/>
            <a:ext cx="74530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YaleNew" panose="02000602050000020003" pitchFamily="2" charset="77"/>
              </a:rPr>
              <a:t>Drüppel</a:t>
            </a:r>
            <a:r>
              <a:rPr lang="en-US" altLang="zh-CN" sz="1400" dirty="0">
                <a:latin typeface="YaleNew" panose="02000602050000020003" pitchFamily="2" charset="77"/>
              </a:rPr>
              <a:t> et al. </a:t>
            </a:r>
            <a:r>
              <a:rPr lang="en-US" altLang="zh-CN" sz="1400" noProof="0" dirty="0">
                <a:latin typeface="YaleNew" panose="02000602050000020003" pitchFamily="2" charset="77"/>
              </a:rPr>
              <a:t>Nat. Comm. 8 2117 (2017)</a:t>
            </a:r>
            <a:endParaRPr lang="en-US" altLang="zh-CN" sz="1400" dirty="0">
              <a:latin typeface="YaleNew" panose="02000602050000020003" pitchFamily="2" charset="77"/>
            </a:endParaRPr>
          </a:p>
        </p:txBody>
      </p:sp>
      <p:sp>
        <p:nvSpPr>
          <p:cNvPr id="3123" name="Rectangle 3122">
            <a:extLst>
              <a:ext uri="{FF2B5EF4-FFF2-40B4-BE49-F238E27FC236}">
                <a16:creationId xmlns:a16="http://schemas.microsoft.com/office/drawing/2014/main" id="{2738F714-805C-2C36-F9F5-55906E498B2E}"/>
              </a:ext>
            </a:extLst>
          </p:cNvPr>
          <p:cNvSpPr/>
          <p:nvPr/>
        </p:nvSpPr>
        <p:spPr>
          <a:xfrm>
            <a:off x="8665029" y="1203631"/>
            <a:ext cx="2941487" cy="4812540"/>
          </a:xfrm>
          <a:prstGeom prst="rect">
            <a:avLst/>
          </a:prstGeom>
          <a:solidFill>
            <a:srgbClr val="FFFFFF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4" name="TextBox 3123">
            <a:extLst>
              <a:ext uri="{FF2B5EF4-FFF2-40B4-BE49-F238E27FC236}">
                <a16:creationId xmlns:a16="http://schemas.microsoft.com/office/drawing/2014/main" id="{81ADFF98-237B-9749-766C-80683F93E5C5}"/>
              </a:ext>
            </a:extLst>
          </p:cNvPr>
          <p:cNvSpPr txBox="1"/>
          <p:nvPr/>
        </p:nvSpPr>
        <p:spPr>
          <a:xfrm>
            <a:off x="2679299" y="3886936"/>
            <a:ext cx="3048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K</a:t>
            </a:r>
            <a:endParaRPr lang="zh-CN" altLang="en-US" dirty="0"/>
          </a:p>
        </p:txBody>
      </p:sp>
      <p:sp>
        <p:nvSpPr>
          <p:cNvPr id="3125" name="TextBox 3124">
            <a:extLst>
              <a:ext uri="{FF2B5EF4-FFF2-40B4-BE49-F238E27FC236}">
                <a16:creationId xmlns:a16="http://schemas.microsoft.com/office/drawing/2014/main" id="{8165A51B-1EE9-A202-2A4A-E9625BC0A350}"/>
              </a:ext>
            </a:extLst>
          </p:cNvPr>
          <p:cNvSpPr txBox="1"/>
          <p:nvPr/>
        </p:nvSpPr>
        <p:spPr>
          <a:xfrm>
            <a:off x="1435255" y="3886936"/>
            <a:ext cx="3626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K’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710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91E80-2696-0131-3EEC-99A71FF01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90875-2331-0EC2-1928-CB2B2D4EFA21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O</a:t>
            </a:r>
            <a:r>
              <a:rPr lang="en-US" altLang="zh-CN" sz="3600" noProof="0" dirty="0">
                <a:latin typeface="YaleNew" panose="02000602050000020003" pitchFamily="2" charset="77"/>
              </a:rPr>
              <a:t>utline of this project</a:t>
            </a:r>
            <a:endParaRPr lang="en-US" sz="3600" noProof="0" dirty="0">
              <a:latin typeface="YaleNew" panose="02000602050000020003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D03BE-002C-0CFC-F4DA-3196E1EA2699}"/>
              </a:ext>
            </a:extLst>
          </p:cNvPr>
          <p:cNvSpPr txBox="1"/>
          <p:nvPr/>
        </p:nvSpPr>
        <p:spPr>
          <a:xfrm>
            <a:off x="1341046" y="1203633"/>
            <a:ext cx="2426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Trion initial state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E036C0-6C82-ED59-62D2-B123859692B0}"/>
              </a:ext>
            </a:extLst>
          </p:cNvPr>
          <p:cNvSpPr txBox="1"/>
          <p:nvPr/>
        </p:nvSpPr>
        <p:spPr>
          <a:xfrm>
            <a:off x="4810456" y="1203632"/>
            <a:ext cx="242662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Fermi golden rule for (incoherent) ARPES</a:t>
            </a:r>
            <a:endParaRPr lang="zh-CN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C346B9-0C37-9966-57B3-9324BE89F7DF}"/>
              </a:ext>
            </a:extLst>
          </p:cNvPr>
          <p:cNvSpPr txBox="1"/>
          <p:nvPr/>
        </p:nvSpPr>
        <p:spPr>
          <a:xfrm>
            <a:off x="8921022" y="1203631"/>
            <a:ext cx="242662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Residue calculation</a:t>
            </a:r>
          </a:p>
          <a:p>
            <a:endParaRPr lang="zh-CN" altLang="en-US" dirty="0"/>
          </a:p>
        </p:txBody>
      </p:sp>
      <p:pic>
        <p:nvPicPr>
          <p:cNvPr id="53" name="Picture 2" descr="Fig. 1">
            <a:extLst>
              <a:ext uri="{FF2B5EF4-FFF2-40B4-BE49-F238E27FC236}">
                <a16:creationId xmlns:a16="http://schemas.microsoft.com/office/drawing/2014/main" id="{A5C58261-6707-7F8A-F469-C58DA5323A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41" t="2264" r="57864" b="83074"/>
          <a:stretch>
            <a:fillRect/>
          </a:stretch>
        </p:blipFill>
        <p:spPr bwMode="auto">
          <a:xfrm>
            <a:off x="9584010" y="4454295"/>
            <a:ext cx="726745" cy="85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91" name="Group 3090">
            <a:extLst>
              <a:ext uri="{FF2B5EF4-FFF2-40B4-BE49-F238E27FC236}">
                <a16:creationId xmlns:a16="http://schemas.microsoft.com/office/drawing/2014/main" id="{1E2BFEAE-6D4E-2757-322D-EDDF69E6655F}"/>
              </a:ext>
            </a:extLst>
          </p:cNvPr>
          <p:cNvGrpSpPr/>
          <p:nvPr/>
        </p:nvGrpSpPr>
        <p:grpSpPr>
          <a:xfrm>
            <a:off x="4556170" y="3610220"/>
            <a:ext cx="4271161" cy="1427620"/>
            <a:chOff x="4554286" y="3833810"/>
            <a:chExt cx="4271161" cy="1427620"/>
          </a:xfrm>
        </p:grpSpPr>
        <p:grpSp>
          <p:nvGrpSpPr>
            <p:cNvPr id="3090" name="Group 3089">
              <a:extLst>
                <a:ext uri="{FF2B5EF4-FFF2-40B4-BE49-F238E27FC236}">
                  <a16:creationId xmlns:a16="http://schemas.microsoft.com/office/drawing/2014/main" id="{1FDE5D81-4C64-3D54-83AB-1999E137BFF3}"/>
                </a:ext>
              </a:extLst>
            </p:cNvPr>
            <p:cNvGrpSpPr/>
            <p:nvPr/>
          </p:nvGrpSpPr>
          <p:grpSpPr>
            <a:xfrm>
              <a:off x="4554286" y="3833810"/>
              <a:ext cx="2847441" cy="1218510"/>
              <a:chOff x="4704635" y="2981508"/>
              <a:chExt cx="2847441" cy="1218510"/>
            </a:xfrm>
          </p:grpSpPr>
          <p:pic>
            <p:nvPicPr>
              <p:cNvPr id="52" name="Picture 2" descr="Fig. 1">
                <a:extLst>
                  <a:ext uri="{FF2B5EF4-FFF2-40B4-BE49-F238E27FC236}">
                    <a16:creationId xmlns:a16="http://schemas.microsoft.com/office/drawing/2014/main" id="{7729261D-6B58-6FFD-5AEA-20FCF879A9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244" t="10036" r="76342" b="74613"/>
              <a:stretch>
                <a:fillRect/>
              </a:stretch>
            </p:blipFill>
            <p:spPr bwMode="auto">
              <a:xfrm>
                <a:off x="6036381" y="3245668"/>
                <a:ext cx="934104" cy="9543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74ED3552-B28D-F50B-0CA2-758B6722B645}"/>
                  </a:ext>
                </a:extLst>
              </p:cNvPr>
              <p:cNvCxnSpPr/>
              <p:nvPr/>
            </p:nvCxnSpPr>
            <p:spPr>
              <a:xfrm flipV="1">
                <a:off x="6503433" y="2981508"/>
                <a:ext cx="338667" cy="359833"/>
              </a:xfrm>
              <a:prstGeom prst="straightConnector1">
                <a:avLst/>
              </a:prstGeom>
              <a:ln>
                <a:solidFill>
                  <a:schemeClr val="tx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074AA8-A2B3-4BAA-F74C-9D33463DC4AC}"/>
                  </a:ext>
                </a:extLst>
              </p:cNvPr>
              <p:cNvSpPr txBox="1"/>
              <p:nvPr/>
            </p:nvSpPr>
            <p:spPr>
              <a:xfrm>
                <a:off x="4704635" y="2994373"/>
                <a:ext cx="284744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Become photoelectron</a:t>
                </a:r>
                <a:endParaRPr lang="zh-CN" altLang="en-US" sz="1400" dirty="0"/>
              </a:p>
            </p:txBody>
          </p:sp>
          <p:sp>
            <p:nvSpPr>
              <p:cNvPr id="3087" name="Oval 3086">
                <a:extLst>
                  <a:ext uri="{FF2B5EF4-FFF2-40B4-BE49-F238E27FC236}">
                    <a16:creationId xmlns:a16="http://schemas.microsoft.com/office/drawing/2014/main" id="{8714CB16-EA66-3013-631C-CFC96B12E29B}"/>
                  </a:ext>
                </a:extLst>
              </p:cNvPr>
              <p:cNvSpPr/>
              <p:nvPr/>
            </p:nvSpPr>
            <p:spPr>
              <a:xfrm rot="20700000">
                <a:off x="5910869" y="3632944"/>
                <a:ext cx="1119822" cy="46089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88" name="TextBox 3087">
              <a:extLst>
                <a:ext uri="{FF2B5EF4-FFF2-40B4-BE49-F238E27FC236}">
                  <a16:creationId xmlns:a16="http://schemas.microsoft.com/office/drawing/2014/main" id="{C65DB646-A0E7-8D5D-813B-B726448BA9BD}"/>
                </a:ext>
              </a:extLst>
            </p:cNvPr>
            <p:cNvSpPr txBox="1"/>
            <p:nvPr/>
          </p:nvSpPr>
          <p:spPr>
            <a:xfrm>
              <a:off x="5978006" y="4953653"/>
              <a:ext cx="284744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residue state</a:t>
              </a:r>
              <a:endParaRPr lang="zh-CN" altLang="en-US" sz="1400" dirty="0"/>
            </a:p>
          </p:txBody>
        </p:sp>
      </p:grpSp>
      <p:grpSp>
        <p:nvGrpSpPr>
          <p:cNvPr id="3092" name="Group 3091">
            <a:extLst>
              <a:ext uri="{FF2B5EF4-FFF2-40B4-BE49-F238E27FC236}">
                <a16:creationId xmlns:a16="http://schemas.microsoft.com/office/drawing/2014/main" id="{B1B60C72-212F-330C-27F1-1C1D7E3B704A}"/>
              </a:ext>
            </a:extLst>
          </p:cNvPr>
          <p:cNvGrpSpPr/>
          <p:nvPr/>
        </p:nvGrpSpPr>
        <p:grpSpPr>
          <a:xfrm>
            <a:off x="3893022" y="2275039"/>
            <a:ext cx="4287189" cy="962633"/>
            <a:chOff x="7464181" y="5450988"/>
            <a:chExt cx="4287189" cy="962633"/>
          </a:xfrm>
        </p:grpSpPr>
        <p:pic>
          <p:nvPicPr>
            <p:cNvPr id="3093" name="Picture 3092">
              <a:extLst>
                <a:ext uri="{FF2B5EF4-FFF2-40B4-BE49-F238E27FC236}">
                  <a16:creationId xmlns:a16="http://schemas.microsoft.com/office/drawing/2014/main" id="{BA57BD57-8EDC-9953-7260-E24CA4621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4181" y="5474656"/>
              <a:ext cx="4287189" cy="899999"/>
            </a:xfrm>
            <a:prstGeom prst="rect">
              <a:avLst/>
            </a:prstGeom>
          </p:spPr>
        </p:pic>
        <p:sp>
          <p:nvSpPr>
            <p:cNvPr id="3094" name="Rectangle 3093">
              <a:extLst>
                <a:ext uri="{FF2B5EF4-FFF2-40B4-BE49-F238E27FC236}">
                  <a16:creationId xmlns:a16="http://schemas.microsoft.com/office/drawing/2014/main" id="{D47E6EAC-FE30-626F-FD24-63FFE7A8B20B}"/>
                </a:ext>
              </a:extLst>
            </p:cNvPr>
            <p:cNvSpPr/>
            <p:nvPr/>
          </p:nvSpPr>
          <p:spPr>
            <a:xfrm>
              <a:off x="9932740" y="5450988"/>
              <a:ext cx="680595" cy="45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5" name="Rectangle 3094">
              <a:extLst>
                <a:ext uri="{FF2B5EF4-FFF2-40B4-BE49-F238E27FC236}">
                  <a16:creationId xmlns:a16="http://schemas.microsoft.com/office/drawing/2014/main" id="{87195BB9-7BF7-A077-5DF0-3213A394CC54}"/>
                </a:ext>
              </a:extLst>
            </p:cNvPr>
            <p:cNvSpPr/>
            <p:nvPr/>
          </p:nvSpPr>
          <p:spPr>
            <a:xfrm>
              <a:off x="10337973" y="5963621"/>
              <a:ext cx="636797" cy="45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96" name="Group 3095">
            <a:extLst>
              <a:ext uri="{FF2B5EF4-FFF2-40B4-BE49-F238E27FC236}">
                <a16:creationId xmlns:a16="http://schemas.microsoft.com/office/drawing/2014/main" id="{12BBD555-4E27-4919-D1CE-3EF09411FAA1}"/>
              </a:ext>
            </a:extLst>
          </p:cNvPr>
          <p:cNvGrpSpPr/>
          <p:nvPr/>
        </p:nvGrpSpPr>
        <p:grpSpPr>
          <a:xfrm>
            <a:off x="260515" y="1757653"/>
            <a:ext cx="3214987" cy="2481190"/>
            <a:chOff x="1952782" y="2624545"/>
            <a:chExt cx="3562477" cy="2749368"/>
          </a:xfrm>
        </p:grpSpPr>
        <p:pic>
          <p:nvPicPr>
            <p:cNvPr id="3097" name="Picture 2" descr="Fig. 2">
              <a:extLst>
                <a:ext uri="{FF2B5EF4-FFF2-40B4-BE49-F238E27FC236}">
                  <a16:creationId xmlns:a16="http://schemas.microsoft.com/office/drawing/2014/main" id="{519CAE7D-4C74-0E5E-B851-B2E9B1D638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26" r="44228" b="48538"/>
            <a:stretch/>
          </p:blipFill>
          <p:spPr bwMode="auto">
            <a:xfrm>
              <a:off x="1952782" y="2624545"/>
              <a:ext cx="3562477" cy="2749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98" name="TextBox 3097">
              <a:extLst>
                <a:ext uri="{FF2B5EF4-FFF2-40B4-BE49-F238E27FC236}">
                  <a16:creationId xmlns:a16="http://schemas.microsoft.com/office/drawing/2014/main" id="{6F8A917B-513C-54E0-E602-F68CA67E9DBD}"/>
                </a:ext>
              </a:extLst>
            </p:cNvPr>
            <p:cNvSpPr txBox="1"/>
            <p:nvPr/>
          </p:nvSpPr>
          <p:spPr>
            <a:xfrm>
              <a:off x="4140347" y="3645358"/>
              <a:ext cx="3658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e1</a:t>
              </a:r>
              <a:endParaRPr lang="zh-CN" altLang="en-US" sz="1400" dirty="0"/>
            </a:p>
          </p:txBody>
        </p:sp>
        <p:sp>
          <p:nvSpPr>
            <p:cNvPr id="3099" name="TextBox 3098">
              <a:extLst>
                <a:ext uri="{FF2B5EF4-FFF2-40B4-BE49-F238E27FC236}">
                  <a16:creationId xmlns:a16="http://schemas.microsoft.com/office/drawing/2014/main" id="{C8CD4833-DAD9-7C13-4625-73E3969FD2DE}"/>
                </a:ext>
              </a:extLst>
            </p:cNvPr>
            <p:cNvSpPr txBox="1"/>
            <p:nvPr/>
          </p:nvSpPr>
          <p:spPr>
            <a:xfrm>
              <a:off x="3689192" y="3645358"/>
              <a:ext cx="3658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e2</a:t>
              </a:r>
              <a:endParaRPr lang="zh-CN" altLang="en-US" sz="1400" dirty="0"/>
            </a:p>
          </p:txBody>
        </p:sp>
        <p:sp>
          <p:nvSpPr>
            <p:cNvPr id="3100" name="TextBox 3099">
              <a:extLst>
                <a:ext uri="{FF2B5EF4-FFF2-40B4-BE49-F238E27FC236}">
                  <a16:creationId xmlns:a16="http://schemas.microsoft.com/office/drawing/2014/main" id="{03E2D26B-F8C2-F666-10AB-70E388E95C8F}"/>
                </a:ext>
              </a:extLst>
            </p:cNvPr>
            <p:cNvSpPr txBox="1"/>
            <p:nvPr/>
          </p:nvSpPr>
          <p:spPr>
            <a:xfrm>
              <a:off x="3973047" y="4008252"/>
              <a:ext cx="2792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h</a:t>
              </a:r>
              <a:endParaRPr lang="zh-CN" altLang="en-US" sz="1400" dirty="0"/>
            </a:p>
          </p:txBody>
        </p:sp>
      </p:grpSp>
      <p:grpSp>
        <p:nvGrpSpPr>
          <p:cNvPr id="3117" name="Group 3116">
            <a:extLst>
              <a:ext uri="{FF2B5EF4-FFF2-40B4-BE49-F238E27FC236}">
                <a16:creationId xmlns:a16="http://schemas.microsoft.com/office/drawing/2014/main" id="{2EEFD41C-4708-F6C7-C9E2-2F61C7F1F405}"/>
              </a:ext>
            </a:extLst>
          </p:cNvPr>
          <p:cNvGrpSpPr/>
          <p:nvPr/>
        </p:nvGrpSpPr>
        <p:grpSpPr>
          <a:xfrm>
            <a:off x="8859077" y="2186170"/>
            <a:ext cx="2097220" cy="2025072"/>
            <a:chOff x="8492433" y="2353369"/>
            <a:chExt cx="2662528" cy="2570932"/>
          </a:xfrm>
        </p:grpSpPr>
        <p:grpSp>
          <p:nvGrpSpPr>
            <p:cNvPr id="3105" name="Group 3104">
              <a:extLst>
                <a:ext uri="{FF2B5EF4-FFF2-40B4-BE49-F238E27FC236}">
                  <a16:creationId xmlns:a16="http://schemas.microsoft.com/office/drawing/2014/main" id="{5B414B52-41FC-8127-A62B-7A2F596C3174}"/>
                </a:ext>
              </a:extLst>
            </p:cNvPr>
            <p:cNvGrpSpPr/>
            <p:nvPr/>
          </p:nvGrpSpPr>
          <p:grpSpPr>
            <a:xfrm>
              <a:off x="8492433" y="2358436"/>
              <a:ext cx="1332828" cy="1263299"/>
              <a:chOff x="1094710" y="4510544"/>
              <a:chExt cx="1332828" cy="1263299"/>
            </a:xfrm>
          </p:grpSpPr>
          <p:pic>
            <p:nvPicPr>
              <p:cNvPr id="3106" name="Picture 3105">
                <a:extLst>
                  <a:ext uri="{FF2B5EF4-FFF2-40B4-BE49-F238E27FC236}">
                    <a16:creationId xmlns:a16="http://schemas.microsoft.com/office/drawing/2014/main" id="{B1A1707E-B78F-CAE0-1C75-339F554CCB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0954" y="4557004"/>
                <a:ext cx="1266584" cy="1216839"/>
              </a:xfrm>
              <a:prstGeom prst="rect">
                <a:avLst/>
              </a:prstGeom>
            </p:spPr>
          </p:pic>
          <p:sp>
            <p:nvSpPr>
              <p:cNvPr id="3107" name="TextBox 3106">
                <a:extLst>
                  <a:ext uri="{FF2B5EF4-FFF2-40B4-BE49-F238E27FC236}">
                    <a16:creationId xmlns:a16="http://schemas.microsoft.com/office/drawing/2014/main" id="{CB5B661A-96CC-31C9-BEFD-C9C8F064EBF1}"/>
                  </a:ext>
                </a:extLst>
              </p:cNvPr>
              <p:cNvSpPr txBox="1"/>
              <p:nvPr/>
            </p:nvSpPr>
            <p:spPr>
              <a:xfrm>
                <a:off x="1094710" y="4510544"/>
                <a:ext cx="3465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1s</a:t>
                </a:r>
                <a:endParaRPr lang="zh-CN" altLang="en-US" sz="1400" dirty="0"/>
              </a:p>
            </p:txBody>
          </p:sp>
        </p:grpSp>
        <p:grpSp>
          <p:nvGrpSpPr>
            <p:cNvPr id="3108" name="Group 3107">
              <a:extLst>
                <a:ext uri="{FF2B5EF4-FFF2-40B4-BE49-F238E27FC236}">
                  <a16:creationId xmlns:a16="http://schemas.microsoft.com/office/drawing/2014/main" id="{3CD359D4-63F7-410D-45CC-FDF1CEA11D43}"/>
                </a:ext>
              </a:extLst>
            </p:cNvPr>
            <p:cNvGrpSpPr/>
            <p:nvPr/>
          </p:nvGrpSpPr>
          <p:grpSpPr>
            <a:xfrm>
              <a:off x="9818935" y="2353369"/>
              <a:ext cx="1336026" cy="1263301"/>
              <a:chOff x="2905536" y="4510542"/>
              <a:chExt cx="1336026" cy="1263301"/>
            </a:xfrm>
          </p:grpSpPr>
          <p:pic>
            <p:nvPicPr>
              <p:cNvPr id="3109" name="Picture 3108">
                <a:extLst>
                  <a:ext uri="{FF2B5EF4-FFF2-40B4-BE49-F238E27FC236}">
                    <a16:creationId xmlns:a16="http://schemas.microsoft.com/office/drawing/2014/main" id="{71039D6B-33F6-71B2-57A9-B1FB35DEF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4483" y="4557004"/>
                <a:ext cx="1277079" cy="1216839"/>
              </a:xfrm>
              <a:prstGeom prst="rect">
                <a:avLst/>
              </a:prstGeom>
            </p:spPr>
          </p:pic>
          <p:sp>
            <p:nvSpPr>
              <p:cNvPr id="3110" name="TextBox 3109">
                <a:extLst>
                  <a:ext uri="{FF2B5EF4-FFF2-40B4-BE49-F238E27FC236}">
                    <a16:creationId xmlns:a16="http://schemas.microsoft.com/office/drawing/2014/main" id="{EE708112-2BDA-1466-A99E-625B4CC5441D}"/>
                  </a:ext>
                </a:extLst>
              </p:cNvPr>
              <p:cNvSpPr txBox="1"/>
              <p:nvPr/>
            </p:nvSpPr>
            <p:spPr>
              <a:xfrm>
                <a:off x="2905536" y="4510542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2p</a:t>
                </a:r>
                <a:endParaRPr lang="zh-CN" altLang="en-US" sz="1400" dirty="0"/>
              </a:p>
            </p:txBody>
          </p:sp>
        </p:grpSp>
        <p:grpSp>
          <p:nvGrpSpPr>
            <p:cNvPr id="3111" name="Group 3110">
              <a:extLst>
                <a:ext uri="{FF2B5EF4-FFF2-40B4-BE49-F238E27FC236}">
                  <a16:creationId xmlns:a16="http://schemas.microsoft.com/office/drawing/2014/main" id="{136D742B-20C5-AA19-F96F-E74C8C77D0AD}"/>
                </a:ext>
              </a:extLst>
            </p:cNvPr>
            <p:cNvGrpSpPr/>
            <p:nvPr/>
          </p:nvGrpSpPr>
          <p:grpSpPr>
            <a:xfrm>
              <a:off x="8548589" y="3640550"/>
              <a:ext cx="1260708" cy="1263299"/>
              <a:chOff x="4740407" y="4510543"/>
              <a:chExt cx="1260708" cy="1263299"/>
            </a:xfrm>
          </p:grpSpPr>
          <p:pic>
            <p:nvPicPr>
              <p:cNvPr id="3112" name="Picture 3111">
                <a:extLst>
                  <a:ext uri="{FF2B5EF4-FFF2-40B4-BE49-F238E27FC236}">
                    <a16:creationId xmlns:a16="http://schemas.microsoft.com/office/drawing/2014/main" id="{118F429E-BF83-B4DA-44C1-286B1221AE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84276" y="4557003"/>
                <a:ext cx="1216839" cy="1216839"/>
              </a:xfrm>
              <a:prstGeom prst="rect">
                <a:avLst/>
              </a:prstGeom>
            </p:spPr>
          </p:pic>
          <p:sp>
            <p:nvSpPr>
              <p:cNvPr id="3113" name="TextBox 3112">
                <a:extLst>
                  <a:ext uri="{FF2B5EF4-FFF2-40B4-BE49-F238E27FC236}">
                    <a16:creationId xmlns:a16="http://schemas.microsoft.com/office/drawing/2014/main" id="{CEF9936F-F9E8-2CBD-7750-CCD42E3DDD24}"/>
                  </a:ext>
                </a:extLst>
              </p:cNvPr>
              <p:cNvSpPr txBox="1"/>
              <p:nvPr/>
            </p:nvSpPr>
            <p:spPr>
              <a:xfrm>
                <a:off x="4740407" y="4510543"/>
                <a:ext cx="3706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2p</a:t>
                </a:r>
                <a:endParaRPr lang="zh-CN" altLang="en-US" sz="1400" dirty="0"/>
              </a:p>
            </p:txBody>
          </p:sp>
        </p:grpSp>
        <p:grpSp>
          <p:nvGrpSpPr>
            <p:cNvPr id="3114" name="Group 3113">
              <a:extLst>
                <a:ext uri="{FF2B5EF4-FFF2-40B4-BE49-F238E27FC236}">
                  <a16:creationId xmlns:a16="http://schemas.microsoft.com/office/drawing/2014/main" id="{45248EF8-9806-5A64-4580-31289B2FA230}"/>
                </a:ext>
              </a:extLst>
            </p:cNvPr>
            <p:cNvGrpSpPr/>
            <p:nvPr/>
          </p:nvGrpSpPr>
          <p:grpSpPr>
            <a:xfrm>
              <a:off x="9811678" y="3652042"/>
              <a:ext cx="1300838" cy="1272259"/>
              <a:chOff x="6481414" y="4512376"/>
              <a:chExt cx="1300838" cy="1272259"/>
            </a:xfrm>
          </p:grpSpPr>
          <p:pic>
            <p:nvPicPr>
              <p:cNvPr id="3115" name="Picture 3114">
                <a:extLst>
                  <a:ext uri="{FF2B5EF4-FFF2-40B4-BE49-F238E27FC236}">
                    <a16:creationId xmlns:a16="http://schemas.microsoft.com/office/drawing/2014/main" id="{96E30795-B8E6-4B2D-8837-C8FF63E03C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43829" y="4546212"/>
                <a:ext cx="1238423" cy="1238423"/>
              </a:xfrm>
              <a:prstGeom prst="rect">
                <a:avLst/>
              </a:prstGeom>
            </p:spPr>
          </p:pic>
          <p:sp>
            <p:nvSpPr>
              <p:cNvPr id="3116" name="TextBox 3115">
                <a:extLst>
                  <a:ext uri="{FF2B5EF4-FFF2-40B4-BE49-F238E27FC236}">
                    <a16:creationId xmlns:a16="http://schemas.microsoft.com/office/drawing/2014/main" id="{F87BF564-5592-D24E-8C99-98BD4235131A}"/>
                  </a:ext>
                </a:extLst>
              </p:cNvPr>
              <p:cNvSpPr txBox="1"/>
              <p:nvPr/>
            </p:nvSpPr>
            <p:spPr>
              <a:xfrm>
                <a:off x="6481414" y="4512376"/>
                <a:ext cx="3465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/>
                  <a:t>2s</a:t>
                </a:r>
                <a:endParaRPr lang="zh-CN" altLang="en-US" sz="1400" dirty="0"/>
              </a:p>
            </p:txBody>
          </p:sp>
        </p:grpSp>
      </p:grpSp>
      <p:sp>
        <p:nvSpPr>
          <p:cNvPr id="3119" name="TextBox 3118">
            <a:extLst>
              <a:ext uri="{FF2B5EF4-FFF2-40B4-BE49-F238E27FC236}">
                <a16:creationId xmlns:a16="http://schemas.microsoft.com/office/drawing/2014/main" id="{9F77E36E-7502-307E-B8C7-EEDB715DE78E}"/>
              </a:ext>
            </a:extLst>
          </p:cNvPr>
          <p:cNvSpPr txBox="1"/>
          <p:nvPr/>
        </p:nvSpPr>
        <p:spPr>
          <a:xfrm>
            <a:off x="8812858" y="548942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YaleNew" panose="02000602050000020003" pitchFamily="2" charset="77"/>
              </a:rPr>
              <a:t>Qiu et al. PRL 115, 176801 (2015)</a:t>
            </a:r>
            <a:endParaRPr lang="zh-CN" altLang="en-US" sz="1400" dirty="0"/>
          </a:p>
        </p:txBody>
      </p:sp>
      <p:pic>
        <p:nvPicPr>
          <p:cNvPr id="3120" name="Picture 2" descr="Fig. 1">
            <a:extLst>
              <a:ext uri="{FF2B5EF4-FFF2-40B4-BE49-F238E27FC236}">
                <a16:creationId xmlns:a16="http://schemas.microsoft.com/office/drawing/2014/main" id="{0D8F30C4-E2AF-E35D-0041-BCFDD606B6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44" t="10036" r="76342" b="74613"/>
          <a:stretch>
            <a:fillRect/>
          </a:stretch>
        </p:blipFill>
        <p:spPr bwMode="auto">
          <a:xfrm>
            <a:off x="1763125" y="4344228"/>
            <a:ext cx="934104" cy="95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22" name="TextBox 3121">
            <a:extLst>
              <a:ext uri="{FF2B5EF4-FFF2-40B4-BE49-F238E27FC236}">
                <a16:creationId xmlns:a16="http://schemas.microsoft.com/office/drawing/2014/main" id="{E675E290-CF6B-9E6D-719D-B6B2D3111233}"/>
              </a:ext>
            </a:extLst>
          </p:cNvPr>
          <p:cNvSpPr txBox="1"/>
          <p:nvPr/>
        </p:nvSpPr>
        <p:spPr>
          <a:xfrm>
            <a:off x="829628" y="5483533"/>
            <a:ext cx="74530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>
                <a:latin typeface="YaleNew" panose="02000602050000020003" pitchFamily="2" charset="77"/>
              </a:rPr>
              <a:t>Drüppel</a:t>
            </a:r>
            <a:r>
              <a:rPr lang="en-US" altLang="zh-CN" sz="1400" dirty="0">
                <a:latin typeface="YaleNew" panose="02000602050000020003" pitchFamily="2" charset="77"/>
              </a:rPr>
              <a:t> et al. </a:t>
            </a:r>
            <a:r>
              <a:rPr lang="en-US" altLang="zh-CN" sz="1400" noProof="0" dirty="0">
                <a:latin typeface="YaleNew" panose="02000602050000020003" pitchFamily="2" charset="77"/>
              </a:rPr>
              <a:t>Nat. Comm. 8 2117 (2017)</a:t>
            </a:r>
            <a:endParaRPr lang="en-US" altLang="zh-CN" sz="1400" dirty="0">
              <a:latin typeface="YaleNew" panose="02000602050000020003" pitchFamily="2" charset="77"/>
            </a:endParaRPr>
          </a:p>
        </p:txBody>
      </p:sp>
      <p:sp>
        <p:nvSpPr>
          <p:cNvPr id="3123" name="Rectangle 3122">
            <a:extLst>
              <a:ext uri="{FF2B5EF4-FFF2-40B4-BE49-F238E27FC236}">
                <a16:creationId xmlns:a16="http://schemas.microsoft.com/office/drawing/2014/main" id="{1A30A197-0C38-B311-D901-3C7550D5D9FE}"/>
              </a:ext>
            </a:extLst>
          </p:cNvPr>
          <p:cNvSpPr/>
          <p:nvPr/>
        </p:nvSpPr>
        <p:spPr>
          <a:xfrm>
            <a:off x="194856" y="1152831"/>
            <a:ext cx="3779723" cy="4812540"/>
          </a:xfrm>
          <a:prstGeom prst="rect">
            <a:avLst/>
          </a:prstGeom>
          <a:solidFill>
            <a:srgbClr val="FFFFFF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4" name="TextBox 3123">
            <a:extLst>
              <a:ext uri="{FF2B5EF4-FFF2-40B4-BE49-F238E27FC236}">
                <a16:creationId xmlns:a16="http://schemas.microsoft.com/office/drawing/2014/main" id="{2C958D42-D06C-A084-C404-01777D2E9591}"/>
              </a:ext>
            </a:extLst>
          </p:cNvPr>
          <p:cNvSpPr txBox="1"/>
          <p:nvPr/>
        </p:nvSpPr>
        <p:spPr>
          <a:xfrm>
            <a:off x="2679299" y="3886936"/>
            <a:ext cx="3048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K</a:t>
            </a:r>
            <a:endParaRPr lang="zh-CN" altLang="en-US" dirty="0"/>
          </a:p>
        </p:txBody>
      </p:sp>
      <p:sp>
        <p:nvSpPr>
          <p:cNvPr id="3125" name="TextBox 3124">
            <a:extLst>
              <a:ext uri="{FF2B5EF4-FFF2-40B4-BE49-F238E27FC236}">
                <a16:creationId xmlns:a16="http://schemas.microsoft.com/office/drawing/2014/main" id="{9BB0A824-4DC6-1BF6-3B29-07F7FA5ACF5B}"/>
              </a:ext>
            </a:extLst>
          </p:cNvPr>
          <p:cNvSpPr txBox="1"/>
          <p:nvPr/>
        </p:nvSpPr>
        <p:spPr>
          <a:xfrm>
            <a:off x="1435255" y="3886936"/>
            <a:ext cx="36260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K’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6466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16651-EE70-129D-88D6-99E06903B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FF193-9830-B355-BB53-5E440AF6E691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Trion in monolayer MoS</a:t>
            </a:r>
            <a:r>
              <a:rPr lang="en-US" sz="3600" baseline="-25000" noProof="0" dirty="0">
                <a:latin typeface="YaleNew" panose="02000602050000020003" pitchFamily="2" charset="77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37438-1280-7BFE-9C14-707096E15DF0}"/>
              </a:ext>
            </a:extLst>
          </p:cNvPr>
          <p:cNvSpPr txBox="1"/>
          <p:nvPr/>
        </p:nvSpPr>
        <p:spPr>
          <a:xfrm>
            <a:off x="633220" y="917825"/>
            <a:ext cx="5719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BSE for </a:t>
            </a:r>
            <a:r>
              <a:rPr lang="en-US" noProof="0" dirty="0" err="1">
                <a:latin typeface="YaleNew" panose="02000602050000020003" pitchFamily="2" charset="77"/>
              </a:rPr>
              <a:t>trions</a:t>
            </a:r>
            <a:r>
              <a:rPr lang="en-US" noProof="0" dirty="0">
                <a:latin typeface="YaleNew" panose="02000602050000020003" pitchFamily="2" charset="77"/>
              </a:rPr>
              <a:t>: </a:t>
            </a:r>
            <a:r>
              <a:rPr lang="en-US" noProof="0" dirty="0" err="1">
                <a:latin typeface="YaleNew" panose="02000602050000020003" pitchFamily="2" charset="77"/>
              </a:rPr>
              <a:t>Druppel</a:t>
            </a:r>
            <a:r>
              <a:rPr lang="en-US" noProof="0" dirty="0">
                <a:latin typeface="YaleNew" panose="02000602050000020003" pitchFamily="2" charset="77"/>
              </a:rPr>
              <a:t> et al. Nat. Comm. 8 2117 (2017)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CC854719-C806-4359-C8C8-EAD55495120A}"/>
              </a:ext>
            </a:extLst>
          </p:cNvPr>
          <p:cNvSpPr txBox="1"/>
          <p:nvPr/>
        </p:nvSpPr>
        <p:spPr>
          <a:xfrm>
            <a:off x="879721" y="2354522"/>
            <a:ext cx="6385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312FFA-C345-8A56-2CF7-AD63912C0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948" y="2446030"/>
            <a:ext cx="3897832" cy="804455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F46A90E0-769D-D003-90CF-C9E1CB251DB2}"/>
              </a:ext>
            </a:extLst>
          </p:cNvPr>
          <p:cNvSpPr txBox="1"/>
          <p:nvPr/>
        </p:nvSpPr>
        <p:spPr>
          <a:xfrm>
            <a:off x="7159611" y="1647169"/>
            <a:ext cx="4689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Using a two-band model to capture this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37C29377-A078-FCE6-45F5-E857596E0FBB}"/>
              </a:ext>
            </a:extLst>
          </p:cNvPr>
          <p:cNvSpPr txBox="1"/>
          <p:nvPr/>
        </p:nvSpPr>
        <p:spPr>
          <a:xfrm>
            <a:off x="7168942" y="3455492"/>
            <a:ext cx="4689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Chandrasekhar’s H</a:t>
            </a:r>
            <a:r>
              <a:rPr lang="en-US" baseline="30000" dirty="0">
                <a:latin typeface="YaleNew" panose="02000602050000020003" pitchFamily="2" charset="77"/>
              </a:rPr>
              <a:t>-</a:t>
            </a:r>
            <a:r>
              <a:rPr lang="en-US" dirty="0">
                <a:latin typeface="YaleNew" panose="02000602050000020003" pitchFamily="2" charset="77"/>
              </a:rPr>
              <a:t> ansatz (</a:t>
            </a:r>
            <a:r>
              <a:rPr lang="en-US" dirty="0" err="1">
                <a:latin typeface="YaleNew" panose="02000602050000020003" pitchFamily="2" charset="77"/>
              </a:rPr>
              <a:t>Berkelbach</a:t>
            </a:r>
            <a:r>
              <a:rPr lang="en-US" dirty="0">
                <a:latin typeface="YaleNew" panose="02000602050000020003" pitchFamily="2" charset="77"/>
              </a:rPr>
              <a:t> </a:t>
            </a:r>
            <a:r>
              <a:rPr lang="en-US" altLang="zh-CN" dirty="0">
                <a:latin typeface="YaleNew" panose="02000602050000020003" pitchFamily="2" charset="77"/>
              </a:rPr>
              <a:t>et </a:t>
            </a:r>
            <a:r>
              <a:rPr lang="en-US" altLang="zh-CN" dirty="0" err="1">
                <a:latin typeface="YaleNew" panose="02000602050000020003" pitchFamily="2" charset="77"/>
              </a:rPr>
              <a:t>al.</a:t>
            </a:r>
            <a:r>
              <a:rPr lang="en-US" dirty="0" err="1">
                <a:latin typeface="YaleNew" panose="02000602050000020003" pitchFamily="2" charset="77"/>
              </a:rPr>
              <a:t>PRB</a:t>
            </a:r>
            <a:r>
              <a:rPr lang="en-US" dirty="0">
                <a:latin typeface="YaleNew" panose="02000602050000020003" pitchFamily="2" charset="77"/>
              </a:rPr>
              <a:t> 88, 045318)</a:t>
            </a: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01023B-E648-86BB-00FC-8D1DD2FC1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777" y="4096726"/>
            <a:ext cx="5102040" cy="4512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736CE3-F6D3-19D6-D649-EB134287D11B}"/>
                  </a:ext>
                </a:extLst>
              </p:cNvPr>
              <p:cNvSpPr txBox="1"/>
              <p:nvPr/>
            </p:nvSpPr>
            <p:spPr>
              <a:xfrm>
                <a:off x="10387838" y="4798852"/>
                <a:ext cx="6096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400" dirty="0"/>
                  <a:t> = 10.3 Å 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1400" dirty="0"/>
                  <a:t> = 25.2 Å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736CE3-F6D3-19D6-D649-EB134287D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7838" y="4798852"/>
                <a:ext cx="6096000" cy="307777"/>
              </a:xfrm>
              <a:prstGeom prst="rect">
                <a:avLst/>
              </a:prstGeom>
              <a:blipFill>
                <a:blip r:embed="rId4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5042534E-7DE8-4E35-DBA5-6449D1205696}"/>
              </a:ext>
            </a:extLst>
          </p:cNvPr>
          <p:cNvGrpSpPr/>
          <p:nvPr/>
        </p:nvGrpSpPr>
        <p:grpSpPr>
          <a:xfrm>
            <a:off x="7168942" y="634959"/>
            <a:ext cx="4287189" cy="924541"/>
            <a:chOff x="7464181" y="5474656"/>
            <a:chExt cx="4287189" cy="92454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7F353D2-189B-B7ED-F2DD-F64A469D0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64181" y="5474656"/>
              <a:ext cx="4287189" cy="899999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8C8FC42-D032-E127-06C4-6B3BD65190C0}"/>
                </a:ext>
              </a:extLst>
            </p:cNvPr>
            <p:cNvSpPr/>
            <p:nvPr/>
          </p:nvSpPr>
          <p:spPr>
            <a:xfrm>
              <a:off x="10937966" y="5474656"/>
              <a:ext cx="470263" cy="45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B8DC4E6-89EC-3408-39A8-4200407E3786}"/>
                </a:ext>
              </a:extLst>
            </p:cNvPr>
            <p:cNvSpPr/>
            <p:nvPr/>
          </p:nvSpPr>
          <p:spPr>
            <a:xfrm>
              <a:off x="9712077" y="5949197"/>
              <a:ext cx="470263" cy="45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99E9694-F9CB-66F8-FC58-44D5FECE7ACB}"/>
              </a:ext>
            </a:extLst>
          </p:cNvPr>
          <p:cNvSpPr txBox="1"/>
          <p:nvPr/>
        </p:nvSpPr>
        <p:spPr>
          <a:xfrm>
            <a:off x="462828" y="2025771"/>
            <a:ext cx="59958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L</a:t>
            </a:r>
            <a:r>
              <a:rPr lang="en-US" noProof="0" dirty="0" err="1">
                <a:latin typeface="YaleNew" panose="02000602050000020003" pitchFamily="2" charset="77"/>
              </a:rPr>
              <a:t>owest</a:t>
            </a:r>
            <a:r>
              <a:rPr lang="en-US" noProof="0" dirty="0">
                <a:latin typeface="YaleNew" panose="02000602050000020003" pitchFamily="2" charset="77"/>
              </a:rPr>
              <a:t> </a:t>
            </a:r>
            <a:r>
              <a:rPr lang="en-US" noProof="0" dirty="0" err="1">
                <a:latin typeface="YaleNew" panose="02000602050000020003" pitchFamily="2" charset="77"/>
              </a:rPr>
              <a:t>trion</a:t>
            </a:r>
            <a:r>
              <a:rPr lang="en-US" noProof="0" dirty="0">
                <a:latin typeface="YaleNew" panose="02000602050000020003" pitchFamily="2" charset="77"/>
              </a:rPr>
              <a:t> </a:t>
            </a:r>
            <a:r>
              <a:rPr lang="en-US" altLang="zh-CN" dirty="0">
                <a:latin typeface="YaleNew" panose="02000602050000020003" pitchFamily="2" charset="77"/>
              </a:rPr>
              <a:t>(</a:t>
            </a:r>
            <a:r>
              <a:rPr lang="en-US" altLang="zh-CN" dirty="0" err="1">
                <a:latin typeface="YaleNew" panose="02000602050000020003" pitchFamily="2" charset="77"/>
              </a:rPr>
              <a:t>Tempelaar</a:t>
            </a:r>
            <a:r>
              <a:rPr lang="en-US" altLang="zh-CN" dirty="0">
                <a:latin typeface="YaleNew" panose="02000602050000020003" pitchFamily="2" charset="77"/>
              </a:rPr>
              <a:t> and </a:t>
            </a:r>
            <a:r>
              <a:rPr lang="en-US" altLang="zh-CN" dirty="0" err="1">
                <a:latin typeface="YaleNew" panose="02000602050000020003" pitchFamily="2" charset="77"/>
              </a:rPr>
              <a:t>Berkelbach</a:t>
            </a:r>
            <a:r>
              <a:rPr lang="en-US" altLang="zh-CN" dirty="0">
                <a:latin typeface="YaleNew" panose="02000602050000020003" pitchFamily="2" charset="77"/>
              </a:rPr>
              <a:t> Nat Commun 10, 3419 (2019))</a:t>
            </a:r>
            <a:r>
              <a:rPr lang="en-US" noProof="0" dirty="0">
                <a:latin typeface="YaleNew" panose="02000602050000020003" pitchFamily="2" charset="77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I</a:t>
            </a:r>
            <a:r>
              <a:rPr lang="en-US" noProof="0" dirty="0" err="1">
                <a:latin typeface="YaleNew" panose="02000602050000020003" pitchFamily="2" charset="77"/>
              </a:rPr>
              <a:t>ntervalley</a:t>
            </a:r>
            <a:r>
              <a:rPr lang="en-US" noProof="0" dirty="0">
                <a:latin typeface="YaleNew" panose="02000602050000020003" pitchFamily="2" charset="77"/>
              </a:rPr>
              <a:t> to reduce Coulomb repulsion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YaleNew" panose="02000602050000020003" pitchFamily="2" charset="77"/>
              </a:rPr>
              <a:t>Spin-valley locking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YaleNew" panose="02000602050000020003" pitchFamily="2" charset="77"/>
              </a:rPr>
              <a:t>Spin(and valley)-singlet state reduces exchange term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709BD4F-F5B2-1B63-2B7B-D662359B3F9B}"/>
              </a:ext>
            </a:extLst>
          </p:cNvPr>
          <p:cNvGrpSpPr/>
          <p:nvPr/>
        </p:nvGrpSpPr>
        <p:grpSpPr>
          <a:xfrm>
            <a:off x="908070" y="1497081"/>
            <a:ext cx="5302787" cy="1056071"/>
            <a:chOff x="1607747" y="1904021"/>
            <a:chExt cx="4850865" cy="966069"/>
          </a:xfrm>
        </p:grpSpPr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E119DDB1-460F-3D49-62BE-AB271319F4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778" r="61090" b="32450"/>
            <a:stretch>
              <a:fillRect/>
            </a:stretch>
          </p:blipFill>
          <p:spPr bwMode="auto">
            <a:xfrm>
              <a:off x="1607747" y="1961120"/>
              <a:ext cx="2019615" cy="872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2">
              <a:extLst>
                <a:ext uri="{FF2B5EF4-FFF2-40B4-BE49-F238E27FC236}">
                  <a16:creationId xmlns:a16="http://schemas.microsoft.com/office/drawing/2014/main" id="{549D0118-CAF7-43D6-8585-8274C87714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053" r="45452" b="1"/>
            <a:stretch>
              <a:fillRect/>
            </a:stretch>
          </p:blipFill>
          <p:spPr bwMode="auto">
            <a:xfrm>
              <a:off x="3627362" y="1904021"/>
              <a:ext cx="2831250" cy="9660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3DDD7C34-9CA5-EFF4-9062-352776F5E46E}"/>
              </a:ext>
            </a:extLst>
          </p:cNvPr>
          <p:cNvSpPr/>
          <p:nvPr/>
        </p:nvSpPr>
        <p:spPr>
          <a:xfrm>
            <a:off x="8996619" y="5580392"/>
            <a:ext cx="265075" cy="2650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</a:t>
            </a:r>
            <a:endParaRPr lang="zh-CN" alt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97EE65E-2355-E183-FB87-8292C036DCF4}"/>
              </a:ext>
            </a:extLst>
          </p:cNvPr>
          <p:cNvSpPr/>
          <p:nvPr/>
        </p:nvSpPr>
        <p:spPr>
          <a:xfrm>
            <a:off x="8696131" y="5303650"/>
            <a:ext cx="817435" cy="817435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474C1DE-4158-4608-9592-4DA97FF504A1}"/>
              </a:ext>
            </a:extLst>
          </p:cNvPr>
          <p:cNvSpPr/>
          <p:nvPr/>
        </p:nvSpPr>
        <p:spPr>
          <a:xfrm>
            <a:off x="9335260" y="5783194"/>
            <a:ext cx="265075" cy="265075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</a:t>
            </a:r>
            <a:endParaRPr lang="zh-CN" alt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40C064-A27A-E1C5-65B8-6CBE474375B0}"/>
              </a:ext>
            </a:extLst>
          </p:cNvPr>
          <p:cNvSpPr/>
          <p:nvPr/>
        </p:nvSpPr>
        <p:spPr>
          <a:xfrm>
            <a:off x="8131331" y="4734390"/>
            <a:ext cx="1956059" cy="1956059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1F87FDF-0F20-726D-148A-3F25C401C932}"/>
              </a:ext>
            </a:extLst>
          </p:cNvPr>
          <p:cNvSpPr/>
          <p:nvPr/>
        </p:nvSpPr>
        <p:spPr>
          <a:xfrm>
            <a:off x="9783330" y="5040899"/>
            <a:ext cx="265075" cy="265075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66D4A57-15A6-BA2F-97CE-3FFE239A75A4}"/>
                  </a:ext>
                </a:extLst>
              </p:cNvPr>
              <p:cNvSpPr txBox="1"/>
              <p:nvPr/>
            </p:nvSpPr>
            <p:spPr>
              <a:xfrm>
                <a:off x="8781056" y="5354299"/>
                <a:ext cx="33868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1400" dirty="0"/>
                  <a:t> 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66D4A57-15A6-BA2F-97CE-3FFE239A7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056" y="5354299"/>
                <a:ext cx="33868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3187B90-7BC0-F520-046C-B2809F8139A9}"/>
                  </a:ext>
                </a:extLst>
              </p:cNvPr>
              <p:cNvSpPr txBox="1"/>
              <p:nvPr/>
            </p:nvSpPr>
            <p:spPr>
              <a:xfrm>
                <a:off x="9405664" y="4951015"/>
                <a:ext cx="33868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1400" dirty="0"/>
                  <a:t> </a:t>
                </a:r>
                <a:endParaRPr lang="zh-CN" altLang="en-US" sz="14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3187B90-7BC0-F520-046C-B2809F813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664" y="4951015"/>
                <a:ext cx="338681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EC3522D9-D36C-B47B-72E5-C3C001A58EDE}"/>
              </a:ext>
            </a:extLst>
          </p:cNvPr>
          <p:cNvGrpSpPr/>
          <p:nvPr/>
        </p:nvGrpSpPr>
        <p:grpSpPr>
          <a:xfrm>
            <a:off x="1940000" y="4195604"/>
            <a:ext cx="4010038" cy="2317519"/>
            <a:chOff x="1539633" y="4323277"/>
            <a:chExt cx="4010038" cy="2317519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BA1D328C-8944-8D51-6211-AFACD5861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39633" y="4323277"/>
              <a:ext cx="4010038" cy="2317519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4671D5A-6478-7102-24B7-1AAB09301398}"/>
                </a:ext>
              </a:extLst>
            </p:cNvPr>
            <p:cNvSpPr/>
            <p:nvPr/>
          </p:nvSpPr>
          <p:spPr>
            <a:xfrm>
              <a:off x="1539633" y="4531584"/>
              <a:ext cx="332295" cy="3280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194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D8359-2E9E-35DC-7469-8F4E1745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E24AA4-98A0-7088-4C8E-091F023B0BCD}"/>
              </a:ext>
            </a:extLst>
          </p:cNvPr>
          <p:cNvSpPr txBox="1"/>
          <p:nvPr/>
        </p:nvSpPr>
        <p:spPr>
          <a:xfrm>
            <a:off x="908070" y="568597"/>
            <a:ext cx="1128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ARPES signal from negative </a:t>
            </a:r>
            <a:r>
              <a:rPr lang="en-US" sz="3600" noProof="0" dirty="0" err="1">
                <a:latin typeface="YaleNew" panose="02000602050000020003" pitchFamily="2" charset="77"/>
              </a:rPr>
              <a:t>trion</a:t>
            </a:r>
            <a:endParaRPr lang="en-US" sz="3600" noProof="0" dirty="0">
              <a:latin typeface="YaleNew" panose="02000602050000020003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E3D9D7F4-34CE-1B9B-99EA-089FA0937289}"/>
                  </a:ext>
                </a:extLst>
              </p:cNvPr>
              <p:cNvSpPr txBox="1"/>
              <p:nvPr/>
            </p:nvSpPr>
            <p:spPr>
              <a:xfrm>
                <a:off x="755862" y="1519050"/>
                <a:ext cx="502082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Detecting electron in K valley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= Exciton residue state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lang="en-US" dirty="0">
                  <a:latin typeface="YaleNew" panose="02000602050000020003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Otherwise hard to detect!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YaleNew" panose="02000602050000020003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YaleNew" panose="02000602050000020003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No signal from 2p final state (symmetry)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YaleNew" panose="02000602050000020003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noProof="0" dirty="0">
                  <a:latin typeface="YaleNew" panose="02000602050000020003" pitchFamily="2" charset="77"/>
                </a:endParaRPr>
              </a:p>
            </p:txBody>
          </p:sp>
        </mc:Choice>
        <mc:Fallback xmlns=""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E3D9D7F4-34CE-1B9B-99EA-089FA0937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62" y="1519050"/>
                <a:ext cx="5020824" cy="2308324"/>
              </a:xfrm>
              <a:prstGeom prst="rect">
                <a:avLst/>
              </a:prstGeom>
              <a:blipFill>
                <a:blip r:embed="rId2"/>
                <a:stretch>
                  <a:fillRect l="-850" t="-1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CB12AC88-7560-D0C6-E0F3-2B09BB1C971F}"/>
              </a:ext>
            </a:extLst>
          </p:cNvPr>
          <p:cNvGrpSpPr/>
          <p:nvPr/>
        </p:nvGrpSpPr>
        <p:grpSpPr>
          <a:xfrm>
            <a:off x="10446660" y="1050962"/>
            <a:ext cx="1332828" cy="1263299"/>
            <a:chOff x="4997541" y="2774120"/>
            <a:chExt cx="1332828" cy="12632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56DC86A-5076-219A-7E02-5983E5D88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63785" y="2820580"/>
              <a:ext cx="1266584" cy="121683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1CECB2-8948-CA23-1DED-57AEDD133328}"/>
                </a:ext>
              </a:extLst>
            </p:cNvPr>
            <p:cNvSpPr txBox="1"/>
            <p:nvPr/>
          </p:nvSpPr>
          <p:spPr>
            <a:xfrm>
              <a:off x="4997541" y="2774120"/>
              <a:ext cx="3465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1s</a:t>
              </a:r>
              <a:endParaRPr lang="zh-CN" altLang="en-US" sz="14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6FCCD3-5A22-81B6-455C-F755EB83C6C4}"/>
              </a:ext>
            </a:extLst>
          </p:cNvPr>
          <p:cNvGrpSpPr/>
          <p:nvPr/>
        </p:nvGrpSpPr>
        <p:grpSpPr>
          <a:xfrm>
            <a:off x="10443462" y="2464516"/>
            <a:ext cx="1336026" cy="1263301"/>
            <a:chOff x="6808367" y="2774118"/>
            <a:chExt cx="1336026" cy="126330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CEC2CF-A7CA-3381-B057-409D4FAA5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7314" y="2820580"/>
              <a:ext cx="1277079" cy="121683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F9A951F-EC4F-AE31-D577-228E2996DE1C}"/>
                </a:ext>
              </a:extLst>
            </p:cNvPr>
            <p:cNvSpPr txBox="1"/>
            <p:nvPr/>
          </p:nvSpPr>
          <p:spPr>
            <a:xfrm>
              <a:off x="6808367" y="2774118"/>
              <a:ext cx="37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2p</a:t>
              </a:r>
              <a:endParaRPr lang="zh-CN" altLang="en-US" sz="1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78869C-37EC-0C42-DABE-E15EEC14F480}"/>
              </a:ext>
            </a:extLst>
          </p:cNvPr>
          <p:cNvGrpSpPr/>
          <p:nvPr/>
        </p:nvGrpSpPr>
        <p:grpSpPr>
          <a:xfrm>
            <a:off x="10443462" y="3911908"/>
            <a:ext cx="1300838" cy="1272259"/>
            <a:chOff x="10384245" y="2775952"/>
            <a:chExt cx="1300838" cy="127225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0A2B741-EA28-CE99-B9B9-A58847196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46660" y="2809788"/>
              <a:ext cx="1238423" cy="123842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AF2251E-83EC-081B-320E-E5A3AF1E45E5}"/>
                </a:ext>
              </a:extLst>
            </p:cNvPr>
            <p:cNvSpPr txBox="1"/>
            <p:nvPr/>
          </p:nvSpPr>
          <p:spPr>
            <a:xfrm>
              <a:off x="10384245" y="2775952"/>
              <a:ext cx="3465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2s</a:t>
              </a:r>
              <a:endParaRPr lang="zh-CN" altLang="en-US" sz="1400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41807E6-E57A-7053-AC1E-0D2D8C6D47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7134"/>
          <a:stretch>
            <a:fillRect/>
          </a:stretch>
        </p:blipFill>
        <p:spPr>
          <a:xfrm>
            <a:off x="5326198" y="1203050"/>
            <a:ext cx="4772132" cy="549997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1E983FF-7297-09E2-209B-02BCD9543F8A}"/>
              </a:ext>
            </a:extLst>
          </p:cNvPr>
          <p:cNvGrpSpPr/>
          <p:nvPr/>
        </p:nvGrpSpPr>
        <p:grpSpPr>
          <a:xfrm>
            <a:off x="755862" y="3826460"/>
            <a:ext cx="4010038" cy="2317519"/>
            <a:chOff x="6720777" y="360290"/>
            <a:chExt cx="4010038" cy="231751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F42F16F-67C8-18F2-0617-373389954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20777" y="360290"/>
              <a:ext cx="4010038" cy="2317519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AB4C7CF-7D10-F27F-A67B-0AB986E348DD}"/>
                </a:ext>
              </a:extLst>
            </p:cNvPr>
            <p:cNvSpPr/>
            <p:nvPr/>
          </p:nvSpPr>
          <p:spPr>
            <a:xfrm>
              <a:off x="6720777" y="568597"/>
              <a:ext cx="332295" cy="3280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0462D3D-127A-2737-97B1-49531CE88C9D}"/>
              </a:ext>
            </a:extLst>
          </p:cNvPr>
          <p:cNvSpPr/>
          <p:nvPr/>
        </p:nvSpPr>
        <p:spPr>
          <a:xfrm>
            <a:off x="2917371" y="4888230"/>
            <a:ext cx="1848529" cy="2959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F73F2D3-AF80-76E5-6F4D-878F4E33A0F4}"/>
              </a:ext>
            </a:extLst>
          </p:cNvPr>
          <p:cNvSpPr/>
          <p:nvPr/>
        </p:nvSpPr>
        <p:spPr>
          <a:xfrm>
            <a:off x="3089910" y="3855720"/>
            <a:ext cx="815340" cy="913275"/>
          </a:xfrm>
          <a:custGeom>
            <a:avLst/>
            <a:gdLst>
              <a:gd name="csX0" fmla="*/ 531495 w 815340"/>
              <a:gd name="csY0" fmla="*/ 912495 h 913275"/>
              <a:gd name="csX1" fmla="*/ 502920 w 815340"/>
              <a:gd name="csY1" fmla="*/ 910590 h 913275"/>
              <a:gd name="csX2" fmla="*/ 495300 w 815340"/>
              <a:gd name="csY2" fmla="*/ 908685 h 913275"/>
              <a:gd name="csX3" fmla="*/ 481965 w 815340"/>
              <a:gd name="csY3" fmla="*/ 906780 h 913275"/>
              <a:gd name="csX4" fmla="*/ 461010 w 815340"/>
              <a:gd name="csY4" fmla="*/ 899160 h 913275"/>
              <a:gd name="csX5" fmla="*/ 449580 w 815340"/>
              <a:gd name="csY5" fmla="*/ 891540 h 913275"/>
              <a:gd name="csX6" fmla="*/ 440055 w 815340"/>
              <a:gd name="csY6" fmla="*/ 882015 h 913275"/>
              <a:gd name="csX7" fmla="*/ 428625 w 815340"/>
              <a:gd name="csY7" fmla="*/ 872490 h 913275"/>
              <a:gd name="csX8" fmla="*/ 409575 w 815340"/>
              <a:gd name="csY8" fmla="*/ 842010 h 913275"/>
              <a:gd name="csX9" fmla="*/ 403860 w 815340"/>
              <a:gd name="csY9" fmla="*/ 828675 h 913275"/>
              <a:gd name="csX10" fmla="*/ 381000 w 815340"/>
              <a:gd name="csY10" fmla="*/ 788670 h 913275"/>
              <a:gd name="csX11" fmla="*/ 365760 w 815340"/>
              <a:gd name="csY11" fmla="*/ 762000 h 913275"/>
              <a:gd name="csX12" fmla="*/ 350520 w 815340"/>
              <a:gd name="csY12" fmla="*/ 718185 h 913275"/>
              <a:gd name="csX13" fmla="*/ 335280 w 815340"/>
              <a:gd name="csY13" fmla="*/ 693420 h 913275"/>
              <a:gd name="csX14" fmla="*/ 323850 w 815340"/>
              <a:gd name="csY14" fmla="*/ 674370 h 913275"/>
              <a:gd name="csX15" fmla="*/ 312420 w 815340"/>
              <a:gd name="csY15" fmla="*/ 659130 h 913275"/>
              <a:gd name="csX16" fmla="*/ 306705 w 815340"/>
              <a:gd name="csY16" fmla="*/ 651510 h 913275"/>
              <a:gd name="csX17" fmla="*/ 299085 w 815340"/>
              <a:gd name="csY17" fmla="*/ 647700 h 913275"/>
              <a:gd name="csX18" fmla="*/ 291465 w 815340"/>
              <a:gd name="csY18" fmla="*/ 641985 h 913275"/>
              <a:gd name="csX19" fmla="*/ 260985 w 815340"/>
              <a:gd name="csY19" fmla="*/ 630555 h 913275"/>
              <a:gd name="csX20" fmla="*/ 253365 w 815340"/>
              <a:gd name="csY20" fmla="*/ 624840 h 913275"/>
              <a:gd name="csX21" fmla="*/ 226695 w 815340"/>
              <a:gd name="csY21" fmla="*/ 615315 h 913275"/>
              <a:gd name="csX22" fmla="*/ 194310 w 815340"/>
              <a:gd name="csY22" fmla="*/ 590550 h 913275"/>
              <a:gd name="csX23" fmla="*/ 167640 w 815340"/>
              <a:gd name="csY23" fmla="*/ 563880 h 913275"/>
              <a:gd name="csX24" fmla="*/ 158115 w 815340"/>
              <a:gd name="csY24" fmla="*/ 554355 h 913275"/>
              <a:gd name="csX25" fmla="*/ 150495 w 815340"/>
              <a:gd name="csY25" fmla="*/ 544830 h 913275"/>
              <a:gd name="csX26" fmla="*/ 139065 w 815340"/>
              <a:gd name="csY26" fmla="*/ 533400 h 913275"/>
              <a:gd name="csX27" fmla="*/ 127635 w 815340"/>
              <a:gd name="csY27" fmla="*/ 510540 h 913275"/>
              <a:gd name="csX28" fmla="*/ 116205 w 815340"/>
              <a:gd name="csY28" fmla="*/ 491490 h 913275"/>
              <a:gd name="csX29" fmla="*/ 108585 w 815340"/>
              <a:gd name="csY29" fmla="*/ 476250 h 913275"/>
              <a:gd name="csX30" fmla="*/ 85725 w 815340"/>
              <a:gd name="csY30" fmla="*/ 438150 h 913275"/>
              <a:gd name="csX31" fmla="*/ 78105 w 815340"/>
              <a:gd name="csY31" fmla="*/ 424815 h 913275"/>
              <a:gd name="csX32" fmla="*/ 68580 w 815340"/>
              <a:gd name="csY32" fmla="*/ 401955 h 913275"/>
              <a:gd name="csX33" fmla="*/ 53340 w 815340"/>
              <a:gd name="csY33" fmla="*/ 371475 h 913275"/>
              <a:gd name="csX34" fmla="*/ 17145 w 815340"/>
              <a:gd name="csY34" fmla="*/ 300990 h 913275"/>
              <a:gd name="csX35" fmla="*/ 0 w 815340"/>
              <a:gd name="csY35" fmla="*/ 245745 h 913275"/>
              <a:gd name="csX36" fmla="*/ 9525 w 815340"/>
              <a:gd name="csY36" fmla="*/ 192405 h 913275"/>
              <a:gd name="csX37" fmla="*/ 78105 w 815340"/>
              <a:gd name="csY37" fmla="*/ 123825 h 913275"/>
              <a:gd name="csX38" fmla="*/ 137160 w 815340"/>
              <a:gd name="csY38" fmla="*/ 85725 h 913275"/>
              <a:gd name="csX39" fmla="*/ 196215 w 815340"/>
              <a:gd name="csY39" fmla="*/ 55245 h 913275"/>
              <a:gd name="csX40" fmla="*/ 314325 w 815340"/>
              <a:gd name="csY40" fmla="*/ 9525 h 913275"/>
              <a:gd name="csX41" fmla="*/ 333375 w 815340"/>
              <a:gd name="csY41" fmla="*/ 7620 h 913275"/>
              <a:gd name="csX42" fmla="*/ 346710 w 815340"/>
              <a:gd name="csY42" fmla="*/ 5715 h 913275"/>
              <a:gd name="csX43" fmla="*/ 434340 w 815340"/>
              <a:gd name="csY43" fmla="*/ 0 h 913275"/>
              <a:gd name="csX44" fmla="*/ 563880 w 815340"/>
              <a:gd name="csY44" fmla="*/ 7620 h 913275"/>
              <a:gd name="csX45" fmla="*/ 598170 w 815340"/>
              <a:gd name="csY45" fmla="*/ 17145 h 913275"/>
              <a:gd name="csX46" fmla="*/ 628650 w 815340"/>
              <a:gd name="csY46" fmla="*/ 24765 h 913275"/>
              <a:gd name="csX47" fmla="*/ 720090 w 815340"/>
              <a:gd name="csY47" fmla="*/ 32385 h 913275"/>
              <a:gd name="csX48" fmla="*/ 739140 w 815340"/>
              <a:gd name="csY48" fmla="*/ 40005 h 913275"/>
              <a:gd name="csX49" fmla="*/ 756285 w 815340"/>
              <a:gd name="csY49" fmla="*/ 43815 h 913275"/>
              <a:gd name="csX50" fmla="*/ 775335 w 815340"/>
              <a:gd name="csY50" fmla="*/ 51435 h 913275"/>
              <a:gd name="csX51" fmla="*/ 784860 w 815340"/>
              <a:gd name="csY51" fmla="*/ 57150 h 913275"/>
              <a:gd name="csX52" fmla="*/ 790575 w 815340"/>
              <a:gd name="csY52" fmla="*/ 60960 h 913275"/>
              <a:gd name="csX53" fmla="*/ 805815 w 815340"/>
              <a:gd name="csY53" fmla="*/ 91440 h 913275"/>
              <a:gd name="csX54" fmla="*/ 809625 w 815340"/>
              <a:gd name="csY54" fmla="*/ 104775 h 913275"/>
              <a:gd name="csX55" fmla="*/ 811530 w 815340"/>
              <a:gd name="csY55" fmla="*/ 118110 h 913275"/>
              <a:gd name="csX56" fmla="*/ 815340 w 815340"/>
              <a:gd name="csY56" fmla="*/ 142875 h 913275"/>
              <a:gd name="csX57" fmla="*/ 803910 w 815340"/>
              <a:gd name="csY57" fmla="*/ 196215 h 913275"/>
              <a:gd name="csX58" fmla="*/ 754380 w 815340"/>
              <a:gd name="csY58" fmla="*/ 236220 h 913275"/>
              <a:gd name="csX59" fmla="*/ 739140 w 815340"/>
              <a:gd name="csY59" fmla="*/ 241935 h 913275"/>
              <a:gd name="csX60" fmla="*/ 731520 w 815340"/>
              <a:gd name="csY60" fmla="*/ 281940 h 913275"/>
              <a:gd name="csX61" fmla="*/ 723900 w 815340"/>
              <a:gd name="csY61" fmla="*/ 316230 h 913275"/>
              <a:gd name="csX62" fmla="*/ 708660 w 815340"/>
              <a:gd name="csY62" fmla="*/ 358140 h 913275"/>
              <a:gd name="csX63" fmla="*/ 689610 w 815340"/>
              <a:gd name="csY63" fmla="*/ 394335 h 913275"/>
              <a:gd name="csX64" fmla="*/ 685800 w 815340"/>
              <a:gd name="csY64" fmla="*/ 409575 h 913275"/>
              <a:gd name="csX65" fmla="*/ 680085 w 815340"/>
              <a:gd name="csY65" fmla="*/ 424815 h 913275"/>
              <a:gd name="csX66" fmla="*/ 676275 w 815340"/>
              <a:gd name="csY66" fmla="*/ 462915 h 913275"/>
              <a:gd name="csX67" fmla="*/ 672465 w 815340"/>
              <a:gd name="csY67" fmla="*/ 561975 h 913275"/>
              <a:gd name="csX68" fmla="*/ 670560 w 815340"/>
              <a:gd name="csY68" fmla="*/ 582930 h 913275"/>
              <a:gd name="csX69" fmla="*/ 666750 w 815340"/>
              <a:gd name="csY69" fmla="*/ 601980 h 913275"/>
              <a:gd name="csX70" fmla="*/ 659130 w 815340"/>
              <a:gd name="csY70" fmla="*/ 641985 h 913275"/>
              <a:gd name="csX71" fmla="*/ 651510 w 815340"/>
              <a:gd name="csY71" fmla="*/ 683895 h 913275"/>
              <a:gd name="csX72" fmla="*/ 641985 w 815340"/>
              <a:gd name="csY72" fmla="*/ 712470 h 913275"/>
              <a:gd name="csX73" fmla="*/ 626745 w 815340"/>
              <a:gd name="csY73" fmla="*/ 735330 h 913275"/>
              <a:gd name="csX74" fmla="*/ 622935 w 815340"/>
              <a:gd name="csY74" fmla="*/ 744855 h 913275"/>
              <a:gd name="csX75" fmla="*/ 613410 w 815340"/>
              <a:gd name="csY75" fmla="*/ 758190 h 913275"/>
              <a:gd name="csX76" fmla="*/ 607695 w 815340"/>
              <a:gd name="csY76" fmla="*/ 767715 h 913275"/>
              <a:gd name="csX77" fmla="*/ 601980 w 815340"/>
              <a:gd name="csY77" fmla="*/ 775335 h 913275"/>
              <a:gd name="csX78" fmla="*/ 594360 w 815340"/>
              <a:gd name="csY78" fmla="*/ 790575 h 913275"/>
              <a:gd name="csX79" fmla="*/ 582930 w 815340"/>
              <a:gd name="csY79" fmla="*/ 809625 h 913275"/>
              <a:gd name="csX80" fmla="*/ 577215 w 815340"/>
              <a:gd name="csY80" fmla="*/ 824865 h 913275"/>
              <a:gd name="csX81" fmla="*/ 569595 w 815340"/>
              <a:gd name="csY81" fmla="*/ 840105 h 913275"/>
              <a:gd name="csX82" fmla="*/ 567690 w 815340"/>
              <a:gd name="csY82" fmla="*/ 851535 h 913275"/>
              <a:gd name="csX83" fmla="*/ 565785 w 815340"/>
              <a:gd name="csY83" fmla="*/ 861060 h 913275"/>
              <a:gd name="csX84" fmla="*/ 563880 w 815340"/>
              <a:gd name="csY84" fmla="*/ 889635 h 913275"/>
              <a:gd name="csX85" fmla="*/ 560070 w 815340"/>
              <a:gd name="csY85" fmla="*/ 897255 h 913275"/>
              <a:gd name="csX86" fmla="*/ 531495 w 815340"/>
              <a:gd name="csY86" fmla="*/ 912495 h 913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</a:cxnLst>
            <a:rect l="l" t="t" r="r" b="b"/>
            <a:pathLst>
              <a:path w="815340" h="913275">
                <a:moveTo>
                  <a:pt x="531495" y="912495"/>
                </a:moveTo>
                <a:cubicBezTo>
                  <a:pt x="521970" y="914717"/>
                  <a:pt x="512414" y="911589"/>
                  <a:pt x="502920" y="910590"/>
                </a:cubicBezTo>
                <a:cubicBezTo>
                  <a:pt x="500316" y="910316"/>
                  <a:pt x="497876" y="909153"/>
                  <a:pt x="495300" y="908685"/>
                </a:cubicBezTo>
                <a:cubicBezTo>
                  <a:pt x="490882" y="907882"/>
                  <a:pt x="486410" y="907415"/>
                  <a:pt x="481965" y="906780"/>
                </a:cubicBezTo>
                <a:cubicBezTo>
                  <a:pt x="475855" y="904743"/>
                  <a:pt x="465290" y="901300"/>
                  <a:pt x="461010" y="899160"/>
                </a:cubicBezTo>
                <a:cubicBezTo>
                  <a:pt x="456914" y="897112"/>
                  <a:pt x="453124" y="894440"/>
                  <a:pt x="449580" y="891540"/>
                </a:cubicBezTo>
                <a:cubicBezTo>
                  <a:pt x="446105" y="888697"/>
                  <a:pt x="443377" y="885035"/>
                  <a:pt x="440055" y="882015"/>
                </a:cubicBezTo>
                <a:cubicBezTo>
                  <a:pt x="436385" y="878679"/>
                  <a:pt x="431778" y="876318"/>
                  <a:pt x="428625" y="872490"/>
                </a:cubicBezTo>
                <a:cubicBezTo>
                  <a:pt x="421857" y="864271"/>
                  <a:pt x="414365" y="852549"/>
                  <a:pt x="409575" y="842010"/>
                </a:cubicBezTo>
                <a:cubicBezTo>
                  <a:pt x="407574" y="837607"/>
                  <a:pt x="406144" y="832938"/>
                  <a:pt x="403860" y="828675"/>
                </a:cubicBezTo>
                <a:cubicBezTo>
                  <a:pt x="396607" y="815137"/>
                  <a:pt x="388620" y="802005"/>
                  <a:pt x="381000" y="788670"/>
                </a:cubicBezTo>
                <a:cubicBezTo>
                  <a:pt x="375920" y="779780"/>
                  <a:pt x="368702" y="771807"/>
                  <a:pt x="365760" y="762000"/>
                </a:cubicBezTo>
                <a:cubicBezTo>
                  <a:pt x="361519" y="747864"/>
                  <a:pt x="357068" y="731280"/>
                  <a:pt x="350520" y="718185"/>
                </a:cubicBezTo>
                <a:cubicBezTo>
                  <a:pt x="346185" y="709515"/>
                  <a:pt x="340320" y="701700"/>
                  <a:pt x="335280" y="693420"/>
                </a:cubicBezTo>
                <a:cubicBezTo>
                  <a:pt x="331430" y="687094"/>
                  <a:pt x="328293" y="680294"/>
                  <a:pt x="323850" y="674370"/>
                </a:cubicBezTo>
                <a:lnTo>
                  <a:pt x="312420" y="659130"/>
                </a:lnTo>
                <a:cubicBezTo>
                  <a:pt x="310515" y="656590"/>
                  <a:pt x="309545" y="652930"/>
                  <a:pt x="306705" y="651510"/>
                </a:cubicBezTo>
                <a:cubicBezTo>
                  <a:pt x="304165" y="650240"/>
                  <a:pt x="301493" y="649205"/>
                  <a:pt x="299085" y="647700"/>
                </a:cubicBezTo>
                <a:cubicBezTo>
                  <a:pt x="296393" y="646017"/>
                  <a:pt x="294305" y="643405"/>
                  <a:pt x="291465" y="641985"/>
                </a:cubicBezTo>
                <a:cubicBezTo>
                  <a:pt x="274614" y="633559"/>
                  <a:pt x="273941" y="633794"/>
                  <a:pt x="260985" y="630555"/>
                </a:cubicBezTo>
                <a:cubicBezTo>
                  <a:pt x="258445" y="628650"/>
                  <a:pt x="256248" y="626171"/>
                  <a:pt x="253365" y="624840"/>
                </a:cubicBezTo>
                <a:cubicBezTo>
                  <a:pt x="251604" y="624027"/>
                  <a:pt x="231239" y="617966"/>
                  <a:pt x="226695" y="615315"/>
                </a:cubicBezTo>
                <a:cubicBezTo>
                  <a:pt x="220063" y="611446"/>
                  <a:pt x="197796" y="593746"/>
                  <a:pt x="194310" y="590550"/>
                </a:cubicBezTo>
                <a:cubicBezTo>
                  <a:pt x="185042" y="582055"/>
                  <a:pt x="176530" y="572770"/>
                  <a:pt x="167640" y="563880"/>
                </a:cubicBezTo>
                <a:cubicBezTo>
                  <a:pt x="164465" y="560705"/>
                  <a:pt x="160920" y="557861"/>
                  <a:pt x="158115" y="554355"/>
                </a:cubicBezTo>
                <a:cubicBezTo>
                  <a:pt x="155575" y="551180"/>
                  <a:pt x="153230" y="547839"/>
                  <a:pt x="150495" y="544830"/>
                </a:cubicBezTo>
                <a:cubicBezTo>
                  <a:pt x="146871" y="540843"/>
                  <a:pt x="142054" y="537883"/>
                  <a:pt x="139065" y="533400"/>
                </a:cubicBezTo>
                <a:cubicBezTo>
                  <a:pt x="134339" y="526311"/>
                  <a:pt x="132018" y="517845"/>
                  <a:pt x="127635" y="510540"/>
                </a:cubicBezTo>
                <a:cubicBezTo>
                  <a:pt x="123825" y="504190"/>
                  <a:pt x="119801" y="497963"/>
                  <a:pt x="116205" y="491490"/>
                </a:cubicBezTo>
                <a:cubicBezTo>
                  <a:pt x="113447" y="486525"/>
                  <a:pt x="111403" y="481181"/>
                  <a:pt x="108585" y="476250"/>
                </a:cubicBezTo>
                <a:cubicBezTo>
                  <a:pt x="101237" y="463391"/>
                  <a:pt x="93275" y="450891"/>
                  <a:pt x="85725" y="438150"/>
                </a:cubicBezTo>
                <a:cubicBezTo>
                  <a:pt x="83115" y="433746"/>
                  <a:pt x="80074" y="429541"/>
                  <a:pt x="78105" y="424815"/>
                </a:cubicBezTo>
                <a:cubicBezTo>
                  <a:pt x="74930" y="417195"/>
                  <a:pt x="72056" y="409442"/>
                  <a:pt x="68580" y="401955"/>
                </a:cubicBezTo>
                <a:cubicBezTo>
                  <a:pt x="63797" y="391652"/>
                  <a:pt x="58940" y="381358"/>
                  <a:pt x="53340" y="371475"/>
                </a:cubicBezTo>
                <a:cubicBezTo>
                  <a:pt x="33655" y="336737"/>
                  <a:pt x="31259" y="346467"/>
                  <a:pt x="17145" y="300990"/>
                </a:cubicBezTo>
                <a:lnTo>
                  <a:pt x="0" y="245745"/>
                </a:lnTo>
                <a:cubicBezTo>
                  <a:pt x="3175" y="227965"/>
                  <a:pt x="2756" y="209150"/>
                  <a:pt x="9525" y="192405"/>
                </a:cubicBezTo>
                <a:cubicBezTo>
                  <a:pt x="21393" y="163047"/>
                  <a:pt x="54111" y="140575"/>
                  <a:pt x="78105" y="123825"/>
                </a:cubicBezTo>
                <a:cubicBezTo>
                  <a:pt x="97314" y="110415"/>
                  <a:pt x="116901" y="97488"/>
                  <a:pt x="137160" y="85725"/>
                </a:cubicBezTo>
                <a:cubicBezTo>
                  <a:pt x="156317" y="74602"/>
                  <a:pt x="176086" y="64494"/>
                  <a:pt x="196215" y="55245"/>
                </a:cubicBezTo>
                <a:cubicBezTo>
                  <a:pt x="220843" y="43930"/>
                  <a:pt x="279378" y="17960"/>
                  <a:pt x="314325" y="9525"/>
                </a:cubicBezTo>
                <a:cubicBezTo>
                  <a:pt x="320529" y="8028"/>
                  <a:pt x="327037" y="8366"/>
                  <a:pt x="333375" y="7620"/>
                </a:cubicBezTo>
                <a:cubicBezTo>
                  <a:pt x="337834" y="7095"/>
                  <a:pt x="342242" y="6162"/>
                  <a:pt x="346710" y="5715"/>
                </a:cubicBezTo>
                <a:cubicBezTo>
                  <a:pt x="365638" y="3822"/>
                  <a:pt x="431087" y="197"/>
                  <a:pt x="434340" y="0"/>
                </a:cubicBezTo>
                <a:cubicBezTo>
                  <a:pt x="477520" y="2540"/>
                  <a:pt x="520860" y="3118"/>
                  <a:pt x="563880" y="7620"/>
                </a:cubicBezTo>
                <a:cubicBezTo>
                  <a:pt x="575678" y="8855"/>
                  <a:pt x="586702" y="14109"/>
                  <a:pt x="598170" y="17145"/>
                </a:cubicBezTo>
                <a:cubicBezTo>
                  <a:pt x="608294" y="19825"/>
                  <a:pt x="618410" y="22571"/>
                  <a:pt x="628650" y="24765"/>
                </a:cubicBezTo>
                <a:cubicBezTo>
                  <a:pt x="660461" y="31582"/>
                  <a:pt x="684202" y="30391"/>
                  <a:pt x="720090" y="32385"/>
                </a:cubicBezTo>
                <a:cubicBezTo>
                  <a:pt x="726440" y="34925"/>
                  <a:pt x="732618" y="37946"/>
                  <a:pt x="739140" y="40005"/>
                </a:cubicBezTo>
                <a:cubicBezTo>
                  <a:pt x="744723" y="41768"/>
                  <a:pt x="750772" y="41846"/>
                  <a:pt x="756285" y="43815"/>
                </a:cubicBezTo>
                <a:cubicBezTo>
                  <a:pt x="787598" y="54998"/>
                  <a:pt x="745554" y="45479"/>
                  <a:pt x="775335" y="51435"/>
                </a:cubicBezTo>
                <a:cubicBezTo>
                  <a:pt x="778510" y="53340"/>
                  <a:pt x="781720" y="55188"/>
                  <a:pt x="784860" y="57150"/>
                </a:cubicBezTo>
                <a:cubicBezTo>
                  <a:pt x="786802" y="58363"/>
                  <a:pt x="789067" y="59237"/>
                  <a:pt x="790575" y="60960"/>
                </a:cubicBezTo>
                <a:cubicBezTo>
                  <a:pt x="797612" y="69002"/>
                  <a:pt x="803031" y="81698"/>
                  <a:pt x="805815" y="91440"/>
                </a:cubicBezTo>
                <a:cubicBezTo>
                  <a:pt x="807085" y="95885"/>
                  <a:pt x="808656" y="100255"/>
                  <a:pt x="809625" y="104775"/>
                </a:cubicBezTo>
                <a:cubicBezTo>
                  <a:pt x="810566" y="109165"/>
                  <a:pt x="810847" y="113672"/>
                  <a:pt x="811530" y="118110"/>
                </a:cubicBezTo>
                <a:cubicBezTo>
                  <a:pt x="816816" y="152471"/>
                  <a:pt x="809816" y="104208"/>
                  <a:pt x="815340" y="142875"/>
                </a:cubicBezTo>
                <a:cubicBezTo>
                  <a:pt x="811530" y="160655"/>
                  <a:pt x="811556" y="179717"/>
                  <a:pt x="803910" y="196215"/>
                </a:cubicBezTo>
                <a:cubicBezTo>
                  <a:pt x="799486" y="205761"/>
                  <a:pt x="766508" y="233188"/>
                  <a:pt x="754380" y="236220"/>
                </a:cubicBezTo>
                <a:cubicBezTo>
                  <a:pt x="744005" y="238814"/>
                  <a:pt x="749102" y="236954"/>
                  <a:pt x="739140" y="241935"/>
                </a:cubicBezTo>
                <a:cubicBezTo>
                  <a:pt x="726649" y="258590"/>
                  <a:pt x="734592" y="245078"/>
                  <a:pt x="731520" y="281940"/>
                </a:cubicBezTo>
                <a:cubicBezTo>
                  <a:pt x="730535" y="293759"/>
                  <a:pt x="727662" y="304944"/>
                  <a:pt x="723900" y="316230"/>
                </a:cubicBezTo>
                <a:cubicBezTo>
                  <a:pt x="719199" y="330332"/>
                  <a:pt x="715879" y="345146"/>
                  <a:pt x="708660" y="358140"/>
                </a:cubicBezTo>
                <a:cubicBezTo>
                  <a:pt x="704179" y="366206"/>
                  <a:pt x="692837" y="386036"/>
                  <a:pt x="689610" y="394335"/>
                </a:cubicBezTo>
                <a:cubicBezTo>
                  <a:pt x="687712" y="399215"/>
                  <a:pt x="687362" y="404577"/>
                  <a:pt x="685800" y="409575"/>
                </a:cubicBezTo>
                <a:cubicBezTo>
                  <a:pt x="684182" y="414753"/>
                  <a:pt x="681990" y="419735"/>
                  <a:pt x="680085" y="424815"/>
                </a:cubicBezTo>
                <a:cubicBezTo>
                  <a:pt x="678324" y="438906"/>
                  <a:pt x="676974" y="448002"/>
                  <a:pt x="676275" y="462915"/>
                </a:cubicBezTo>
                <a:cubicBezTo>
                  <a:pt x="674728" y="495923"/>
                  <a:pt x="675457" y="529066"/>
                  <a:pt x="672465" y="561975"/>
                </a:cubicBezTo>
                <a:cubicBezTo>
                  <a:pt x="671830" y="568960"/>
                  <a:pt x="671552" y="575987"/>
                  <a:pt x="670560" y="582930"/>
                </a:cubicBezTo>
                <a:cubicBezTo>
                  <a:pt x="669644" y="589341"/>
                  <a:pt x="667908" y="595609"/>
                  <a:pt x="666750" y="601980"/>
                </a:cubicBezTo>
                <a:cubicBezTo>
                  <a:pt x="659591" y="641353"/>
                  <a:pt x="666424" y="609161"/>
                  <a:pt x="659130" y="641985"/>
                </a:cubicBezTo>
                <a:cubicBezTo>
                  <a:pt x="656754" y="665745"/>
                  <a:pt x="658391" y="658666"/>
                  <a:pt x="651510" y="683895"/>
                </a:cubicBezTo>
                <a:cubicBezTo>
                  <a:pt x="649800" y="690165"/>
                  <a:pt x="645685" y="705071"/>
                  <a:pt x="641985" y="712470"/>
                </a:cubicBezTo>
                <a:cubicBezTo>
                  <a:pt x="622549" y="751342"/>
                  <a:pt x="645345" y="704329"/>
                  <a:pt x="626745" y="735330"/>
                </a:cubicBezTo>
                <a:cubicBezTo>
                  <a:pt x="624986" y="738262"/>
                  <a:pt x="624658" y="741901"/>
                  <a:pt x="622935" y="744855"/>
                </a:cubicBezTo>
                <a:cubicBezTo>
                  <a:pt x="620183" y="749573"/>
                  <a:pt x="616440" y="753645"/>
                  <a:pt x="613410" y="758190"/>
                </a:cubicBezTo>
                <a:cubicBezTo>
                  <a:pt x="611356" y="761271"/>
                  <a:pt x="609749" y="764634"/>
                  <a:pt x="607695" y="767715"/>
                </a:cubicBezTo>
                <a:cubicBezTo>
                  <a:pt x="605934" y="770357"/>
                  <a:pt x="603580" y="772593"/>
                  <a:pt x="601980" y="775335"/>
                </a:cubicBezTo>
                <a:cubicBezTo>
                  <a:pt x="599118" y="780241"/>
                  <a:pt x="597118" y="785610"/>
                  <a:pt x="594360" y="790575"/>
                </a:cubicBezTo>
                <a:cubicBezTo>
                  <a:pt x="590764" y="797048"/>
                  <a:pt x="586740" y="803275"/>
                  <a:pt x="582930" y="809625"/>
                </a:cubicBezTo>
                <a:cubicBezTo>
                  <a:pt x="579741" y="825568"/>
                  <a:pt x="583411" y="813505"/>
                  <a:pt x="577215" y="824865"/>
                </a:cubicBezTo>
                <a:cubicBezTo>
                  <a:pt x="574495" y="829851"/>
                  <a:pt x="569595" y="840105"/>
                  <a:pt x="569595" y="840105"/>
                </a:cubicBezTo>
                <a:cubicBezTo>
                  <a:pt x="568960" y="843915"/>
                  <a:pt x="568381" y="847735"/>
                  <a:pt x="567690" y="851535"/>
                </a:cubicBezTo>
                <a:cubicBezTo>
                  <a:pt x="567111" y="854721"/>
                  <a:pt x="566107" y="857838"/>
                  <a:pt x="565785" y="861060"/>
                </a:cubicBezTo>
                <a:cubicBezTo>
                  <a:pt x="564835" y="870559"/>
                  <a:pt x="565369" y="880206"/>
                  <a:pt x="563880" y="889635"/>
                </a:cubicBezTo>
                <a:cubicBezTo>
                  <a:pt x="563437" y="892440"/>
                  <a:pt x="562226" y="895407"/>
                  <a:pt x="560070" y="897255"/>
                </a:cubicBezTo>
                <a:cubicBezTo>
                  <a:pt x="557474" y="899480"/>
                  <a:pt x="541020" y="910273"/>
                  <a:pt x="531495" y="912495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73C50B-1BB9-F95E-24D4-20A5436AFDB1}"/>
              </a:ext>
            </a:extLst>
          </p:cNvPr>
          <p:cNvSpPr/>
          <p:nvPr/>
        </p:nvSpPr>
        <p:spPr>
          <a:xfrm rot="4314952">
            <a:off x="2586714" y="3931204"/>
            <a:ext cx="381964" cy="2369653"/>
          </a:xfrm>
          <a:prstGeom prst="ellipse">
            <a:avLst/>
          </a:prstGeom>
          <a:solidFill>
            <a:srgbClr val="25D5E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111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1FE3E-C13A-785B-E45D-11AE5E94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1BA624-EEE2-2EE6-0B22-C3F0F9D2951E}"/>
              </a:ext>
            </a:extLst>
          </p:cNvPr>
          <p:cNvSpPr txBox="1"/>
          <p:nvPr/>
        </p:nvSpPr>
        <p:spPr>
          <a:xfrm>
            <a:off x="908070" y="568597"/>
            <a:ext cx="1128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ARPES signal from negative </a:t>
            </a:r>
            <a:r>
              <a:rPr lang="en-US" sz="3600" noProof="0" dirty="0" err="1">
                <a:latin typeface="YaleNew" panose="02000602050000020003" pitchFamily="2" charset="77"/>
              </a:rPr>
              <a:t>trion</a:t>
            </a:r>
            <a:endParaRPr lang="en-US" sz="3600" noProof="0" dirty="0">
              <a:latin typeface="YaleNew" panose="02000602050000020003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B382DCB9-3171-6C9C-E0E0-3EF1F22FCADC}"/>
                  </a:ext>
                </a:extLst>
              </p:cNvPr>
              <p:cNvSpPr txBox="1"/>
              <p:nvPr/>
            </p:nvSpPr>
            <p:spPr>
              <a:xfrm>
                <a:off x="755862" y="1519050"/>
                <a:ext cx="495910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Detecting electron in K’ valley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= Exciton residue state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lang="en-US" dirty="0">
                  <a:latin typeface="YaleNew" panose="02000602050000020003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Previously only visible in EELS! (cf. </a:t>
                </a:r>
                <a:r>
                  <a:rPr lang="en-US" dirty="0" err="1">
                    <a:latin typeface="YaleNew" panose="02000602050000020003" pitchFamily="2" charset="77"/>
                  </a:rPr>
                  <a:t>arXiv</a:t>
                </a:r>
                <a:r>
                  <a:rPr lang="en-US" dirty="0">
                    <a:latin typeface="YaleNew" panose="02000602050000020003" pitchFamily="2" charset="77"/>
                  </a:rPr>
                  <a:t> </a:t>
                </a:r>
                <a:r>
                  <a:rPr lang="en-US" altLang="zh-CN" dirty="0"/>
                  <a:t>2502.20454v2, </a:t>
                </a:r>
                <a:r>
                  <a:rPr lang="en-US" altLang="zh-CN" u="sng" dirty="0"/>
                  <a:t>talk by Luna Y. Liu on Thu. in MAR-U26 at 2:24 pm</a:t>
                </a:r>
                <a:r>
                  <a:rPr lang="en-US" dirty="0">
                    <a:latin typeface="YaleNew" panose="02000602050000020003" pitchFamily="2" charset="77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YaleNew" panose="02000602050000020003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YaleNew" panose="02000602050000020003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No signal from 2p final state (symmetry)</a:t>
                </a:r>
              </a:p>
            </p:txBody>
          </p:sp>
        </mc:Choice>
        <mc:Fallback xmlns=""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B382DCB9-3171-6C9C-E0E0-3EF1F22FC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62" y="1519050"/>
                <a:ext cx="4959106" cy="2308324"/>
              </a:xfrm>
              <a:prstGeom prst="rect">
                <a:avLst/>
              </a:prstGeom>
              <a:blipFill>
                <a:blip r:embed="rId2"/>
                <a:stretch>
                  <a:fillRect l="-861" t="-1319" b="-31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B0B49B7-DC48-2AC7-E503-79F34F0EBD33}"/>
              </a:ext>
            </a:extLst>
          </p:cNvPr>
          <p:cNvGrpSpPr/>
          <p:nvPr/>
        </p:nvGrpSpPr>
        <p:grpSpPr>
          <a:xfrm>
            <a:off x="10446660" y="1050962"/>
            <a:ext cx="1332828" cy="1263299"/>
            <a:chOff x="4997541" y="2774120"/>
            <a:chExt cx="1332828" cy="12632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3B60522-3B5D-56F6-8B27-70962B2452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63785" y="2820580"/>
              <a:ext cx="1266584" cy="121683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E405A9-D844-AB8D-0490-F614572A7F42}"/>
                </a:ext>
              </a:extLst>
            </p:cNvPr>
            <p:cNvSpPr txBox="1"/>
            <p:nvPr/>
          </p:nvSpPr>
          <p:spPr>
            <a:xfrm>
              <a:off x="4997541" y="2774120"/>
              <a:ext cx="3465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1s</a:t>
              </a:r>
              <a:endParaRPr lang="zh-CN" altLang="en-US" sz="14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02F3CB-7018-4D1A-08AA-76DCE95BA4E0}"/>
              </a:ext>
            </a:extLst>
          </p:cNvPr>
          <p:cNvGrpSpPr/>
          <p:nvPr/>
        </p:nvGrpSpPr>
        <p:grpSpPr>
          <a:xfrm>
            <a:off x="10443462" y="2464516"/>
            <a:ext cx="1336026" cy="1263301"/>
            <a:chOff x="6808367" y="2774118"/>
            <a:chExt cx="1336026" cy="126330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6CE7467-4841-4418-4434-7F03EA917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7314" y="2820580"/>
              <a:ext cx="1277079" cy="121683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2A2C4D-14B5-2265-F308-43C2376E1881}"/>
                </a:ext>
              </a:extLst>
            </p:cNvPr>
            <p:cNvSpPr txBox="1"/>
            <p:nvPr/>
          </p:nvSpPr>
          <p:spPr>
            <a:xfrm>
              <a:off x="6808367" y="2774118"/>
              <a:ext cx="37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2p</a:t>
              </a:r>
              <a:endParaRPr lang="zh-CN" altLang="en-US" sz="14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F468C7-B627-9ED3-FF2D-1F6BE051521E}"/>
              </a:ext>
            </a:extLst>
          </p:cNvPr>
          <p:cNvGrpSpPr/>
          <p:nvPr/>
        </p:nvGrpSpPr>
        <p:grpSpPr>
          <a:xfrm>
            <a:off x="10443462" y="3911908"/>
            <a:ext cx="1300838" cy="1272259"/>
            <a:chOff x="10384245" y="2775952"/>
            <a:chExt cx="1300838" cy="127225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4B873E9-F698-3229-2577-7B4386E3D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46660" y="2809788"/>
              <a:ext cx="1238423" cy="123842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1D216D-1632-FE78-4182-5F373D767D95}"/>
                </a:ext>
              </a:extLst>
            </p:cNvPr>
            <p:cNvSpPr txBox="1"/>
            <p:nvPr/>
          </p:nvSpPr>
          <p:spPr>
            <a:xfrm>
              <a:off x="10384245" y="2775952"/>
              <a:ext cx="3465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2s</a:t>
              </a:r>
              <a:endParaRPr lang="zh-CN" altLang="en-US" sz="14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BD873B-3999-DE4A-9B74-CD9FF8E1FEC6}"/>
              </a:ext>
            </a:extLst>
          </p:cNvPr>
          <p:cNvGrpSpPr/>
          <p:nvPr/>
        </p:nvGrpSpPr>
        <p:grpSpPr>
          <a:xfrm>
            <a:off x="5714967" y="1097422"/>
            <a:ext cx="4807856" cy="5499973"/>
            <a:chOff x="5617033" y="1214928"/>
            <a:chExt cx="4807856" cy="549997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5DFA85D-655B-C695-372F-136DA91FF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55638" r="1350"/>
            <a:stretch>
              <a:fillRect/>
            </a:stretch>
          </p:blipFill>
          <p:spPr>
            <a:xfrm>
              <a:off x="6542319" y="1214928"/>
              <a:ext cx="3882570" cy="549997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0758EFB6-B819-9908-1FB2-C40907CD3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3120" r="88879" b="34349"/>
            <a:stretch>
              <a:fillRect/>
            </a:stretch>
          </p:blipFill>
          <p:spPr>
            <a:xfrm>
              <a:off x="5617033" y="1376659"/>
              <a:ext cx="1003820" cy="3439181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54A065-9E7E-FE91-36D3-C61448E1B1A8}"/>
              </a:ext>
            </a:extLst>
          </p:cNvPr>
          <p:cNvGrpSpPr/>
          <p:nvPr/>
        </p:nvGrpSpPr>
        <p:grpSpPr>
          <a:xfrm>
            <a:off x="908070" y="4219668"/>
            <a:ext cx="4010038" cy="2349355"/>
            <a:chOff x="908070" y="4302039"/>
            <a:chExt cx="4010038" cy="23493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DC0C231-B4DD-108D-F9D8-CE331E7D6E4A}"/>
                </a:ext>
              </a:extLst>
            </p:cNvPr>
            <p:cNvGrpSpPr/>
            <p:nvPr/>
          </p:nvGrpSpPr>
          <p:grpSpPr>
            <a:xfrm>
              <a:off x="908070" y="4333875"/>
              <a:ext cx="4010038" cy="2317519"/>
              <a:chOff x="6720777" y="360290"/>
              <a:chExt cx="4010038" cy="2317519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E646C890-7FE5-264B-9910-DFDDCEF58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20777" y="360290"/>
                <a:ext cx="4010038" cy="2317519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FA28FD1-20D9-1074-0F41-900EAFAD4D66}"/>
                  </a:ext>
                </a:extLst>
              </p:cNvPr>
              <p:cNvSpPr/>
              <p:nvPr/>
            </p:nvSpPr>
            <p:spPr>
              <a:xfrm>
                <a:off x="6720777" y="568597"/>
                <a:ext cx="332295" cy="3280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E096E6-F0B9-59A9-3382-D3A237C0FD2B}"/>
                </a:ext>
              </a:extLst>
            </p:cNvPr>
            <p:cNvSpPr/>
            <p:nvPr/>
          </p:nvSpPr>
          <p:spPr>
            <a:xfrm>
              <a:off x="908070" y="5413323"/>
              <a:ext cx="1975089" cy="2296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100364-45B9-3512-630B-322E636D2B1E}"/>
                </a:ext>
              </a:extLst>
            </p:cNvPr>
            <p:cNvSpPr/>
            <p:nvPr/>
          </p:nvSpPr>
          <p:spPr>
            <a:xfrm>
              <a:off x="1333308" y="4302039"/>
              <a:ext cx="908746" cy="963930"/>
            </a:xfrm>
            <a:custGeom>
              <a:avLst/>
              <a:gdLst>
                <a:gd name="csX0" fmla="*/ 91440 w 908746"/>
                <a:gd name="csY0" fmla="*/ 323850 h 963930"/>
                <a:gd name="csX1" fmla="*/ 112395 w 908746"/>
                <a:gd name="csY1" fmla="*/ 360045 h 963930"/>
                <a:gd name="csX2" fmla="*/ 137160 w 908746"/>
                <a:gd name="csY2" fmla="*/ 405765 h 963930"/>
                <a:gd name="csX3" fmla="*/ 154305 w 908746"/>
                <a:gd name="csY3" fmla="*/ 432435 h 963930"/>
                <a:gd name="csX4" fmla="*/ 188595 w 908746"/>
                <a:gd name="csY4" fmla="*/ 504825 h 963930"/>
                <a:gd name="csX5" fmla="*/ 196215 w 908746"/>
                <a:gd name="csY5" fmla="*/ 521970 h 963930"/>
                <a:gd name="csX6" fmla="*/ 207645 w 908746"/>
                <a:gd name="csY6" fmla="*/ 563880 h 963930"/>
                <a:gd name="csX7" fmla="*/ 217170 w 908746"/>
                <a:gd name="csY7" fmla="*/ 626745 h 963930"/>
                <a:gd name="csX8" fmla="*/ 224790 w 908746"/>
                <a:gd name="csY8" fmla="*/ 640080 h 963930"/>
                <a:gd name="csX9" fmla="*/ 249555 w 908746"/>
                <a:gd name="csY9" fmla="*/ 662940 h 963930"/>
                <a:gd name="csX10" fmla="*/ 260985 w 908746"/>
                <a:gd name="csY10" fmla="*/ 676275 h 963930"/>
                <a:gd name="csX11" fmla="*/ 272415 w 908746"/>
                <a:gd name="csY11" fmla="*/ 685800 h 963930"/>
                <a:gd name="csX12" fmla="*/ 287655 w 908746"/>
                <a:gd name="csY12" fmla="*/ 693420 h 963930"/>
                <a:gd name="csX13" fmla="*/ 304800 w 908746"/>
                <a:gd name="csY13" fmla="*/ 706755 h 963930"/>
                <a:gd name="csX14" fmla="*/ 344805 w 908746"/>
                <a:gd name="csY14" fmla="*/ 737235 h 963930"/>
                <a:gd name="csX15" fmla="*/ 354330 w 908746"/>
                <a:gd name="csY15" fmla="*/ 744855 h 963930"/>
                <a:gd name="csX16" fmla="*/ 365760 w 908746"/>
                <a:gd name="csY16" fmla="*/ 752475 h 963930"/>
                <a:gd name="csX17" fmla="*/ 382905 w 908746"/>
                <a:gd name="csY17" fmla="*/ 769620 h 963930"/>
                <a:gd name="csX18" fmla="*/ 390525 w 908746"/>
                <a:gd name="csY18" fmla="*/ 777240 h 963930"/>
                <a:gd name="csX19" fmla="*/ 413385 w 908746"/>
                <a:gd name="csY19" fmla="*/ 824865 h 963930"/>
                <a:gd name="csX20" fmla="*/ 428625 w 908746"/>
                <a:gd name="csY20" fmla="*/ 842010 h 963930"/>
                <a:gd name="csX21" fmla="*/ 443865 w 908746"/>
                <a:gd name="csY21" fmla="*/ 859155 h 963930"/>
                <a:gd name="csX22" fmla="*/ 457200 w 908746"/>
                <a:gd name="csY22" fmla="*/ 874395 h 963930"/>
                <a:gd name="csX23" fmla="*/ 472440 w 908746"/>
                <a:gd name="csY23" fmla="*/ 895350 h 963930"/>
                <a:gd name="csX24" fmla="*/ 478155 w 908746"/>
                <a:gd name="csY24" fmla="*/ 901065 h 963930"/>
                <a:gd name="csX25" fmla="*/ 483870 w 908746"/>
                <a:gd name="csY25" fmla="*/ 902970 h 963930"/>
                <a:gd name="csX26" fmla="*/ 493395 w 908746"/>
                <a:gd name="csY26" fmla="*/ 908685 h 963930"/>
                <a:gd name="csX27" fmla="*/ 504825 w 908746"/>
                <a:gd name="csY27" fmla="*/ 912495 h 963930"/>
                <a:gd name="csX28" fmla="*/ 510540 w 908746"/>
                <a:gd name="csY28" fmla="*/ 916305 h 963930"/>
                <a:gd name="csX29" fmla="*/ 516255 w 908746"/>
                <a:gd name="csY29" fmla="*/ 918210 h 963930"/>
                <a:gd name="csX30" fmla="*/ 542925 w 908746"/>
                <a:gd name="csY30" fmla="*/ 923925 h 963930"/>
                <a:gd name="csX31" fmla="*/ 560070 w 908746"/>
                <a:gd name="csY31" fmla="*/ 931545 h 963930"/>
                <a:gd name="csX32" fmla="*/ 565785 w 908746"/>
                <a:gd name="csY32" fmla="*/ 933450 h 963930"/>
                <a:gd name="csX33" fmla="*/ 577215 w 908746"/>
                <a:gd name="csY33" fmla="*/ 939165 h 963930"/>
                <a:gd name="csX34" fmla="*/ 584835 w 908746"/>
                <a:gd name="csY34" fmla="*/ 948690 h 963930"/>
                <a:gd name="csX35" fmla="*/ 588645 w 908746"/>
                <a:gd name="csY35" fmla="*/ 958215 h 963930"/>
                <a:gd name="csX36" fmla="*/ 600075 w 908746"/>
                <a:gd name="csY36" fmla="*/ 963930 h 963930"/>
                <a:gd name="csX37" fmla="*/ 619125 w 908746"/>
                <a:gd name="csY37" fmla="*/ 958215 h 963930"/>
                <a:gd name="csX38" fmla="*/ 630555 w 908746"/>
                <a:gd name="csY38" fmla="*/ 941070 h 963930"/>
                <a:gd name="csX39" fmla="*/ 636270 w 908746"/>
                <a:gd name="csY39" fmla="*/ 864870 h 963930"/>
                <a:gd name="csX40" fmla="*/ 666750 w 908746"/>
                <a:gd name="csY40" fmla="*/ 805815 h 963930"/>
                <a:gd name="csX41" fmla="*/ 695325 w 908746"/>
                <a:gd name="csY41" fmla="*/ 750570 h 963930"/>
                <a:gd name="csX42" fmla="*/ 720090 w 908746"/>
                <a:gd name="csY42" fmla="*/ 727710 h 963930"/>
                <a:gd name="csX43" fmla="*/ 737235 w 908746"/>
                <a:gd name="csY43" fmla="*/ 704850 h 963930"/>
                <a:gd name="csX44" fmla="*/ 742950 w 908746"/>
                <a:gd name="csY44" fmla="*/ 691515 h 963930"/>
                <a:gd name="csX45" fmla="*/ 748665 w 908746"/>
                <a:gd name="csY45" fmla="*/ 674370 h 963930"/>
                <a:gd name="csX46" fmla="*/ 750570 w 908746"/>
                <a:gd name="csY46" fmla="*/ 662940 h 963930"/>
                <a:gd name="csX47" fmla="*/ 754380 w 908746"/>
                <a:gd name="csY47" fmla="*/ 645795 h 963930"/>
                <a:gd name="csX48" fmla="*/ 758190 w 908746"/>
                <a:gd name="csY48" fmla="*/ 592455 h 963930"/>
                <a:gd name="csX49" fmla="*/ 762000 w 908746"/>
                <a:gd name="csY49" fmla="*/ 575310 h 963930"/>
                <a:gd name="csX50" fmla="*/ 765810 w 908746"/>
                <a:gd name="csY50" fmla="*/ 541020 h 963930"/>
                <a:gd name="csX51" fmla="*/ 771525 w 908746"/>
                <a:gd name="csY51" fmla="*/ 518160 h 963930"/>
                <a:gd name="csX52" fmla="*/ 777240 w 908746"/>
                <a:gd name="csY52" fmla="*/ 504825 h 963930"/>
                <a:gd name="csX53" fmla="*/ 782955 w 908746"/>
                <a:gd name="csY53" fmla="*/ 487680 h 963930"/>
                <a:gd name="csX54" fmla="*/ 790575 w 908746"/>
                <a:gd name="csY54" fmla="*/ 476250 h 963930"/>
                <a:gd name="csX55" fmla="*/ 796290 w 908746"/>
                <a:gd name="csY55" fmla="*/ 461010 h 963930"/>
                <a:gd name="csX56" fmla="*/ 800100 w 908746"/>
                <a:gd name="csY56" fmla="*/ 434340 h 963930"/>
                <a:gd name="csX57" fmla="*/ 803910 w 908746"/>
                <a:gd name="csY57" fmla="*/ 422910 h 963930"/>
                <a:gd name="csX58" fmla="*/ 807720 w 908746"/>
                <a:gd name="csY58" fmla="*/ 386715 h 963930"/>
                <a:gd name="csX59" fmla="*/ 815340 w 908746"/>
                <a:gd name="csY59" fmla="*/ 358140 h 963930"/>
                <a:gd name="csX60" fmla="*/ 817245 w 908746"/>
                <a:gd name="csY60" fmla="*/ 350520 h 963930"/>
                <a:gd name="csX61" fmla="*/ 830580 w 908746"/>
                <a:gd name="csY61" fmla="*/ 325755 h 963930"/>
                <a:gd name="csX62" fmla="*/ 847725 w 908746"/>
                <a:gd name="csY62" fmla="*/ 285750 h 963930"/>
                <a:gd name="csX63" fmla="*/ 855345 w 908746"/>
                <a:gd name="csY63" fmla="*/ 268605 h 963930"/>
                <a:gd name="csX64" fmla="*/ 862965 w 908746"/>
                <a:gd name="csY64" fmla="*/ 251460 h 963930"/>
                <a:gd name="csX65" fmla="*/ 866775 w 908746"/>
                <a:gd name="csY65" fmla="*/ 226695 h 963930"/>
                <a:gd name="csX66" fmla="*/ 882015 w 908746"/>
                <a:gd name="csY66" fmla="*/ 190500 h 963930"/>
                <a:gd name="csX67" fmla="*/ 891540 w 908746"/>
                <a:gd name="csY67" fmla="*/ 165735 h 963930"/>
                <a:gd name="csX68" fmla="*/ 906780 w 908746"/>
                <a:gd name="csY68" fmla="*/ 100965 h 963930"/>
                <a:gd name="csX69" fmla="*/ 902970 w 908746"/>
                <a:gd name="csY69" fmla="*/ 32385 h 963930"/>
                <a:gd name="csX70" fmla="*/ 887730 w 908746"/>
                <a:gd name="csY70" fmla="*/ 7620 h 963930"/>
                <a:gd name="csX71" fmla="*/ 878205 w 908746"/>
                <a:gd name="csY71" fmla="*/ 3810 h 963930"/>
                <a:gd name="csX72" fmla="*/ 861060 w 908746"/>
                <a:gd name="csY72" fmla="*/ 0 h 963930"/>
                <a:gd name="csX73" fmla="*/ 807720 w 908746"/>
                <a:gd name="csY73" fmla="*/ 3810 h 963930"/>
                <a:gd name="csX74" fmla="*/ 601980 w 908746"/>
                <a:gd name="csY74" fmla="*/ 49530 h 963930"/>
                <a:gd name="csX75" fmla="*/ 283845 w 908746"/>
                <a:gd name="csY75" fmla="*/ 158115 h 963930"/>
                <a:gd name="csX76" fmla="*/ 95250 w 908746"/>
                <a:gd name="csY76" fmla="*/ 182880 h 963930"/>
                <a:gd name="csX77" fmla="*/ 47625 w 908746"/>
                <a:gd name="csY77" fmla="*/ 196215 h 963930"/>
                <a:gd name="csX78" fmla="*/ 34290 w 908746"/>
                <a:gd name="csY78" fmla="*/ 201930 h 963930"/>
                <a:gd name="csX79" fmla="*/ 7620 w 908746"/>
                <a:gd name="csY79" fmla="*/ 220980 h 963930"/>
                <a:gd name="csX80" fmla="*/ 0 w 908746"/>
                <a:gd name="csY80" fmla="*/ 232410 h 963930"/>
                <a:gd name="csX81" fmla="*/ 1905 w 908746"/>
                <a:gd name="csY81" fmla="*/ 259080 h 963930"/>
                <a:gd name="csX82" fmla="*/ 11430 w 908746"/>
                <a:gd name="csY82" fmla="*/ 268605 h 963930"/>
                <a:gd name="csX83" fmla="*/ 19050 w 908746"/>
                <a:gd name="csY83" fmla="*/ 280035 h 963930"/>
                <a:gd name="csX84" fmla="*/ 24765 w 908746"/>
                <a:gd name="csY84" fmla="*/ 291465 h 963930"/>
                <a:gd name="csX85" fmla="*/ 34290 w 908746"/>
                <a:gd name="csY85" fmla="*/ 299085 h 963930"/>
                <a:gd name="csX86" fmla="*/ 64770 w 908746"/>
                <a:gd name="csY86" fmla="*/ 306705 h 963930"/>
                <a:gd name="csX87" fmla="*/ 91440 w 908746"/>
                <a:gd name="csY87" fmla="*/ 323850 h 9639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908746" h="963930">
                  <a:moveTo>
                    <a:pt x="91440" y="323850"/>
                  </a:moveTo>
                  <a:cubicBezTo>
                    <a:pt x="99378" y="332740"/>
                    <a:pt x="106160" y="347576"/>
                    <a:pt x="112395" y="360045"/>
                  </a:cubicBezTo>
                  <a:cubicBezTo>
                    <a:pt x="122705" y="380664"/>
                    <a:pt x="123870" y="383876"/>
                    <a:pt x="137160" y="405765"/>
                  </a:cubicBezTo>
                  <a:cubicBezTo>
                    <a:pt x="142645" y="414799"/>
                    <a:pt x="149435" y="423055"/>
                    <a:pt x="154305" y="432435"/>
                  </a:cubicBezTo>
                  <a:cubicBezTo>
                    <a:pt x="166609" y="456131"/>
                    <a:pt x="177751" y="480426"/>
                    <a:pt x="188595" y="504825"/>
                  </a:cubicBezTo>
                  <a:cubicBezTo>
                    <a:pt x="191135" y="510540"/>
                    <a:pt x="194053" y="516102"/>
                    <a:pt x="196215" y="521970"/>
                  </a:cubicBezTo>
                  <a:cubicBezTo>
                    <a:pt x="200349" y="533190"/>
                    <a:pt x="204870" y="552779"/>
                    <a:pt x="207645" y="563880"/>
                  </a:cubicBezTo>
                  <a:cubicBezTo>
                    <a:pt x="209840" y="589120"/>
                    <a:pt x="208233" y="605040"/>
                    <a:pt x="217170" y="626745"/>
                  </a:cubicBezTo>
                  <a:cubicBezTo>
                    <a:pt x="219119" y="631479"/>
                    <a:pt x="221627" y="636054"/>
                    <a:pt x="224790" y="640080"/>
                  </a:cubicBezTo>
                  <a:cubicBezTo>
                    <a:pt x="232648" y="650081"/>
                    <a:pt x="240384" y="654788"/>
                    <a:pt x="249555" y="662940"/>
                  </a:cubicBezTo>
                  <a:cubicBezTo>
                    <a:pt x="268218" y="679529"/>
                    <a:pt x="241040" y="656330"/>
                    <a:pt x="260985" y="676275"/>
                  </a:cubicBezTo>
                  <a:cubicBezTo>
                    <a:pt x="264492" y="679782"/>
                    <a:pt x="268243" y="683118"/>
                    <a:pt x="272415" y="685800"/>
                  </a:cubicBezTo>
                  <a:cubicBezTo>
                    <a:pt x="277193" y="688871"/>
                    <a:pt x="283172" y="689933"/>
                    <a:pt x="287655" y="693420"/>
                  </a:cubicBezTo>
                  <a:cubicBezTo>
                    <a:pt x="293370" y="697865"/>
                    <a:pt x="299008" y="702411"/>
                    <a:pt x="304800" y="706755"/>
                  </a:cubicBezTo>
                  <a:cubicBezTo>
                    <a:pt x="338533" y="732055"/>
                    <a:pt x="325363" y="721681"/>
                    <a:pt x="344805" y="737235"/>
                  </a:cubicBezTo>
                  <a:cubicBezTo>
                    <a:pt x="347980" y="739775"/>
                    <a:pt x="350947" y="742600"/>
                    <a:pt x="354330" y="744855"/>
                  </a:cubicBezTo>
                  <a:cubicBezTo>
                    <a:pt x="358140" y="747395"/>
                    <a:pt x="362300" y="749476"/>
                    <a:pt x="365760" y="752475"/>
                  </a:cubicBezTo>
                  <a:cubicBezTo>
                    <a:pt x="371868" y="757768"/>
                    <a:pt x="377190" y="763905"/>
                    <a:pt x="382905" y="769620"/>
                  </a:cubicBezTo>
                  <a:cubicBezTo>
                    <a:pt x="385445" y="772160"/>
                    <a:pt x="388677" y="774160"/>
                    <a:pt x="390525" y="777240"/>
                  </a:cubicBezTo>
                  <a:cubicBezTo>
                    <a:pt x="422587" y="830677"/>
                    <a:pt x="377934" y="753964"/>
                    <a:pt x="413385" y="824865"/>
                  </a:cubicBezTo>
                  <a:cubicBezTo>
                    <a:pt x="417644" y="833382"/>
                    <a:pt x="423082" y="834883"/>
                    <a:pt x="428625" y="842010"/>
                  </a:cubicBezTo>
                  <a:cubicBezTo>
                    <a:pt x="454756" y="875607"/>
                    <a:pt x="411327" y="826617"/>
                    <a:pt x="443865" y="859155"/>
                  </a:cubicBezTo>
                  <a:cubicBezTo>
                    <a:pt x="448638" y="863928"/>
                    <a:pt x="453030" y="869087"/>
                    <a:pt x="457200" y="874395"/>
                  </a:cubicBezTo>
                  <a:cubicBezTo>
                    <a:pt x="474620" y="896566"/>
                    <a:pt x="455260" y="875716"/>
                    <a:pt x="472440" y="895350"/>
                  </a:cubicBezTo>
                  <a:cubicBezTo>
                    <a:pt x="474214" y="897377"/>
                    <a:pt x="475913" y="899571"/>
                    <a:pt x="478155" y="901065"/>
                  </a:cubicBezTo>
                  <a:cubicBezTo>
                    <a:pt x="479826" y="902179"/>
                    <a:pt x="482074" y="902072"/>
                    <a:pt x="483870" y="902970"/>
                  </a:cubicBezTo>
                  <a:cubicBezTo>
                    <a:pt x="487182" y="904626"/>
                    <a:pt x="490024" y="907153"/>
                    <a:pt x="493395" y="908685"/>
                  </a:cubicBezTo>
                  <a:cubicBezTo>
                    <a:pt x="497051" y="910347"/>
                    <a:pt x="501155" y="910864"/>
                    <a:pt x="504825" y="912495"/>
                  </a:cubicBezTo>
                  <a:cubicBezTo>
                    <a:pt x="506917" y="913425"/>
                    <a:pt x="508492" y="915281"/>
                    <a:pt x="510540" y="916305"/>
                  </a:cubicBezTo>
                  <a:cubicBezTo>
                    <a:pt x="512336" y="917203"/>
                    <a:pt x="514318" y="917682"/>
                    <a:pt x="516255" y="918210"/>
                  </a:cubicBezTo>
                  <a:cubicBezTo>
                    <a:pt x="531174" y="922279"/>
                    <a:pt x="529331" y="921659"/>
                    <a:pt x="542925" y="923925"/>
                  </a:cubicBezTo>
                  <a:cubicBezTo>
                    <a:pt x="551584" y="928254"/>
                    <a:pt x="550341" y="927896"/>
                    <a:pt x="560070" y="931545"/>
                  </a:cubicBezTo>
                  <a:cubicBezTo>
                    <a:pt x="561950" y="932250"/>
                    <a:pt x="563950" y="932634"/>
                    <a:pt x="565785" y="933450"/>
                  </a:cubicBezTo>
                  <a:cubicBezTo>
                    <a:pt x="569678" y="935180"/>
                    <a:pt x="573405" y="937260"/>
                    <a:pt x="577215" y="939165"/>
                  </a:cubicBezTo>
                  <a:cubicBezTo>
                    <a:pt x="579755" y="942340"/>
                    <a:pt x="582743" y="945203"/>
                    <a:pt x="584835" y="948690"/>
                  </a:cubicBezTo>
                  <a:cubicBezTo>
                    <a:pt x="586594" y="951622"/>
                    <a:pt x="586657" y="955432"/>
                    <a:pt x="588645" y="958215"/>
                  </a:cubicBezTo>
                  <a:cubicBezTo>
                    <a:pt x="590953" y="961446"/>
                    <a:pt x="596641" y="962785"/>
                    <a:pt x="600075" y="963930"/>
                  </a:cubicBezTo>
                  <a:cubicBezTo>
                    <a:pt x="606136" y="963064"/>
                    <a:pt x="614538" y="963821"/>
                    <a:pt x="619125" y="958215"/>
                  </a:cubicBezTo>
                  <a:cubicBezTo>
                    <a:pt x="623474" y="952899"/>
                    <a:pt x="630555" y="941070"/>
                    <a:pt x="630555" y="941070"/>
                  </a:cubicBezTo>
                  <a:cubicBezTo>
                    <a:pt x="631248" y="921655"/>
                    <a:pt x="630181" y="887197"/>
                    <a:pt x="636270" y="864870"/>
                  </a:cubicBezTo>
                  <a:cubicBezTo>
                    <a:pt x="642747" y="841120"/>
                    <a:pt x="655872" y="830290"/>
                    <a:pt x="666750" y="805815"/>
                  </a:cubicBezTo>
                  <a:cubicBezTo>
                    <a:pt x="673067" y="791602"/>
                    <a:pt x="688019" y="756658"/>
                    <a:pt x="695325" y="750570"/>
                  </a:cubicBezTo>
                  <a:cubicBezTo>
                    <a:pt x="702473" y="744614"/>
                    <a:pt x="714797" y="734928"/>
                    <a:pt x="720090" y="727710"/>
                  </a:cubicBezTo>
                  <a:cubicBezTo>
                    <a:pt x="740185" y="700308"/>
                    <a:pt x="715646" y="722121"/>
                    <a:pt x="737235" y="704850"/>
                  </a:cubicBezTo>
                  <a:cubicBezTo>
                    <a:pt x="739140" y="700405"/>
                    <a:pt x="741421" y="696103"/>
                    <a:pt x="742950" y="691515"/>
                  </a:cubicBezTo>
                  <a:cubicBezTo>
                    <a:pt x="750336" y="669358"/>
                    <a:pt x="739088" y="693523"/>
                    <a:pt x="748665" y="674370"/>
                  </a:cubicBezTo>
                  <a:cubicBezTo>
                    <a:pt x="749300" y="670560"/>
                    <a:pt x="749812" y="666728"/>
                    <a:pt x="750570" y="662940"/>
                  </a:cubicBezTo>
                  <a:cubicBezTo>
                    <a:pt x="751718" y="657199"/>
                    <a:pt x="753709" y="651611"/>
                    <a:pt x="754380" y="645795"/>
                  </a:cubicBezTo>
                  <a:cubicBezTo>
                    <a:pt x="756716" y="625546"/>
                    <a:pt x="755293" y="611766"/>
                    <a:pt x="758190" y="592455"/>
                  </a:cubicBezTo>
                  <a:cubicBezTo>
                    <a:pt x="759058" y="586665"/>
                    <a:pt x="760730" y="581025"/>
                    <a:pt x="762000" y="575310"/>
                  </a:cubicBezTo>
                  <a:cubicBezTo>
                    <a:pt x="762682" y="567803"/>
                    <a:pt x="763956" y="549827"/>
                    <a:pt x="765810" y="541020"/>
                  </a:cubicBezTo>
                  <a:cubicBezTo>
                    <a:pt x="767428" y="533334"/>
                    <a:pt x="768431" y="525379"/>
                    <a:pt x="771525" y="518160"/>
                  </a:cubicBezTo>
                  <a:cubicBezTo>
                    <a:pt x="773430" y="513715"/>
                    <a:pt x="775542" y="509353"/>
                    <a:pt x="777240" y="504825"/>
                  </a:cubicBezTo>
                  <a:cubicBezTo>
                    <a:pt x="779355" y="499184"/>
                    <a:pt x="780407" y="493139"/>
                    <a:pt x="782955" y="487680"/>
                  </a:cubicBezTo>
                  <a:cubicBezTo>
                    <a:pt x="784891" y="483531"/>
                    <a:pt x="788527" y="480346"/>
                    <a:pt x="790575" y="476250"/>
                  </a:cubicBezTo>
                  <a:cubicBezTo>
                    <a:pt x="793001" y="471397"/>
                    <a:pt x="794385" y="466090"/>
                    <a:pt x="796290" y="461010"/>
                  </a:cubicBezTo>
                  <a:cubicBezTo>
                    <a:pt x="797560" y="452120"/>
                    <a:pt x="798339" y="443146"/>
                    <a:pt x="800100" y="434340"/>
                  </a:cubicBezTo>
                  <a:cubicBezTo>
                    <a:pt x="800888" y="430402"/>
                    <a:pt x="803069" y="426837"/>
                    <a:pt x="803910" y="422910"/>
                  </a:cubicBezTo>
                  <a:cubicBezTo>
                    <a:pt x="805806" y="414063"/>
                    <a:pt x="806556" y="394475"/>
                    <a:pt x="807720" y="386715"/>
                  </a:cubicBezTo>
                  <a:cubicBezTo>
                    <a:pt x="810184" y="370290"/>
                    <a:pt x="811200" y="371940"/>
                    <a:pt x="815340" y="358140"/>
                  </a:cubicBezTo>
                  <a:cubicBezTo>
                    <a:pt x="816092" y="355632"/>
                    <a:pt x="816350" y="352981"/>
                    <a:pt x="817245" y="350520"/>
                  </a:cubicBezTo>
                  <a:cubicBezTo>
                    <a:pt x="829436" y="316996"/>
                    <a:pt x="815854" y="356340"/>
                    <a:pt x="830580" y="325755"/>
                  </a:cubicBezTo>
                  <a:cubicBezTo>
                    <a:pt x="836874" y="312683"/>
                    <a:pt x="841956" y="299062"/>
                    <a:pt x="847725" y="285750"/>
                  </a:cubicBezTo>
                  <a:cubicBezTo>
                    <a:pt x="850212" y="280012"/>
                    <a:pt x="852805" y="274320"/>
                    <a:pt x="855345" y="268605"/>
                  </a:cubicBezTo>
                  <a:lnTo>
                    <a:pt x="862965" y="251460"/>
                  </a:lnTo>
                  <a:cubicBezTo>
                    <a:pt x="864235" y="243205"/>
                    <a:pt x="864284" y="234667"/>
                    <a:pt x="866775" y="226695"/>
                  </a:cubicBezTo>
                  <a:cubicBezTo>
                    <a:pt x="870680" y="214200"/>
                    <a:pt x="877316" y="202718"/>
                    <a:pt x="882015" y="190500"/>
                  </a:cubicBezTo>
                  <a:cubicBezTo>
                    <a:pt x="885190" y="182245"/>
                    <a:pt x="888825" y="174152"/>
                    <a:pt x="891540" y="165735"/>
                  </a:cubicBezTo>
                  <a:cubicBezTo>
                    <a:pt x="901080" y="136162"/>
                    <a:pt x="901277" y="130316"/>
                    <a:pt x="906780" y="100965"/>
                  </a:cubicBezTo>
                  <a:cubicBezTo>
                    <a:pt x="908499" y="75178"/>
                    <a:pt x="911562" y="58941"/>
                    <a:pt x="902970" y="32385"/>
                  </a:cubicBezTo>
                  <a:cubicBezTo>
                    <a:pt x="899986" y="23163"/>
                    <a:pt x="894078" y="14945"/>
                    <a:pt x="887730" y="7620"/>
                  </a:cubicBezTo>
                  <a:cubicBezTo>
                    <a:pt x="885490" y="5036"/>
                    <a:pt x="881493" y="4749"/>
                    <a:pt x="878205" y="3810"/>
                  </a:cubicBezTo>
                  <a:cubicBezTo>
                    <a:pt x="872576" y="2202"/>
                    <a:pt x="866775" y="1270"/>
                    <a:pt x="861060" y="0"/>
                  </a:cubicBezTo>
                  <a:cubicBezTo>
                    <a:pt x="843280" y="1270"/>
                    <a:pt x="825383" y="1411"/>
                    <a:pt x="807720" y="3810"/>
                  </a:cubicBezTo>
                  <a:cubicBezTo>
                    <a:pt x="732137" y="14074"/>
                    <a:pt x="674925" y="25697"/>
                    <a:pt x="601980" y="49530"/>
                  </a:cubicBezTo>
                  <a:cubicBezTo>
                    <a:pt x="489507" y="86278"/>
                    <a:pt x="414661" y="143580"/>
                    <a:pt x="283845" y="158115"/>
                  </a:cubicBezTo>
                  <a:cubicBezTo>
                    <a:pt x="152233" y="172739"/>
                    <a:pt x="215066" y="164242"/>
                    <a:pt x="95250" y="182880"/>
                  </a:cubicBezTo>
                  <a:cubicBezTo>
                    <a:pt x="53238" y="201976"/>
                    <a:pt x="96967" y="184467"/>
                    <a:pt x="47625" y="196215"/>
                  </a:cubicBezTo>
                  <a:cubicBezTo>
                    <a:pt x="42920" y="197335"/>
                    <a:pt x="38615" y="199767"/>
                    <a:pt x="34290" y="201930"/>
                  </a:cubicBezTo>
                  <a:cubicBezTo>
                    <a:pt x="24056" y="207047"/>
                    <a:pt x="15483" y="212402"/>
                    <a:pt x="7620" y="220980"/>
                  </a:cubicBezTo>
                  <a:cubicBezTo>
                    <a:pt x="4526" y="224355"/>
                    <a:pt x="2540" y="228600"/>
                    <a:pt x="0" y="232410"/>
                  </a:cubicBezTo>
                  <a:cubicBezTo>
                    <a:pt x="635" y="241300"/>
                    <a:pt x="-779" y="250581"/>
                    <a:pt x="1905" y="259080"/>
                  </a:cubicBezTo>
                  <a:cubicBezTo>
                    <a:pt x="3257" y="263362"/>
                    <a:pt x="8587" y="265130"/>
                    <a:pt x="11430" y="268605"/>
                  </a:cubicBezTo>
                  <a:cubicBezTo>
                    <a:pt x="14330" y="272149"/>
                    <a:pt x="16743" y="276080"/>
                    <a:pt x="19050" y="280035"/>
                  </a:cubicBezTo>
                  <a:cubicBezTo>
                    <a:pt x="21196" y="283714"/>
                    <a:pt x="22104" y="288139"/>
                    <a:pt x="24765" y="291465"/>
                  </a:cubicBezTo>
                  <a:cubicBezTo>
                    <a:pt x="27305" y="294640"/>
                    <a:pt x="30907" y="296830"/>
                    <a:pt x="34290" y="299085"/>
                  </a:cubicBezTo>
                  <a:cubicBezTo>
                    <a:pt x="43406" y="305162"/>
                    <a:pt x="54278" y="305393"/>
                    <a:pt x="64770" y="306705"/>
                  </a:cubicBezTo>
                  <a:cubicBezTo>
                    <a:pt x="79272" y="312920"/>
                    <a:pt x="83502" y="314960"/>
                    <a:pt x="91440" y="32385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79BDF8C-419C-B3BE-812E-43912E579CD5}"/>
                </a:ext>
              </a:extLst>
            </p:cNvPr>
            <p:cNvSpPr/>
            <p:nvPr/>
          </p:nvSpPr>
          <p:spPr>
            <a:xfrm>
              <a:off x="1736305" y="5118615"/>
              <a:ext cx="381964" cy="1145894"/>
            </a:xfrm>
            <a:prstGeom prst="ellipse">
              <a:avLst/>
            </a:prstGeom>
            <a:solidFill>
              <a:srgbClr val="25D5E3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02995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C6E06-0F36-24EF-9B5D-4DCC686B5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D66395-8C7F-239A-0A0B-C2B006588EC9}"/>
              </a:ext>
            </a:extLst>
          </p:cNvPr>
          <p:cNvSpPr txBox="1"/>
          <p:nvPr/>
        </p:nvSpPr>
        <p:spPr>
          <a:xfrm>
            <a:off x="908070" y="568597"/>
            <a:ext cx="1128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Comparison between ARPES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BC99F4F5-0BFA-F909-A1FF-A39C5D49FA40}"/>
                  </a:ext>
                </a:extLst>
              </p:cNvPr>
              <p:cNvSpPr txBox="1"/>
              <p:nvPr/>
            </p:nvSpPr>
            <p:spPr>
              <a:xfrm>
                <a:off x="555564" y="1223041"/>
                <a:ext cx="11597247" cy="2704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ARPES signal from negative </a:t>
                </a:r>
                <a:r>
                  <a:rPr lang="en-US" dirty="0" err="1">
                    <a:latin typeface="YaleNew" panose="02000602050000020003" pitchFamily="2" charset="77"/>
                  </a:rPr>
                  <a:t>trion</a:t>
                </a:r>
                <a:r>
                  <a:rPr lang="en-US" dirty="0">
                    <a:latin typeface="YaleNew" panose="02000602050000020003" pitchFamily="2" charset="77"/>
                  </a:rPr>
                  <a:t> = exciton band structure detection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Besides EELS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YaleNew" panose="02000602050000020003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General rule: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dirty="0">
                    <a:latin typeface="YaleNew" panose="02000602050000020003" pitchFamily="2" charset="77"/>
                  </a:rPr>
                  <a:t>-body excitation’s</a:t>
                </a:r>
                <a:r>
                  <a:rPr lang="en-US" dirty="0">
                    <a:latin typeface="YaleNew" panose="02000602050000020003" pitchFamily="2" charset="77"/>
                  </a:rPr>
                  <a:t> ARPES signal = band structure detection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>
                    <a:latin typeface="YaleNew" panose="02000602050000020003" pitchFamily="2" charset="77"/>
                  </a:rPr>
                  <a:t>-body residue state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Example: exciton-polaron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hotoemission</m:t>
                        </m:r>
                      </m:e>
                    </m:groupChr>
                  </m:oMath>
                </a14:m>
                <a:r>
                  <a:rPr lang="en-US" dirty="0">
                    <a:latin typeface="YaleNew" panose="02000602050000020003" pitchFamily="2" charset="77"/>
                  </a:rPr>
                  <a:t> quasiparticle; similar to ARPES of exciton (not </a:t>
                </a:r>
                <a:r>
                  <a:rPr lang="en-US" dirty="0" err="1">
                    <a:latin typeface="YaleNew" panose="02000602050000020003" pitchFamily="2" charset="77"/>
                  </a:rPr>
                  <a:t>trion</a:t>
                </a:r>
                <a:r>
                  <a:rPr lang="en-US" dirty="0">
                    <a:latin typeface="YaleNew" panose="02000602050000020003" pitchFamily="2" charset="77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latin typeface="YaleNew" panose="02000602050000020003" pitchFamily="2" charset="7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We can also apply this to  positive </a:t>
                </a:r>
                <a:r>
                  <a:rPr lang="en-US" dirty="0" err="1">
                    <a:latin typeface="YaleNew" panose="02000602050000020003" pitchFamily="2" charset="77"/>
                  </a:rPr>
                  <a:t>trions</a:t>
                </a:r>
                <a:endParaRPr lang="en-US" dirty="0">
                  <a:latin typeface="YaleNew" panose="02000602050000020003" pitchFamily="2" charset="7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YaleNew" panose="02000602050000020003" pitchFamily="2" charset="77"/>
                  </a:rPr>
                  <a:t>Red shift (h-h repulsion), broadening (two-hole energy continuum), asymmetric line shape (kinematics)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noProof="0" dirty="0">
                  <a:latin typeface="YaleNew" panose="02000602050000020003" pitchFamily="2" charset="77"/>
                </a:endParaRPr>
              </a:p>
            </p:txBody>
          </p:sp>
        </mc:Choice>
        <mc:Fallback xmlns=""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BC99F4F5-0BFA-F909-A1FF-A39C5D49F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64" y="1223041"/>
                <a:ext cx="11597247" cy="2704843"/>
              </a:xfrm>
              <a:prstGeom prst="rect">
                <a:avLst/>
              </a:prstGeom>
              <a:blipFill>
                <a:blip r:embed="rId2"/>
                <a:stretch>
                  <a:fillRect l="-315" t="-1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F5C995F-DE8B-B141-8B3B-680F89471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228" r="1351"/>
          <a:stretch>
            <a:fillRect/>
          </a:stretch>
        </p:blipFill>
        <p:spPr>
          <a:xfrm>
            <a:off x="0" y="3883241"/>
            <a:ext cx="4868092" cy="2828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7F8385-9C65-D4BF-C179-9612FA3DF6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462" t="12833"/>
          <a:stretch>
            <a:fillRect/>
          </a:stretch>
        </p:blipFill>
        <p:spPr>
          <a:xfrm>
            <a:off x="8913226" y="3955404"/>
            <a:ext cx="2453263" cy="2427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731000-0461-0837-6E91-F5EAB15724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16" t="12165" r="54933"/>
          <a:stretch>
            <a:fillRect/>
          </a:stretch>
        </p:blipFill>
        <p:spPr>
          <a:xfrm>
            <a:off x="5636623" y="3955403"/>
            <a:ext cx="2396166" cy="24279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D2E80A-CA11-762B-BDE9-51AF3254E9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52"/>
          <a:stretch>
            <a:fillRect/>
          </a:stretch>
        </p:blipFill>
        <p:spPr>
          <a:xfrm>
            <a:off x="6054635" y="6250214"/>
            <a:ext cx="1910029" cy="4220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E9EB793-DB28-399A-F905-B52E4F250443}"/>
              </a:ext>
            </a:extLst>
          </p:cNvPr>
          <p:cNvSpPr txBox="1"/>
          <p:nvPr/>
        </p:nvSpPr>
        <p:spPr>
          <a:xfrm>
            <a:off x="2046514" y="3691914"/>
            <a:ext cx="1223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Negative </a:t>
            </a:r>
            <a:r>
              <a:rPr lang="en-US" altLang="zh-CN" sz="1400" dirty="0" err="1"/>
              <a:t>trion</a:t>
            </a:r>
            <a:endParaRPr lang="zh-CN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E1E4D6-4BE7-3736-54DA-E4EE03550DA8}"/>
              </a:ext>
            </a:extLst>
          </p:cNvPr>
          <p:cNvSpPr txBox="1"/>
          <p:nvPr/>
        </p:nvSpPr>
        <p:spPr>
          <a:xfrm>
            <a:off x="9466337" y="3713295"/>
            <a:ext cx="11475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Positive </a:t>
            </a:r>
            <a:r>
              <a:rPr lang="en-US" altLang="zh-CN" sz="1400" dirty="0" err="1"/>
              <a:t>trion</a:t>
            </a:r>
            <a:endParaRPr lang="zh-CN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F111D4-4368-10AC-62A6-BEE074CD6430}"/>
              </a:ext>
            </a:extLst>
          </p:cNvPr>
          <p:cNvSpPr txBox="1"/>
          <p:nvPr/>
        </p:nvSpPr>
        <p:spPr>
          <a:xfrm>
            <a:off x="5316787" y="3691913"/>
            <a:ext cx="3319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Exciton (and qualitatively exciton-polarons)</a:t>
            </a:r>
            <a:endParaRPr lang="zh-CN" altLang="en-US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B2919D-E4E8-4A3D-A149-79382186851A}"/>
              </a:ext>
            </a:extLst>
          </p:cNvPr>
          <p:cNvSpPr/>
          <p:nvPr/>
        </p:nvSpPr>
        <p:spPr>
          <a:xfrm>
            <a:off x="258233" y="3691913"/>
            <a:ext cx="8509000" cy="30560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EBEA62-88BA-AE10-8279-F3FBAA1684A7}"/>
              </a:ext>
            </a:extLst>
          </p:cNvPr>
          <p:cNvSpPr/>
          <p:nvPr/>
        </p:nvSpPr>
        <p:spPr>
          <a:xfrm>
            <a:off x="5242328" y="3691913"/>
            <a:ext cx="6327372" cy="30560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20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4D89-CD35-02B5-3DE2-1BDA6D85A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3E2AD9-CCED-76EB-1924-0D0211E3F17E}"/>
              </a:ext>
            </a:extLst>
          </p:cNvPr>
          <p:cNvSpPr txBox="1"/>
          <p:nvPr/>
        </p:nvSpPr>
        <p:spPr>
          <a:xfrm>
            <a:off x="908070" y="568597"/>
            <a:ext cx="1128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Conclusion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224AAEBD-C867-4C87-8E48-3DE77424FB4C}"/>
              </a:ext>
            </a:extLst>
          </p:cNvPr>
          <p:cNvSpPr txBox="1"/>
          <p:nvPr/>
        </p:nvSpPr>
        <p:spPr>
          <a:xfrm>
            <a:off x="555564" y="1506069"/>
            <a:ext cx="11597247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YaleNew" panose="02000602050000020003" pitchFamily="2" charset="77"/>
              </a:rPr>
              <a:t>Trions</a:t>
            </a:r>
            <a:r>
              <a:rPr lang="en-US" sz="2800" dirty="0">
                <a:latin typeface="YaleNew" panose="02000602050000020003" pitchFamily="2" charset="77"/>
              </a:rPr>
              <a:t> look different from excitons (and other things) in ARPES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noProof="0" dirty="0">
                <a:latin typeface="YaleNew" panose="02000602050000020003" pitchFamily="2" charset="77"/>
              </a:rPr>
              <a:t>ARPES signal of negative </a:t>
            </a:r>
            <a:r>
              <a:rPr lang="en-US" sz="2800" noProof="0" dirty="0" err="1">
                <a:latin typeface="YaleNew" panose="02000602050000020003" pitchFamily="2" charset="77"/>
              </a:rPr>
              <a:t>trions</a:t>
            </a:r>
            <a:r>
              <a:rPr lang="en-US" sz="2800" noProof="0" dirty="0">
                <a:latin typeface="YaleNew" panose="02000602050000020003" pitchFamily="2" charset="77"/>
              </a:rPr>
              <a:t> show exciton band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YaleNew" panose="02000602050000020003" pitchFamily="2" charset="77"/>
              </a:rPr>
              <a:t>The methodology can be used in other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See Wu et al. What is the signature of a </a:t>
            </a:r>
            <a:r>
              <a:rPr lang="en-US" dirty="0" err="1">
                <a:latin typeface="YaleNew" panose="02000602050000020003" pitchFamily="2" charset="77"/>
              </a:rPr>
              <a:t>trion</a:t>
            </a:r>
            <a:r>
              <a:rPr lang="en-US" dirty="0">
                <a:latin typeface="YaleNew" panose="02000602050000020003" pitchFamily="2" charset="77"/>
              </a:rPr>
              <a:t> in photoemission? </a:t>
            </a:r>
            <a:r>
              <a:rPr lang="en-US" dirty="0" err="1">
                <a:latin typeface="YaleNew" panose="02000602050000020003" pitchFamily="2" charset="77"/>
              </a:rPr>
              <a:t>arXiv</a:t>
            </a:r>
            <a:r>
              <a:rPr lang="en-US" dirty="0">
                <a:latin typeface="YaleNew" panose="02000602050000020003" pitchFamily="2" charset="77"/>
              </a:rPr>
              <a:t> 2511.19280</a:t>
            </a:r>
            <a:endParaRPr lang="en-US" noProof="0" dirty="0">
              <a:latin typeface="YaleNew" panose="02000602050000020003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38511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5409C-A44A-D4BE-C5F3-ABBC8A4D6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D2FB3C-F9AA-8F21-8F01-D216212C15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2174" y="1508237"/>
            <a:ext cx="4449189" cy="1925644"/>
          </a:xfrm>
        </p:spPr>
        <p:txBody>
          <a:bodyPr/>
          <a:lstStyle/>
          <a:p>
            <a:r>
              <a:rPr lang="en-US" sz="3600" noProof="0" dirty="0"/>
              <a:t>Acknowledgement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90A5F16-1B5E-1BA1-A28D-51063D5AC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246" y="6057900"/>
            <a:ext cx="1428750" cy="800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D62FE1-E61D-F48C-6FB4-4814F2165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926" y="5349730"/>
            <a:ext cx="1614488" cy="42338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5A2FC1FA-7B3D-44F8-B405-00D96436E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129" y="5045560"/>
            <a:ext cx="2724150" cy="1031721"/>
          </a:xfrm>
          <a:prstGeom prst="rect">
            <a:avLst/>
          </a:prstGeom>
        </p:spPr>
      </p:pic>
      <p:pic>
        <p:nvPicPr>
          <p:cNvPr id="11" name="Picture 12">
            <a:extLst>
              <a:ext uri="{FF2B5EF4-FFF2-40B4-BE49-F238E27FC236}">
                <a16:creationId xmlns:a16="http://schemas.microsoft.com/office/drawing/2014/main" id="{54EC6564-7D6C-CDD8-5FC9-71C360E74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569" y="4029758"/>
            <a:ext cx="2038350" cy="492639"/>
          </a:xfrm>
          <a:prstGeom prst="rect">
            <a:avLst/>
          </a:prstGeom>
        </p:spPr>
      </p:pic>
      <p:pic>
        <p:nvPicPr>
          <p:cNvPr id="12" name="Picture 13">
            <a:extLst>
              <a:ext uri="{FF2B5EF4-FFF2-40B4-BE49-F238E27FC236}">
                <a16:creationId xmlns:a16="http://schemas.microsoft.com/office/drawing/2014/main" id="{1C6E7938-77B6-564D-8DDD-BE710479E7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5983" y="4055184"/>
            <a:ext cx="1938338" cy="519113"/>
          </a:xfrm>
          <a:prstGeom prst="rect">
            <a:avLst/>
          </a:prstGeom>
        </p:spPr>
      </p:pic>
      <p:pic>
        <p:nvPicPr>
          <p:cNvPr id="13" name="Picture 14">
            <a:extLst>
              <a:ext uri="{FF2B5EF4-FFF2-40B4-BE49-F238E27FC236}">
                <a16:creationId xmlns:a16="http://schemas.microsoft.com/office/drawing/2014/main" id="{BF21FB64-BF0A-5F41-D0E4-E11E88A524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352" y="6128602"/>
            <a:ext cx="1857375" cy="609600"/>
          </a:xfrm>
          <a:prstGeom prst="rect">
            <a:avLst/>
          </a:prstGeom>
        </p:spPr>
      </p:pic>
      <p:sp>
        <p:nvSpPr>
          <p:cNvPr id="14" name="文本框 12">
            <a:extLst>
              <a:ext uri="{FF2B5EF4-FFF2-40B4-BE49-F238E27FC236}">
                <a16:creationId xmlns:a16="http://schemas.microsoft.com/office/drawing/2014/main" id="{02B9FD08-CA63-CF12-50E1-ADDE38BB6FC1}"/>
              </a:ext>
            </a:extLst>
          </p:cNvPr>
          <p:cNvSpPr txBox="1"/>
          <p:nvPr/>
        </p:nvSpPr>
        <p:spPr>
          <a:xfrm>
            <a:off x="4436129" y="3506107"/>
            <a:ext cx="1969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Software packages</a:t>
            </a:r>
            <a:endParaRPr lang="zh-CN" altLang="en-US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0E0FFA1-C3D7-E344-F3FC-1A0E15598CAB}"/>
              </a:ext>
            </a:extLst>
          </p:cNvPr>
          <p:cNvSpPr txBox="1"/>
          <p:nvPr/>
        </p:nvSpPr>
        <p:spPr>
          <a:xfrm>
            <a:off x="4331626" y="439099"/>
            <a:ext cx="1462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Collaborators</a:t>
            </a:r>
            <a:endParaRPr lang="zh-CN" altLang="en-US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A1123B-6E4E-4FDA-60E2-5632D491A430}"/>
              </a:ext>
            </a:extLst>
          </p:cNvPr>
          <p:cNvSpPr txBox="1"/>
          <p:nvPr/>
        </p:nvSpPr>
        <p:spPr>
          <a:xfrm>
            <a:off x="4436129" y="4660332"/>
            <a:ext cx="3736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Funding sources and supercomputers</a:t>
            </a:r>
            <a:endParaRPr lang="zh-CN" altLang="en-US" b="1" dirty="0"/>
          </a:p>
        </p:txBody>
      </p:sp>
      <p:pic>
        <p:nvPicPr>
          <p:cNvPr id="4098" name="Picture 2" descr="hhh">
            <a:extLst>
              <a:ext uri="{FF2B5EF4-FFF2-40B4-BE49-F238E27FC236}">
                <a16:creationId xmlns:a16="http://schemas.microsoft.com/office/drawing/2014/main" id="{DF395E9C-C539-0C0E-7D9E-39578C1222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92" t="8419" r="7912" b="25956"/>
          <a:stretch>
            <a:fillRect/>
          </a:stretch>
        </p:blipFill>
        <p:spPr bwMode="auto">
          <a:xfrm>
            <a:off x="7742274" y="1052528"/>
            <a:ext cx="1797412" cy="2134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90B8EFD8-46A3-80AF-AA8F-C575A44929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1" r="14028" b="10936"/>
          <a:stretch/>
        </p:blipFill>
        <p:spPr bwMode="auto">
          <a:xfrm>
            <a:off x="9724028" y="1046059"/>
            <a:ext cx="1797412" cy="213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7AD2825-70CE-0F23-61C5-50EC16073A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86"/>
          <a:stretch>
            <a:fillRect/>
          </a:stretch>
        </p:blipFill>
        <p:spPr bwMode="auto">
          <a:xfrm>
            <a:off x="5789381" y="1052528"/>
            <a:ext cx="1768552" cy="214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7">
            <a:extLst>
              <a:ext uri="{FF2B5EF4-FFF2-40B4-BE49-F238E27FC236}">
                <a16:creationId xmlns:a16="http://schemas.microsoft.com/office/drawing/2014/main" id="{8E13BE3B-D210-F5D9-AA8C-FCA2F142A7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4738" y="0"/>
            <a:ext cx="2118047" cy="7019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8D87E21-162F-0D2E-4764-D0FABBCF72AD}"/>
              </a:ext>
            </a:extLst>
          </p:cNvPr>
          <p:cNvSpPr txBox="1"/>
          <p:nvPr/>
        </p:nvSpPr>
        <p:spPr>
          <a:xfrm>
            <a:off x="5876880" y="3186993"/>
            <a:ext cx="15935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/>
              <a:t>Zachary H. Withers</a:t>
            </a:r>
            <a:endParaRPr lang="zh-CN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D5E2D7-7BE9-1AC2-4206-A55B63FFDCC7}"/>
              </a:ext>
            </a:extLst>
          </p:cNvPr>
          <p:cNvSpPr txBox="1"/>
          <p:nvPr/>
        </p:nvSpPr>
        <p:spPr>
          <a:xfrm>
            <a:off x="7894054" y="3210740"/>
            <a:ext cx="1493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Thomas K. Allison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E48425-70E9-2CF4-8C3C-42E9AF7FC711}"/>
              </a:ext>
            </a:extLst>
          </p:cNvPr>
          <p:cNvSpPr txBox="1"/>
          <p:nvPr/>
        </p:nvSpPr>
        <p:spPr>
          <a:xfrm>
            <a:off x="10090201" y="3206640"/>
            <a:ext cx="1493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Diana Y. Qiu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2706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FF3756-7FD1-2AE3-2650-6FCD076D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73C3C165-3804-470E-B5CD-B1C106E4B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916" y="4892983"/>
            <a:ext cx="4449417" cy="13626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C4BC3E-78DB-EE6C-A162-F61FA1CCAA12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Theory of tr-ARPES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6D23D7A-923A-B589-9D6E-7495C47BE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694"/>
          <a:stretch/>
        </p:blipFill>
        <p:spPr>
          <a:xfrm>
            <a:off x="8476626" y="236298"/>
            <a:ext cx="3301055" cy="6270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AAB075-370D-16C5-0D56-4BA5D368A9AF}"/>
              </a:ext>
            </a:extLst>
          </p:cNvPr>
          <p:cNvSpPr txBox="1"/>
          <p:nvPr/>
        </p:nvSpPr>
        <p:spPr>
          <a:xfrm>
            <a:off x="985818" y="1397675"/>
            <a:ext cx="79930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Theory in general: </a:t>
            </a:r>
            <a:r>
              <a:rPr lang="en-US" noProof="0" dirty="0" err="1">
                <a:latin typeface="YaleNew" panose="02000602050000020003" pitchFamily="2" charset="77"/>
              </a:rPr>
              <a:t>Keldysh</a:t>
            </a:r>
            <a:r>
              <a:rPr lang="en-US" noProof="0" dirty="0">
                <a:latin typeface="YaleNew" panose="02000602050000020003" pitchFamily="2" charset="77"/>
              </a:rPr>
              <a:t> EOM. Common scheme (e.g. </a:t>
            </a:r>
            <a:r>
              <a:rPr lang="en-US" sz="1800" noProof="0" dirty="0"/>
              <a:t>PRB 94,245303, 2016</a:t>
            </a:r>
            <a:r>
              <a:rPr lang="en-US" noProof="0" dirty="0">
                <a:latin typeface="YaleNew" panose="02000602050000020003" pitchFamily="2" charset="77"/>
              </a:rPr>
              <a:t>):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Pump as a part of non-equilibrium EOM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/>
              <a:t>Probe as perturbation on top of everything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5A858-009D-8CED-996A-0F27F3F0458A}"/>
              </a:ext>
            </a:extLst>
          </p:cNvPr>
          <p:cNvSpPr txBox="1"/>
          <p:nvPr/>
        </p:nvSpPr>
        <p:spPr>
          <a:xfrm>
            <a:off x="10091001" y="6506633"/>
            <a:ext cx="1686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RMP 96.1 2024: 015003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1847EC-BE0F-12A7-AB7E-35D18D921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70" y="2675395"/>
            <a:ext cx="4064972" cy="64633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E66A301-CAB8-C98C-F287-79C804707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498" y="3339737"/>
            <a:ext cx="4632504" cy="535022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205FF42E-6989-7883-0167-1F1242A591CE}"/>
              </a:ext>
            </a:extLst>
          </p:cNvPr>
          <p:cNvGrpSpPr/>
          <p:nvPr/>
        </p:nvGrpSpPr>
        <p:grpSpPr>
          <a:xfrm>
            <a:off x="2737236" y="4273020"/>
            <a:ext cx="3550862" cy="2152505"/>
            <a:chOff x="2737236" y="4273020"/>
            <a:chExt cx="3550862" cy="215250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68CD8BB-A58A-D43B-BC07-2422E4832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4277" r="18321"/>
            <a:stretch/>
          </p:blipFill>
          <p:spPr>
            <a:xfrm>
              <a:off x="5424507" y="4285530"/>
              <a:ext cx="342900" cy="535022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E131073-AD59-6397-AF9F-9B74C01BE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0517" r="41533"/>
            <a:stretch/>
          </p:blipFill>
          <p:spPr>
            <a:xfrm>
              <a:off x="5497787" y="5890503"/>
              <a:ext cx="368300" cy="535022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C3F2073-F273-4E71-7F5B-A7E0BDE989B4}"/>
                </a:ext>
              </a:extLst>
            </p:cNvPr>
            <p:cNvCxnSpPr/>
            <p:nvPr/>
          </p:nvCxnSpPr>
          <p:spPr>
            <a:xfrm flipH="1" flipV="1">
              <a:off x="5369474" y="5825067"/>
              <a:ext cx="110067" cy="254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BDB69D4-5551-B21D-38C1-3067B8B01D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69166" y="4723101"/>
              <a:ext cx="128621" cy="2549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9BDEFBE-364D-799B-B6BB-8627EB579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8529" r="33123"/>
            <a:stretch/>
          </p:blipFill>
          <p:spPr>
            <a:xfrm>
              <a:off x="3217296" y="5754381"/>
              <a:ext cx="386726" cy="535022"/>
            </a:xfrm>
            <a:prstGeom prst="rect">
              <a:avLst/>
            </a:prstGeom>
          </p:spPr>
        </p:pic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CF107B7-75B9-8549-581C-09E7EA483C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8112" y="5850467"/>
              <a:ext cx="266909" cy="719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E5271D58-F787-00F2-DE9E-60BB971A1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7022" r="25577"/>
            <a:stretch/>
          </p:blipFill>
          <p:spPr>
            <a:xfrm>
              <a:off x="3464324" y="4273020"/>
              <a:ext cx="342900" cy="535022"/>
            </a:xfrm>
            <a:prstGeom prst="rect">
              <a:avLst/>
            </a:prstGeom>
          </p:spPr>
        </p:pic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17BDB2B-D593-74A6-59CA-FB4E974C7E84}"/>
                </a:ext>
              </a:extLst>
            </p:cNvPr>
            <p:cNvCxnSpPr>
              <a:cxnSpLocks/>
            </p:cNvCxnSpPr>
            <p:nvPr/>
          </p:nvCxnSpPr>
          <p:spPr>
            <a:xfrm>
              <a:off x="3686733" y="4743688"/>
              <a:ext cx="190990" cy="2342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Left Brace 41">
              <a:extLst>
                <a:ext uri="{FF2B5EF4-FFF2-40B4-BE49-F238E27FC236}">
                  <a16:creationId xmlns:a16="http://schemas.microsoft.com/office/drawing/2014/main" id="{E000D6BD-ECE3-5CE3-6A12-A175A9D632E3}"/>
                </a:ext>
              </a:extLst>
            </p:cNvPr>
            <p:cNvSpPr/>
            <p:nvPr/>
          </p:nvSpPr>
          <p:spPr>
            <a:xfrm rot="5400000">
              <a:off x="4467958" y="4830138"/>
              <a:ext cx="235176" cy="1014308"/>
            </a:xfrm>
            <a:prstGeom prst="leftBrac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0EEF9CD-50AE-9ADF-2F52-D19C574F0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5170" r="2667" b="22223"/>
            <a:stretch/>
          </p:blipFill>
          <p:spPr>
            <a:xfrm>
              <a:off x="4185993" y="4723101"/>
              <a:ext cx="796627" cy="444499"/>
            </a:xfrm>
            <a:prstGeom prst="rect">
              <a:avLst/>
            </a:prstGeom>
          </p:spPr>
        </p:pic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0EF8336-1643-1E84-EC53-44BBE021EBC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411" y="5142533"/>
              <a:ext cx="190990" cy="2342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EEEFDA0E-117B-C716-EA88-F53A2C8E8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737236" y="4859223"/>
              <a:ext cx="641227" cy="308122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36B4A335-8F96-0C5B-D867-176C11E97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95202" y="4922337"/>
              <a:ext cx="492896" cy="297367"/>
            </a:xfrm>
            <a:prstGeom prst="rect">
              <a:avLst/>
            </a:prstGeom>
          </p:spPr>
        </p:pic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F0772A1F-B9DD-A712-8E73-039ADE6E39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75036" y="5258123"/>
              <a:ext cx="291051" cy="2415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718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B4A424-06AE-412D-28E5-3CD584734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164BC2-A0DE-813A-F272-467E5E2FF782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Theory of tr-ARPES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AA09FF0-5305-D23D-92D0-6A7B9FDA40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803" r="34004"/>
          <a:stretch/>
        </p:blipFill>
        <p:spPr>
          <a:xfrm>
            <a:off x="908070" y="1403480"/>
            <a:ext cx="1351678" cy="530132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75DA187-8E26-337E-88B1-85E13FFD117E}"/>
              </a:ext>
            </a:extLst>
          </p:cNvPr>
          <p:cNvSpPr txBox="1"/>
          <p:nvPr/>
        </p:nvSpPr>
        <p:spPr>
          <a:xfrm>
            <a:off x="2604477" y="1837765"/>
            <a:ext cx="30470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Short delay time limit: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Good electronic coherence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Floquet</a:t>
            </a:r>
            <a:r>
              <a:rPr lang="en-US" noProof="0" dirty="0"/>
              <a:t> renormalization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To be handled within coherent quantum master equation (e.g. PNAS 120.32 (2023): e2301957120)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29ACE48-7129-0576-09CB-BC8D96F61F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302" r="18694"/>
          <a:stretch/>
        </p:blipFill>
        <p:spPr>
          <a:xfrm>
            <a:off x="5858084" y="1403480"/>
            <a:ext cx="1412625" cy="52781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8735D9-DF59-937B-791B-6A5AEAE83AE1}"/>
              </a:ext>
            </a:extLst>
          </p:cNvPr>
          <p:cNvSpPr txBox="1"/>
          <p:nvPr/>
        </p:nvSpPr>
        <p:spPr>
          <a:xfrm>
            <a:off x="7477293" y="1834030"/>
            <a:ext cx="42531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Long delay time limit i.e. incoherent limit: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Decoherence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(Quasi-)thermalized electronic excitations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altLang="zh-CN" dirty="0"/>
              <a:t>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see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tr-ARPES measure of composite excitations</a:t>
            </a:r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2515E-F663-20AE-88B2-703D3FD978F0}"/>
              </a:ext>
            </a:extLst>
          </p:cNvPr>
          <p:cNvSpPr/>
          <p:nvPr/>
        </p:nvSpPr>
        <p:spPr>
          <a:xfrm>
            <a:off x="5765800" y="1117601"/>
            <a:ext cx="6151033" cy="5665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01379-129F-05C1-5856-79BE67D9F7D2}"/>
              </a:ext>
            </a:extLst>
          </p:cNvPr>
          <p:cNvSpPr txBox="1"/>
          <p:nvPr/>
        </p:nvSpPr>
        <p:spPr>
          <a:xfrm>
            <a:off x="5765800" y="1155147"/>
            <a:ext cx="2175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Discussed in this talk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E2796-D790-246F-0BD2-4AD6C762D92F}"/>
              </a:ext>
            </a:extLst>
          </p:cNvPr>
          <p:cNvSpPr txBox="1"/>
          <p:nvPr/>
        </p:nvSpPr>
        <p:spPr>
          <a:xfrm>
            <a:off x="3808442" y="6543152"/>
            <a:ext cx="16866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RMP 96.1 2024: 015003</a:t>
            </a:r>
          </a:p>
        </p:txBody>
      </p:sp>
    </p:spTree>
    <p:extLst>
      <p:ext uri="{BB962C8B-B14F-4D97-AF65-F5344CB8AC3E}">
        <p14:creationId xmlns:p14="http://schemas.microsoft.com/office/powerpoint/2010/main" val="41184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788A51-9BFE-B5DB-BF63-2C62AA99F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4F9C54-8550-D944-E500-3C64312F6599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ARPES observation of excitons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46E27-D46C-1F96-1F67-B8A5DD44B459}"/>
              </a:ext>
            </a:extLst>
          </p:cNvPr>
          <p:cNvSpPr txBox="1"/>
          <p:nvPr/>
        </p:nvSpPr>
        <p:spPr>
          <a:xfrm>
            <a:off x="908070" y="1181477"/>
            <a:ext cx="56780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Theory of exciton signature in ARPES: </a:t>
            </a:r>
            <a:r>
              <a:rPr lang="en-US" sz="1800" noProof="0" dirty="0"/>
              <a:t>Rustagi and Kemper 2018 PRB 97, 235310</a:t>
            </a:r>
          </a:p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DE27512B-6393-7E1A-6CA7-6E9FC635055C}"/>
              </a:ext>
            </a:extLst>
          </p:cNvPr>
          <p:cNvSpPr txBox="1"/>
          <p:nvPr/>
        </p:nvSpPr>
        <p:spPr>
          <a:xfrm>
            <a:off x="908070" y="6197143"/>
            <a:ext cx="56780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How other excitations look like in ARPES?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176530-CF08-8B2C-D35A-F7D158AB4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671" y="891762"/>
            <a:ext cx="4578546" cy="31358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00D7A9-1A49-B8D7-4075-446DD4645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170" y="2252205"/>
            <a:ext cx="3378066" cy="1332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15BED2-C870-3752-80D2-420431FF26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170" y="4605795"/>
            <a:ext cx="4064972" cy="6463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C6BEDD-E21F-24A1-AFE5-005316892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898" y="5270137"/>
            <a:ext cx="4632504" cy="535022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C9667F-68F5-7406-7237-EF5C92C406AF}"/>
              </a:ext>
            </a:extLst>
          </p:cNvPr>
          <p:cNvSpPr/>
          <p:nvPr/>
        </p:nvSpPr>
        <p:spPr>
          <a:xfrm>
            <a:off x="1496132" y="2789767"/>
            <a:ext cx="3068104" cy="871010"/>
          </a:xfrm>
          <a:custGeom>
            <a:avLst/>
            <a:gdLst>
              <a:gd name="connsiteX0" fmla="*/ 971901 w 3068104"/>
              <a:gd name="connsiteY0" fmla="*/ 0 h 871010"/>
              <a:gd name="connsiteX1" fmla="*/ 3068104 w 3068104"/>
              <a:gd name="connsiteY1" fmla="*/ 0 h 871010"/>
              <a:gd name="connsiteX2" fmla="*/ 3068104 w 3068104"/>
              <a:gd name="connsiteY2" fmla="*/ 482496 h 871010"/>
              <a:gd name="connsiteX3" fmla="*/ 2732968 w 3068104"/>
              <a:gd name="connsiteY3" fmla="*/ 482496 h 871010"/>
              <a:gd name="connsiteX4" fmla="*/ 2732968 w 3068104"/>
              <a:gd name="connsiteY4" fmla="*/ 871010 h 871010"/>
              <a:gd name="connsiteX5" fmla="*/ 0 w 3068104"/>
              <a:gd name="connsiteY5" fmla="*/ 871010 h 871010"/>
              <a:gd name="connsiteX6" fmla="*/ 0 w 3068104"/>
              <a:gd name="connsiteY6" fmla="*/ 388514 h 871010"/>
              <a:gd name="connsiteX7" fmla="*/ 971901 w 3068104"/>
              <a:gd name="connsiteY7" fmla="*/ 388514 h 871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8104" h="871010">
                <a:moveTo>
                  <a:pt x="971901" y="0"/>
                </a:moveTo>
                <a:lnTo>
                  <a:pt x="3068104" y="0"/>
                </a:lnTo>
                <a:lnTo>
                  <a:pt x="3068104" y="482496"/>
                </a:lnTo>
                <a:lnTo>
                  <a:pt x="2732968" y="482496"/>
                </a:lnTo>
                <a:lnTo>
                  <a:pt x="2732968" y="871010"/>
                </a:lnTo>
                <a:lnTo>
                  <a:pt x="0" y="871010"/>
                </a:lnTo>
                <a:lnTo>
                  <a:pt x="0" y="388514"/>
                </a:lnTo>
                <a:lnTo>
                  <a:pt x="971901" y="388514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F3EDD39-B912-18B8-A562-47DF5A94DB66}"/>
              </a:ext>
            </a:extLst>
          </p:cNvPr>
          <p:cNvCxnSpPr/>
          <p:nvPr/>
        </p:nvCxnSpPr>
        <p:spPr>
          <a:xfrm>
            <a:off x="2751666" y="3103033"/>
            <a:ext cx="25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A38A9BD-2769-811A-8775-05B938C78CC1}"/>
              </a:ext>
            </a:extLst>
          </p:cNvPr>
          <p:cNvSpPr/>
          <p:nvPr/>
        </p:nvSpPr>
        <p:spPr>
          <a:xfrm>
            <a:off x="4241800" y="4775200"/>
            <a:ext cx="932543" cy="337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090CE9C-CF47-30B4-CF70-9239A16B0FB1}"/>
              </a:ext>
            </a:extLst>
          </p:cNvPr>
          <p:cNvCxnSpPr/>
          <p:nvPr/>
        </p:nvCxnSpPr>
        <p:spPr>
          <a:xfrm flipH="1" flipV="1">
            <a:off x="4147457" y="3726543"/>
            <a:ext cx="416779" cy="976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9A48E66-ED30-4A0F-327A-CA9186C1BADB}"/>
              </a:ext>
            </a:extLst>
          </p:cNvPr>
          <p:cNvSpPr/>
          <p:nvPr/>
        </p:nvSpPr>
        <p:spPr>
          <a:xfrm>
            <a:off x="4274457" y="5368919"/>
            <a:ext cx="1563914" cy="337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99AA4EF-BBDB-0DA3-5567-1369C388D68A}"/>
              </a:ext>
            </a:extLst>
          </p:cNvPr>
          <p:cNvCxnSpPr/>
          <p:nvPr/>
        </p:nvCxnSpPr>
        <p:spPr>
          <a:xfrm rot="16200000" flipV="1">
            <a:off x="3575958" y="3307442"/>
            <a:ext cx="2833914" cy="1197429"/>
          </a:xfrm>
          <a:prstGeom prst="bentConnector3">
            <a:avLst>
              <a:gd name="adj1" fmla="val 9993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D9642E4-2832-DADC-493C-6BCFC32B7E7F}"/>
              </a:ext>
            </a:extLst>
          </p:cNvPr>
          <p:cNvSpPr/>
          <p:nvPr/>
        </p:nvSpPr>
        <p:spPr>
          <a:xfrm>
            <a:off x="2706915" y="2363144"/>
            <a:ext cx="1687285" cy="337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03BE6F-6AC9-B432-28BA-53D837327309}"/>
              </a:ext>
            </a:extLst>
          </p:cNvPr>
          <p:cNvCxnSpPr>
            <a:cxnSpLocks/>
          </p:cNvCxnSpPr>
          <p:nvPr/>
        </p:nvCxnSpPr>
        <p:spPr>
          <a:xfrm>
            <a:off x="1316882" y="2950029"/>
            <a:ext cx="419745" cy="402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37C13E-FB2C-808A-312C-2EE79784F88D}"/>
                  </a:ext>
                </a:extLst>
              </p:cNvPr>
              <p:cNvSpPr txBox="1"/>
              <p:nvPr/>
            </p:nvSpPr>
            <p:spPr>
              <a:xfrm>
                <a:off x="213062" y="2615079"/>
                <a:ext cx="1519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noProof="0" dirty="0"/>
                  <a:t> term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37C13E-FB2C-808A-312C-2EE79784F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62" y="2615079"/>
                <a:ext cx="1519647" cy="369332"/>
              </a:xfrm>
              <a:prstGeom prst="rect">
                <a:avLst/>
              </a:prstGeom>
              <a:blipFill>
                <a:blip r:embed="rId6"/>
                <a:stretch>
                  <a:fillRect l="-3614" t="-9836" r="-2811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B570A36-6501-57A0-F4BF-31614C57C21F}"/>
              </a:ext>
            </a:extLst>
          </p:cNvPr>
          <p:cNvSpPr txBox="1"/>
          <p:nvPr/>
        </p:nvSpPr>
        <p:spPr>
          <a:xfrm>
            <a:off x="5858961" y="5067459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/>
              <a:t>PRB 94,245303, 2016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4674CBF-3B7F-CC28-BB44-BDF1632AEF8F}"/>
                  </a:ext>
                </a:extLst>
              </p:cNvPr>
              <p:cNvSpPr txBox="1"/>
              <p:nvPr/>
            </p:nvSpPr>
            <p:spPr>
              <a:xfrm>
                <a:off x="7761783" y="6006403"/>
                <a:ext cx="443021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noProof="0" dirty="0"/>
                  <a:t>Note: in actual measurements, often we calculate cumulated # of photoelectrons, and hence we need to integrate over t in the 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12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0" noProof="0" smtClean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b="0" i="1" noProof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200" noProof="0" dirty="0"/>
                  <a:t> equation below; but we have an additional time variable, the delay time between the pump and the probe.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4674CBF-3B7F-CC28-BB44-BDF1632AE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1783" y="6006403"/>
                <a:ext cx="4430217" cy="830997"/>
              </a:xfrm>
              <a:prstGeom prst="rect">
                <a:avLst/>
              </a:prstGeom>
              <a:blipFill>
                <a:blip r:embed="rId7"/>
                <a:stretch>
                  <a:fillRect b="-4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BE3186A-085F-97BD-69A8-645FA3CC11B4}"/>
              </a:ext>
            </a:extLst>
          </p:cNvPr>
          <p:cNvCxnSpPr>
            <a:cxnSpLocks/>
          </p:cNvCxnSpPr>
          <p:nvPr/>
        </p:nvCxnSpPr>
        <p:spPr>
          <a:xfrm flipV="1">
            <a:off x="2458424" y="3141117"/>
            <a:ext cx="416779" cy="798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41B39CB-E131-E590-DCB0-FFD2FC6C63C0}"/>
              </a:ext>
            </a:extLst>
          </p:cNvPr>
          <p:cNvSpPr txBox="1"/>
          <p:nvPr/>
        </p:nvSpPr>
        <p:spPr>
          <a:xfrm>
            <a:off x="1609178" y="3906363"/>
            <a:ext cx="2270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noProof="0" dirty="0"/>
              <a:t>Incoherent limit: no non-diagonal terms in density matrix</a:t>
            </a:r>
          </a:p>
        </p:txBody>
      </p:sp>
    </p:spTree>
    <p:extLst>
      <p:ext uri="{BB962C8B-B14F-4D97-AF65-F5344CB8AC3E}">
        <p14:creationId xmlns:p14="http://schemas.microsoft.com/office/powerpoint/2010/main" val="2500735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58D062-59C9-F6B4-CD61-4496050D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D428C-DD10-662A-E691-56EB0D5245BB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Trion structure: BSE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1CD28-54C5-EDCD-835F-81B9C1985A1F}"/>
              </a:ext>
            </a:extLst>
          </p:cNvPr>
          <p:cNvSpPr txBox="1"/>
          <p:nvPr/>
        </p:nvSpPr>
        <p:spPr>
          <a:xfrm>
            <a:off x="908070" y="1428994"/>
            <a:ext cx="58737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Generalizing BSE for excitons to </a:t>
            </a:r>
            <a:r>
              <a:rPr lang="en-US" noProof="0" dirty="0" err="1">
                <a:latin typeface="YaleNew" panose="02000602050000020003" pitchFamily="2" charset="77"/>
              </a:rPr>
              <a:t>trions</a:t>
            </a:r>
            <a:r>
              <a:rPr lang="en-US" noProof="0" dirty="0">
                <a:latin typeface="YaleNew" panose="02000602050000020003" pitchFamily="2" charset="77"/>
              </a:rPr>
              <a:t>: </a:t>
            </a:r>
            <a:r>
              <a:rPr lang="en-US" noProof="0" dirty="0" err="1">
                <a:latin typeface="YaleNew" panose="02000602050000020003" pitchFamily="2" charset="77"/>
              </a:rPr>
              <a:t>Druppel</a:t>
            </a:r>
            <a:r>
              <a:rPr lang="en-US" noProof="0" dirty="0">
                <a:latin typeface="YaleNew" panose="02000602050000020003" pitchFamily="2" charset="77"/>
              </a:rPr>
              <a:t> et al. Nat. Comm. 8 2117 (2017)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Difference from exciton BSE: the “exchange” term between two electrons (cf. u-channel in particle physics)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“The diagonalization of the </a:t>
            </a:r>
            <a:r>
              <a:rPr lang="en-US" noProof="0" dirty="0" err="1">
                <a:latin typeface="YaleNew" panose="02000602050000020003" pitchFamily="2" charset="77"/>
              </a:rPr>
              <a:t>trion</a:t>
            </a:r>
            <a:r>
              <a:rPr lang="en-US" noProof="0" dirty="0">
                <a:latin typeface="YaleNew" panose="02000602050000020003" pitchFamily="2" charset="77"/>
              </a:rPr>
              <a:t> Hamilton matrix is numerically extremely demanding due to the immense dimension of ~107 for a typical calculation and relies on recursive diagonalization schemes”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Note that it’s </a:t>
            </a:r>
            <a:r>
              <a:rPr lang="en-US" i="1" noProof="0" dirty="0">
                <a:latin typeface="YaleNew" panose="02000602050000020003" pitchFamily="2" charset="77"/>
              </a:rPr>
              <a:t>not</a:t>
            </a:r>
            <a:r>
              <a:rPr lang="en-US" noProof="0" dirty="0">
                <a:latin typeface="YaleNew" panose="02000602050000020003" pitchFamily="2" charset="77"/>
              </a:rPr>
              <a:t> the nonlinear response of TD-</a:t>
            </a:r>
            <a:r>
              <a:rPr lang="en-US" noProof="0" dirty="0" err="1">
                <a:latin typeface="YaleNew" panose="02000602050000020003" pitchFamily="2" charset="77"/>
              </a:rPr>
              <a:t>aGW</a:t>
            </a: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EEE3055-F0C8-320E-FDD2-EA8B464C59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78" r="45452"/>
          <a:stretch/>
        </p:blipFill>
        <p:spPr bwMode="auto">
          <a:xfrm>
            <a:off x="7445828" y="1163694"/>
            <a:ext cx="4251759" cy="273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170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32595D-631C-401F-7B2E-2499F8E5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85BC94-905B-EE6B-0C84-88148269CFA3}"/>
              </a:ext>
            </a:extLst>
          </p:cNvPr>
          <p:cNvSpPr txBox="1"/>
          <p:nvPr/>
        </p:nvSpPr>
        <p:spPr>
          <a:xfrm>
            <a:off x="908070" y="568597"/>
            <a:ext cx="112839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Classification of excitonic states in MoS2</a:t>
            </a:r>
          </a:p>
        </p:txBody>
      </p:sp>
      <p:sp>
        <p:nvSpPr>
          <p:cNvPr id="34" name="TextBox 2">
            <a:extLst>
              <a:ext uri="{FF2B5EF4-FFF2-40B4-BE49-F238E27FC236}">
                <a16:creationId xmlns:a16="http://schemas.microsoft.com/office/drawing/2014/main" id="{DC416F88-8487-E3D6-8A69-F6338729004B}"/>
              </a:ext>
            </a:extLst>
          </p:cNvPr>
          <p:cNvSpPr txBox="1"/>
          <p:nvPr/>
        </p:nvSpPr>
        <p:spPr>
          <a:xfrm>
            <a:off x="908070" y="1433823"/>
            <a:ext cx="3912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At K,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v1 is </a:t>
            </a:r>
            <a:r>
              <a:rPr lang="en-US" dirty="0">
                <a:solidFill>
                  <a:srgbClr val="FF0000"/>
                </a:solidFill>
                <a:latin typeface="YaleNew" panose="02000602050000020003" pitchFamily="2" charset="77"/>
              </a:rPr>
              <a:t>spin-up</a:t>
            </a:r>
            <a:endParaRPr lang="en-US" dirty="0">
              <a:latin typeface="YaleNew" panose="02000602050000020003" pitchFamily="2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v2 is </a:t>
            </a:r>
            <a:r>
              <a:rPr lang="en-US" dirty="0">
                <a:solidFill>
                  <a:srgbClr val="00B0F0"/>
                </a:solidFill>
                <a:latin typeface="YaleNew" panose="02000602050000020003" pitchFamily="2" charset="77"/>
              </a:rPr>
              <a:t>spin-down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Near a patch (smaller than the excitonic patch)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c1 is </a:t>
            </a:r>
            <a:r>
              <a:rPr lang="en-US" dirty="0">
                <a:solidFill>
                  <a:srgbClr val="FF0000"/>
                </a:solidFill>
                <a:latin typeface="YaleNew" panose="02000602050000020003" pitchFamily="2" charset="77"/>
              </a:rPr>
              <a:t>spin-up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c2 is </a:t>
            </a:r>
            <a:r>
              <a:rPr lang="en-US" dirty="0">
                <a:solidFill>
                  <a:srgbClr val="00B0F0"/>
                </a:solidFill>
                <a:latin typeface="YaleNew" panose="02000602050000020003" pitchFamily="2" charset="77"/>
              </a:rPr>
              <a:t>spin-down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Away from the patch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c1 is </a:t>
            </a:r>
            <a:r>
              <a:rPr lang="en-US" dirty="0">
                <a:solidFill>
                  <a:srgbClr val="00B0F0"/>
                </a:solidFill>
                <a:latin typeface="YaleNew" panose="02000602050000020003" pitchFamily="2" charset="77"/>
              </a:rPr>
              <a:t>spin-down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c2 is </a:t>
            </a:r>
            <a:r>
              <a:rPr lang="en-US" dirty="0">
                <a:solidFill>
                  <a:srgbClr val="FF0000"/>
                </a:solidFill>
                <a:latin typeface="YaleNew" panose="02000602050000020003" pitchFamily="2" charset="77"/>
              </a:rPr>
              <a:t>spin-up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YaleNew" panose="02000602050000020003" pitchFamily="2" charset="77"/>
              </a:rPr>
              <a:t>We need to re-arrange the band indices if we want the properties of a single band to be smooth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30A8C-8CEE-8EF1-9F78-ACCD77933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362" y="1433823"/>
            <a:ext cx="7232235" cy="542417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3E016E1-DECA-7A58-73B8-F447542B3CF8}"/>
              </a:ext>
            </a:extLst>
          </p:cNvPr>
          <p:cNvCxnSpPr>
            <a:cxnSpLocks/>
          </p:cNvCxnSpPr>
          <p:nvPr/>
        </p:nvCxnSpPr>
        <p:spPr>
          <a:xfrm flipV="1">
            <a:off x="7484882" y="5069941"/>
            <a:ext cx="0" cy="2697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0CB89A-EDE9-7489-D998-7EF424BE8B10}"/>
              </a:ext>
            </a:extLst>
          </p:cNvPr>
          <p:cNvCxnSpPr>
            <a:cxnSpLocks/>
          </p:cNvCxnSpPr>
          <p:nvPr/>
        </p:nvCxnSpPr>
        <p:spPr>
          <a:xfrm>
            <a:off x="7637282" y="5643148"/>
            <a:ext cx="0" cy="30214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C8D3709-3A7B-C641-1E14-0D8BD03A5DA9}"/>
              </a:ext>
            </a:extLst>
          </p:cNvPr>
          <p:cNvSpPr/>
          <p:nvPr/>
        </p:nvSpPr>
        <p:spPr>
          <a:xfrm>
            <a:off x="7387628" y="1828800"/>
            <a:ext cx="488886" cy="4888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793B63-0C1E-4C84-E8A4-62D60B6733AD}"/>
              </a:ext>
            </a:extLst>
          </p:cNvPr>
          <p:cNvSpPr txBox="1"/>
          <p:nvPr/>
        </p:nvSpPr>
        <p:spPr>
          <a:xfrm>
            <a:off x="7826440" y="2174054"/>
            <a:ext cx="12916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Pay attention to the band crossing here!!</a:t>
            </a:r>
            <a:endParaRPr lang="zh-CN" alt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F9759D-CEB6-97BD-0AE4-AFBB6051F5DF}"/>
              </a:ext>
            </a:extLst>
          </p:cNvPr>
          <p:cNvSpPr txBox="1"/>
          <p:nvPr/>
        </p:nvSpPr>
        <p:spPr>
          <a:xfrm>
            <a:off x="6289895" y="1266222"/>
            <a:ext cx="60975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/pscratch/sd/j/jywu/MoS2/MoS2/2-sigma-cutoff-20/inteqp/dft-spin-texture-gw.png</a:t>
            </a:r>
          </a:p>
        </p:txBody>
      </p:sp>
    </p:spTree>
    <p:extLst>
      <p:ext uri="{BB962C8B-B14F-4D97-AF65-F5344CB8AC3E}">
        <p14:creationId xmlns:p14="http://schemas.microsoft.com/office/powerpoint/2010/main" val="843463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287782-7CF8-04EF-D162-674510D2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69DB5-D1EF-B0AA-31AD-5EDBF720761C}"/>
              </a:ext>
            </a:extLst>
          </p:cNvPr>
          <p:cNvSpPr txBox="1"/>
          <p:nvPr/>
        </p:nvSpPr>
        <p:spPr>
          <a:xfrm>
            <a:off x="908070" y="568597"/>
            <a:ext cx="1023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noProof="0" dirty="0">
                <a:latin typeface="YaleNew" panose="02000602050000020003" pitchFamily="2" charset="77"/>
              </a:rPr>
              <a:t>ARPES observation: general theory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2E5742-C140-8E21-5A0C-6F850E4DA1AA}"/>
              </a:ext>
            </a:extLst>
          </p:cNvPr>
          <p:cNvSpPr txBox="1"/>
          <p:nvPr/>
        </p:nvSpPr>
        <p:spPr>
          <a:xfrm>
            <a:off x="908070" y="1181477"/>
            <a:ext cx="49136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To generalize the methodology in </a:t>
            </a:r>
            <a:r>
              <a:rPr lang="en-US" sz="1800" noProof="0" dirty="0"/>
              <a:t>Rustagi and Kemper 2018 PRB 97, 235310:</a:t>
            </a:r>
          </a:p>
          <a:p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5124640F-9E9E-6CAD-320E-79A73F54C2D5}"/>
              </a:ext>
            </a:extLst>
          </p:cNvPr>
          <p:cNvSpPr txBox="1"/>
          <p:nvPr/>
        </p:nvSpPr>
        <p:spPr>
          <a:xfrm>
            <a:off x="908070" y="6197143"/>
            <a:ext cx="5989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Here the final residue states need to have well-defined energies… a condition that’s not always non-controversial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grpSp>
        <p:nvGrpSpPr>
          <p:cNvPr id="4" name="组合 17">
            <a:extLst>
              <a:ext uri="{FF2B5EF4-FFF2-40B4-BE49-F238E27FC236}">
                <a16:creationId xmlns:a16="http://schemas.microsoft.com/office/drawing/2014/main" id="{0E31AB8D-CE0F-A41E-521D-600480CC5757}"/>
              </a:ext>
            </a:extLst>
          </p:cNvPr>
          <p:cNvGrpSpPr/>
          <p:nvPr/>
        </p:nvGrpSpPr>
        <p:grpSpPr>
          <a:xfrm>
            <a:off x="908070" y="2314477"/>
            <a:ext cx="7217228" cy="1796649"/>
            <a:chOff x="1055914" y="1326894"/>
            <a:chExt cx="7217228" cy="1796649"/>
          </a:xfrm>
        </p:grpSpPr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98BC680C-3576-C665-A710-7C8D1AEF381C}"/>
                </a:ext>
              </a:extLst>
            </p:cNvPr>
            <p:cNvSpPr txBox="1"/>
            <p:nvPr/>
          </p:nvSpPr>
          <p:spPr>
            <a:xfrm>
              <a:off x="1055914" y="2754211"/>
              <a:ext cx="6690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latin typeface="YaleNew" panose="02000602050000020003" pitchFamily="2" charset="77"/>
                </a:rPr>
                <a:t>Fermi golden rule to incoherent final states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6">
                  <a:extLst>
                    <a:ext uri="{FF2B5EF4-FFF2-40B4-BE49-F238E27FC236}">
                      <a16:creationId xmlns:a16="http://schemas.microsoft.com/office/drawing/2014/main" id="{72CAD40A-0F98-5DAF-FEDD-0D7AC69449E4}"/>
                    </a:ext>
                  </a:extLst>
                </p:cNvPr>
                <p:cNvSpPr txBox="1"/>
                <p:nvPr/>
              </p:nvSpPr>
              <p:spPr>
                <a:xfrm>
                  <a:off x="1055914" y="2052972"/>
                  <a:ext cx="616131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noProof="0" dirty="0">
                      <a:latin typeface="YaleNew" panose="02000602050000020003" pitchFamily="2" charset="77"/>
                    </a:rPr>
                    <a:t>Generalized Fermi golden rule based on pumped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</m:sup>
                      </m:sSup>
                    </m:oMath>
                  </a14:m>
                  <a:endParaRPr lang="en-US" noProof="0" dirty="0">
                    <a:latin typeface="YaleNew" panose="02000602050000020003" pitchFamily="2" charset="77"/>
                  </a:endParaRPr>
                </a:p>
              </p:txBody>
            </p:sp>
          </mc:Choice>
          <mc:Fallback xmlns="">
            <p:sp>
              <p:nvSpPr>
                <p:cNvPr id="10" name="文本框 6">
                  <a:extLst>
                    <a:ext uri="{FF2B5EF4-FFF2-40B4-BE49-F238E27FC236}">
                      <a16:creationId xmlns:a16="http://schemas.microsoft.com/office/drawing/2014/main" id="{72CAD40A-0F98-5DAF-FEDD-0D7AC69449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914" y="2052972"/>
                  <a:ext cx="6161314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890"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4FB402F-924D-6BE0-18CE-7E6EBF11E1EF}"/>
                </a:ext>
              </a:extLst>
            </p:cNvPr>
            <p:cNvSpPr txBox="1"/>
            <p:nvPr/>
          </p:nvSpPr>
          <p:spPr>
            <a:xfrm>
              <a:off x="1055914" y="1326894"/>
              <a:ext cx="61613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noProof="0" dirty="0" err="1">
                  <a:latin typeface="YaleNew" panose="02000602050000020003" pitchFamily="2" charset="77"/>
                </a:rPr>
                <a:t>Keldysh</a:t>
              </a:r>
              <a:r>
                <a:rPr lang="en-US" noProof="0" dirty="0">
                  <a:latin typeface="YaleNew" panose="02000602050000020003" pitchFamily="2" charset="77"/>
                </a:rPr>
                <a:t> EOM </a:t>
              </a:r>
            </a:p>
          </p:txBody>
        </p:sp>
        <p:cxnSp>
          <p:nvCxnSpPr>
            <p:cNvPr id="12" name="直接箭头连接符 12">
              <a:extLst>
                <a:ext uri="{FF2B5EF4-FFF2-40B4-BE49-F238E27FC236}">
                  <a16:creationId xmlns:a16="http://schemas.microsoft.com/office/drawing/2014/main" id="{11C1F106-6A55-2A83-2766-99C8F1DC381F}"/>
                </a:ext>
              </a:extLst>
            </p:cNvPr>
            <p:cNvCxnSpPr/>
            <p:nvPr/>
          </p:nvCxnSpPr>
          <p:spPr>
            <a:xfrm>
              <a:off x="1872343" y="1696226"/>
              <a:ext cx="0" cy="3567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3">
              <a:extLst>
                <a:ext uri="{FF2B5EF4-FFF2-40B4-BE49-F238E27FC236}">
                  <a16:creationId xmlns:a16="http://schemas.microsoft.com/office/drawing/2014/main" id="{5B349B19-2E23-34BE-057D-11256BB55C0C}"/>
                </a:ext>
              </a:extLst>
            </p:cNvPr>
            <p:cNvCxnSpPr/>
            <p:nvPr/>
          </p:nvCxnSpPr>
          <p:spPr>
            <a:xfrm>
              <a:off x="1872343" y="2422304"/>
              <a:ext cx="0" cy="3567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4">
              <a:extLst>
                <a:ext uri="{FF2B5EF4-FFF2-40B4-BE49-F238E27FC236}">
                  <a16:creationId xmlns:a16="http://schemas.microsoft.com/office/drawing/2014/main" id="{3C5FA2BD-795E-9002-CD56-2A35454A38EE}"/>
                </a:ext>
              </a:extLst>
            </p:cNvPr>
            <p:cNvSpPr txBox="1"/>
            <p:nvPr/>
          </p:nvSpPr>
          <p:spPr>
            <a:xfrm>
              <a:off x="2111828" y="1671221"/>
              <a:ext cx="61613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noProof="0" dirty="0">
                  <a:latin typeface="YaleNew" panose="02000602050000020003" pitchFamily="2" charset="77"/>
                </a:rPr>
                <a:t>Linear response in detection</a:t>
              </a:r>
            </a:p>
          </p:txBody>
        </p:sp>
        <p:sp>
          <p:nvSpPr>
            <p:cNvPr id="15" name="文本框 16">
              <a:extLst>
                <a:ext uri="{FF2B5EF4-FFF2-40B4-BE49-F238E27FC236}">
                  <a16:creationId xmlns:a16="http://schemas.microsoft.com/office/drawing/2014/main" id="{59896400-4A2B-CB38-5F9B-966C12B10105}"/>
                </a:ext>
              </a:extLst>
            </p:cNvPr>
            <p:cNvSpPr txBox="1"/>
            <p:nvPr/>
          </p:nvSpPr>
          <p:spPr>
            <a:xfrm>
              <a:off x="2111828" y="2399741"/>
              <a:ext cx="61613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noProof="0" dirty="0">
                  <a:latin typeface="YaleNew" panose="02000602050000020003" pitchFamily="2" charset="77"/>
                </a:rPr>
                <a:t>Incoherent limit</a:t>
              </a:r>
            </a:p>
          </p:txBody>
        </p:sp>
      </p:grpSp>
      <p:grpSp>
        <p:nvGrpSpPr>
          <p:cNvPr id="18" name="组合 20">
            <a:extLst>
              <a:ext uri="{FF2B5EF4-FFF2-40B4-BE49-F238E27FC236}">
                <a16:creationId xmlns:a16="http://schemas.microsoft.com/office/drawing/2014/main" id="{A0A70212-48F0-39F3-4DF2-0473AE7FD989}"/>
              </a:ext>
            </a:extLst>
          </p:cNvPr>
          <p:cNvGrpSpPr/>
          <p:nvPr/>
        </p:nvGrpSpPr>
        <p:grpSpPr>
          <a:xfrm>
            <a:off x="922487" y="4503110"/>
            <a:ext cx="4138397" cy="1424100"/>
            <a:chOff x="923461" y="1868306"/>
            <a:chExt cx="4138397" cy="1424100"/>
          </a:xfrm>
        </p:grpSpPr>
        <p:pic>
          <p:nvPicPr>
            <p:cNvPr id="21" name="图片 18">
              <a:extLst>
                <a:ext uri="{FF2B5EF4-FFF2-40B4-BE49-F238E27FC236}">
                  <a16:creationId xmlns:a16="http://schemas.microsoft.com/office/drawing/2014/main" id="{11C6BF54-4E5A-7520-9654-2F6E204025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5142"/>
            <a:stretch/>
          </p:blipFill>
          <p:spPr>
            <a:xfrm>
              <a:off x="923461" y="1868306"/>
              <a:ext cx="3433272" cy="825658"/>
            </a:xfrm>
            <a:prstGeom prst="rect">
              <a:avLst/>
            </a:prstGeom>
          </p:spPr>
        </p:pic>
        <p:pic>
          <p:nvPicPr>
            <p:cNvPr id="22" name="图片 19">
              <a:extLst>
                <a:ext uri="{FF2B5EF4-FFF2-40B4-BE49-F238E27FC236}">
                  <a16:creationId xmlns:a16="http://schemas.microsoft.com/office/drawing/2014/main" id="{3374C6FE-D601-1CE9-C441-08EE5074C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075"/>
            <a:stretch/>
          </p:blipFill>
          <p:spPr>
            <a:xfrm>
              <a:off x="2187657" y="2466748"/>
              <a:ext cx="2874201" cy="825658"/>
            </a:xfrm>
            <a:prstGeom prst="rect">
              <a:avLst/>
            </a:prstGeom>
          </p:spPr>
        </p:pic>
      </p:grpSp>
      <p:sp>
        <p:nvSpPr>
          <p:cNvPr id="23" name="TextBox 2">
            <a:extLst>
              <a:ext uri="{FF2B5EF4-FFF2-40B4-BE49-F238E27FC236}">
                <a16:creationId xmlns:a16="http://schemas.microsoft.com/office/drawing/2014/main" id="{FCADF809-C6FD-8F96-AD12-2BFD696CBD2A}"/>
              </a:ext>
            </a:extLst>
          </p:cNvPr>
          <p:cNvSpPr txBox="1"/>
          <p:nvPr/>
        </p:nvSpPr>
        <p:spPr>
          <a:xfrm>
            <a:off x="6424950" y="1421310"/>
            <a:ext cx="59891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What we can study: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Excitons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 err="1">
                <a:latin typeface="YaleNew" panose="02000602050000020003" pitchFamily="2" charset="77"/>
              </a:rPr>
              <a:t>Trions</a:t>
            </a:r>
            <a:endParaRPr lang="en-US" noProof="0" dirty="0">
              <a:latin typeface="YaleNew" panose="02000602050000020003" pitchFamily="2" charset="77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Biexcitons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noProof="0" dirty="0">
                <a:latin typeface="YaleNew" panose="02000602050000020003" pitchFamily="2" charset="77"/>
              </a:rPr>
              <a:t>and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>
              <a:latin typeface="YaleNew" panose="02000602050000020003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8C98B9-9552-67EA-CCD8-90C10B25D6A6}"/>
              </a:ext>
            </a:extLst>
          </p:cNvPr>
          <p:cNvSpPr txBox="1"/>
          <p:nvPr/>
        </p:nvSpPr>
        <p:spPr>
          <a:xfrm>
            <a:off x="4698275" y="4528865"/>
            <a:ext cx="11868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structural factor</a:t>
            </a:r>
          </a:p>
        </p:txBody>
      </p:sp>
      <p:cxnSp>
        <p:nvCxnSpPr>
          <p:cNvPr id="30" name="直接箭头连接符 12">
            <a:extLst>
              <a:ext uri="{FF2B5EF4-FFF2-40B4-BE49-F238E27FC236}">
                <a16:creationId xmlns:a16="http://schemas.microsoft.com/office/drawing/2014/main" id="{F4FFF09D-5838-C19D-1910-3CEE1CB99FE3}"/>
              </a:ext>
            </a:extLst>
          </p:cNvPr>
          <p:cNvCxnSpPr>
            <a:cxnSpLocks/>
          </p:cNvCxnSpPr>
          <p:nvPr/>
        </p:nvCxnSpPr>
        <p:spPr>
          <a:xfrm flipH="1">
            <a:off x="4355759" y="4674228"/>
            <a:ext cx="312035" cy="39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12">
            <a:extLst>
              <a:ext uri="{FF2B5EF4-FFF2-40B4-BE49-F238E27FC236}">
                <a16:creationId xmlns:a16="http://schemas.microsoft.com/office/drawing/2014/main" id="{92237344-CCFA-60D7-714D-1621731BE086}"/>
              </a:ext>
            </a:extLst>
          </p:cNvPr>
          <p:cNvCxnSpPr>
            <a:cxnSpLocks/>
          </p:cNvCxnSpPr>
          <p:nvPr/>
        </p:nvCxnSpPr>
        <p:spPr>
          <a:xfrm flipH="1">
            <a:off x="5060884" y="5428859"/>
            <a:ext cx="312035" cy="398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AEDC3BD-F3CF-533F-B1A2-FD868E27AE30}"/>
              </a:ext>
            </a:extLst>
          </p:cNvPr>
          <p:cNvSpPr txBox="1"/>
          <p:nvPr/>
        </p:nvSpPr>
        <p:spPr>
          <a:xfrm>
            <a:off x="5444075" y="5290359"/>
            <a:ext cx="1450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Energy conservation</a:t>
            </a:r>
          </a:p>
        </p:txBody>
      </p:sp>
    </p:spTree>
    <p:extLst>
      <p:ext uri="{BB962C8B-B14F-4D97-AF65-F5344CB8AC3E}">
        <p14:creationId xmlns:p14="http://schemas.microsoft.com/office/powerpoint/2010/main" val="2139051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ale">
      <a:dk1>
        <a:srgbClr val="00356B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BF018E9C2B114B946D2A2E7C201C83" ma:contentTypeVersion="12" ma:contentTypeDescription="Create a new document." ma:contentTypeScope="" ma:versionID="1c11fdbb635e30e6a37ba6402de010df">
  <xsd:schema xmlns:xsd="http://www.w3.org/2001/XMLSchema" xmlns:xs="http://www.w3.org/2001/XMLSchema" xmlns:p="http://schemas.microsoft.com/office/2006/metadata/properties" xmlns:ns2="711383b6-fbef-4d30-84b2-280ccf3ea691" xmlns:ns3="66daa3d8-d8cc-4c47-8fb8-106f94026de5" targetNamespace="http://schemas.microsoft.com/office/2006/metadata/properties" ma:root="true" ma:fieldsID="e695844c4081f149e9b0cf1a7d89bda8" ns2:_="" ns3:_="">
    <xsd:import namespace="711383b6-fbef-4d30-84b2-280ccf3ea691"/>
    <xsd:import namespace="66daa3d8-d8cc-4c47-8fb8-106f94026de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1383b6-fbef-4d30-84b2-280ccf3ea69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c6e7409-1c60-47af-ac8b-a458a73d6579}" ma:internalName="TaxCatchAll" ma:showField="CatchAllData" ma:web="711383b6-fbef-4d30-84b2-280ccf3ea6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aa3d8-d8cc-4c47-8fb8-106f94026d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cd9ce95e-1345-4484-817e-41007f7553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daa3d8-d8cc-4c47-8fb8-106f94026de5">
      <Terms xmlns="http://schemas.microsoft.com/office/infopath/2007/PartnerControls"/>
    </lcf76f155ced4ddcb4097134ff3c332f>
    <TaxCatchAll xmlns="711383b6-fbef-4d30-84b2-280ccf3ea691" xsi:nil="true"/>
    <SharedWithUsers xmlns="711383b6-fbef-4d30-84b2-280ccf3ea691">
      <UserInfo>
        <DisplayName>Lugo, Kayla</DisplayName>
        <AccountId>1428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8F2A1B48-DBB4-47B6-8321-1FD7E2A8B3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1383b6-fbef-4d30-84b2-280ccf3ea691"/>
    <ds:schemaRef ds:uri="66daa3d8-d8cc-4c47-8fb8-106f94026d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9F0F13-E87B-4B2C-AF3B-F16DCBCCA2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91ECB86-15B6-452B-81E6-253C1C497EBB}">
  <ds:schemaRefs>
    <ds:schemaRef ds:uri="http://schemas.microsoft.com/office/2006/metadata/properties"/>
    <ds:schemaRef ds:uri="http://schemas.microsoft.com/office/infopath/2007/PartnerControls"/>
    <ds:schemaRef ds:uri="66daa3d8-d8cc-4c47-8fb8-106f94026de5"/>
    <ds:schemaRef ds:uri="711383b6-fbef-4d30-84b2-280ccf3ea69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67079</TotalTime>
  <Words>1187</Words>
  <Application>Microsoft Office PowerPoint</Application>
  <PresentationFormat>Widescreen</PresentationFormat>
  <Paragraphs>213</Paragraphs>
  <Slides>18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Red Hat Text</vt:lpstr>
      <vt:lpstr>YaleNew</vt:lpstr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Gianakos, Maura</dc:creator>
  <cp:lastModifiedBy>Wu, Jinyuan</cp:lastModifiedBy>
  <cp:revision>1985</cp:revision>
  <dcterms:created xsi:type="dcterms:W3CDTF">2022-01-13T20:32:59Z</dcterms:created>
  <dcterms:modified xsi:type="dcterms:W3CDTF">2026-03-15T00:28:13Z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0x010100A3BF018E9C2B114B946D2A2E7C201C83</vt:lpwstr>
  </property>
  <property fmtid="{D5CDD505-2E9C-101B-9397-08002B2CF9AE}" pid="3" name="MediaServiceImageTags">
    <vt:lpwstr/>
  </property>
</Properties>
</file>